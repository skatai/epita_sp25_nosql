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5143500" cx="9144000"/>
  <p:notesSz cx="6858000" cy="9144000"/>
  <p:embeddedFontLst>
    <p:embeddedFont>
      <p:font typeface="Roboto Mono Medium"/>
      <p:regular r:id="rId55"/>
      <p:bold r:id="rId56"/>
      <p:italic r:id="rId57"/>
      <p:boldItalic r:id="rId58"/>
    </p:embeddedFont>
    <p:embeddedFont>
      <p:font typeface="Roboto Mono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obotoMono-boldItalic.fntdata"/><Relationship Id="rId61" Type="http://schemas.openxmlformats.org/officeDocument/2006/relationships/font" Target="fonts/RobotoMono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botoMono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obotoMonoMedium-regular.fnt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RobotoMonoMedium-italic.fntdata"/><Relationship Id="rId12" Type="http://schemas.openxmlformats.org/officeDocument/2006/relationships/slide" Target="slides/slide7.xml"/><Relationship Id="rId56" Type="http://schemas.openxmlformats.org/officeDocument/2006/relationships/font" Target="fonts/RobotoMonoMedium-bold.fntdata"/><Relationship Id="rId15" Type="http://schemas.openxmlformats.org/officeDocument/2006/relationships/slide" Target="slides/slide10.xml"/><Relationship Id="rId59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58" Type="http://schemas.openxmlformats.org/officeDocument/2006/relationships/font" Target="fonts/RobotoMonoMedium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7cbf8ecd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7cbf8ecd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7cbf8ec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7cbf8ec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7cbf8ecd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7cbf8ecd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7cbf8ecd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7cbf8ecd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7cbf8ecd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7cbf8ecd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7cbf8ecd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7cbf8ecd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7cbf8ecd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7cbf8ecd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7cbf8ecd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7cbf8ecd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7cbf8ecd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7cbf8ecd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7cbf8ecd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67cbf8ecd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7cbf8ecd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67cbf8ecd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7cbf8ecd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67cbf8ecd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67cbf8ecd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67cbf8ecd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7cbf8ecd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7cbf8ecd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7cbf8ecdf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7cbf8ecd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7cbf8ecdf_0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67cbf8ecdf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7cbf8ecdf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7cbf8ecdf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7cbf8ecdf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67cbf8ecdf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7cbf8ecdf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67cbf8ecdf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7cbf8ecdf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67cbf8ecdf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7cbf8ecdf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67cbf8ecdf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67cbf8ecdf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67cbf8ecdf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7cbf8ecdf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7cbf8ecdf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7cbf8ecdf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67cbf8ecdf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7cbf8ecdf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67cbf8ecdf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7cbf8ecdf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67cbf8ecdf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67cbf8ecdf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67cbf8ecdf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7cbf8ecdf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7cbf8ecdf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7cbf8ecdf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67cbf8ecdf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7cbf8ecdf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67cbf8ecdf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67cbf8ecdf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67cbf8ecdf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7cbf8ecdf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67cbf8ecdf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7cbf8ecdf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67cbf8ecdf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67cbf8ecdf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67cbf8ecdf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67cbf8ecdf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67cbf8ecdf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7cbf8ecdf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67cbf8ecdf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67cbf8ecdf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67cbf8ecdf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67cbf8ecdf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67cbf8ecdf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67cbf8ecdf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67cbf8ecdf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67cbf8ecdf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67cbf8ecdf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67cbf8ecdf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67cbf8ecdf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67cbf8ecdf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67cbf8ecdf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67cbf8ecdf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67cbf8ecdf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67cbf8ecdf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67cbf8ecdf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67cbf8ecdf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67cbf8ecdf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67cbf8ecdf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67cbf8ecdf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67cbf8ecdf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67cbf8ecdf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67cbf8ecdf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67cbf8ecdf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ithub.com/SkatAI/Epita_SP25_NoSQL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900" y="-12175"/>
            <a:ext cx="9144000" cy="572700"/>
          </a:xfrm>
          <a:prstGeom prst="rect">
            <a:avLst/>
          </a:prstGeom>
          <a:solidFill>
            <a:srgbClr val="CC4125"/>
          </a:solidFill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nsolas"/>
              <a:buNone/>
              <a:defRPr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nsolas"/>
              <a:buNone/>
              <a:defRPr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nsolas"/>
              <a:buNone/>
              <a:defRPr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nsolas"/>
              <a:buNone/>
              <a:defRPr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nsolas"/>
              <a:buNone/>
              <a:defRPr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nsolas"/>
              <a:buNone/>
              <a:defRPr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nsolas"/>
              <a:buNone/>
              <a:defRPr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nsolas"/>
              <a:buNone/>
              <a:defRPr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nsolas"/>
              <a:buNone/>
              <a:defRPr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/>
        </p:nvSpPr>
        <p:spPr>
          <a:xfrm>
            <a:off x="-11625" y="4891000"/>
            <a:ext cx="825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99999"/>
                </a:solidFill>
              </a:rPr>
              <a:t>Epita - NoSQL - Spring 25 - </a:t>
            </a:r>
            <a:r>
              <a:rPr lang="en" sz="800" u="sng">
                <a:solidFill>
                  <a:srgbClr val="999999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https://github.com/SkatAI/Epita_SP25_NoSQL</a:t>
            </a:r>
            <a:r>
              <a:rPr lang="en" sz="800">
                <a:solidFill>
                  <a:srgbClr val="999999"/>
                </a:solidFill>
              </a:rPr>
              <a:t> </a:t>
            </a:r>
            <a:endParaRPr sz="800">
              <a:solidFill>
                <a:srgbClr val="999999"/>
              </a:solidFill>
            </a:endParaRPr>
          </a:p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8918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>
                <a:highlight>
                  <a:srgbClr val="B7B7B7"/>
                </a:highlight>
              </a:defRPr>
            </a:lvl1pPr>
            <a:lvl2pPr lvl="1">
              <a:buNone/>
              <a:defRPr>
                <a:highlight>
                  <a:srgbClr val="B7B7B7"/>
                </a:highlight>
              </a:defRPr>
            </a:lvl2pPr>
            <a:lvl3pPr lvl="2">
              <a:buNone/>
              <a:defRPr>
                <a:highlight>
                  <a:srgbClr val="B7B7B7"/>
                </a:highlight>
              </a:defRPr>
            </a:lvl3pPr>
            <a:lvl4pPr lvl="3">
              <a:buNone/>
              <a:defRPr>
                <a:highlight>
                  <a:srgbClr val="B7B7B7"/>
                </a:highlight>
              </a:defRPr>
            </a:lvl4pPr>
            <a:lvl5pPr lvl="4">
              <a:buNone/>
              <a:defRPr>
                <a:highlight>
                  <a:srgbClr val="B7B7B7"/>
                </a:highlight>
              </a:defRPr>
            </a:lvl5pPr>
            <a:lvl6pPr lvl="5">
              <a:buNone/>
              <a:defRPr>
                <a:highlight>
                  <a:srgbClr val="B7B7B7"/>
                </a:highlight>
              </a:defRPr>
            </a:lvl6pPr>
            <a:lvl7pPr lvl="6">
              <a:buNone/>
              <a:defRPr>
                <a:highlight>
                  <a:srgbClr val="B7B7B7"/>
                </a:highlight>
              </a:defRPr>
            </a:lvl7pPr>
            <a:lvl8pPr lvl="7">
              <a:buNone/>
              <a:defRPr>
                <a:highlight>
                  <a:srgbClr val="B7B7B7"/>
                </a:highlight>
              </a:defRPr>
            </a:lvl8pPr>
            <a:lvl9pPr lvl="8">
              <a:buNone/>
              <a:defRPr>
                <a:highlight>
                  <a:srgbClr val="B7B7B7"/>
                </a:highlight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loud.google.com/natural-languag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arxiv.org/abs/1301.3781" TargetMode="External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hyperlink" Target="https://airbyte.com/data-engineering-resources/sentence-word-embeddings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hyperlink" Target="https://www.twelvelabs.io/blog/multimodal-embeddings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platform.openai.com/docs/models" TargetMode="External"/><Relationship Id="rId4" Type="http://schemas.openxmlformats.org/officeDocument/2006/relationships/hyperlink" Target="https://ai.google.dev/gemini-api/docs/embeddings" TargetMode="External"/><Relationship Id="rId9" Type="http://schemas.openxmlformats.org/officeDocument/2006/relationships/hyperlink" Target="https://ollama.com/library/nomic-embed-text" TargetMode="External"/><Relationship Id="rId5" Type="http://schemas.openxmlformats.org/officeDocument/2006/relationships/hyperlink" Target="https://docs.mistral.ai/capabilities/embeddings/text_embeddings/" TargetMode="External"/><Relationship Id="rId6" Type="http://schemas.openxmlformats.org/officeDocument/2006/relationships/hyperlink" Target="https://www.voyageai.com/" TargetMode="External"/><Relationship Id="rId7" Type="http://schemas.openxmlformats.org/officeDocument/2006/relationships/hyperlink" Target="https://docs.anthropic.com/en/docs/build-with-claude/embeddings" TargetMode="External"/><Relationship Id="rId8" Type="http://schemas.openxmlformats.org/officeDocument/2006/relationships/hyperlink" Target="https://huggingface.co/docs/chat-ui/en/configuration/embeddings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olab.research.google.com/drive/1mG8fFl6U_W3qvaQcLFwdcRZo9vBPNz24#scrollTo=nTFO3UnTDbIr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hyperlink" Target="https://neo4j.com/labs/genai-ecosystem/vector-search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hyperlink" Target="https://www.mongodb.com/products/platform/atlas-vector-search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mongodb.com/docs/atlas/atlas-vector-search/vector-search-stage/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github.com/mongodb-developer/GenAI-Showcase/blob/main/notebooks/rag/anthropic_mongodb_pam_ai_stack.ipynb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github.com/mongodb-developer/GenAI-Showcase/blob/main/notebooks/rag/deepseek_r1_rag_pipeline_with_mongodb.ipynb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huggingface.co/datasets/MongoDB/subset_arxiv_papers_with_embeddings" TargetMode="External"/><Relationship Id="rId4" Type="http://schemas.openxmlformats.org/officeDocument/2006/relationships/hyperlink" Target="https://keras.io/keras_hub/api/models/" TargetMode="External"/><Relationship Id="rId5" Type="http://schemas.openxmlformats.org/officeDocument/2006/relationships/hyperlink" Target="https://github.com/mongodb-developer/GenAI-Showcase/blob/main/notebooks/rag/rag_pipeline_kerasnlp_mongodb_gemma2.ipynb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cloud.mongodb.com/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weaviate.io/blog/hybrid-search-explained" TargetMode="External"/><Relationship Id="rId4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://weaviate.io" TargetMode="External"/><Relationship Id="rId4" Type="http://schemas.openxmlformats.org/officeDocument/2006/relationships/hyperlink" Target="http://vespa.ai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deeplearning.ai/short-courses/vector-databases-embeddings-applications/" TargetMode="External"/><Relationship Id="rId4" Type="http://schemas.openxmlformats.org/officeDocument/2006/relationships/image" Target="../media/image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://weaviate.io" TargetMode="External"/><Relationship Id="rId4" Type="http://schemas.openxmlformats.org/officeDocument/2006/relationships/hyperlink" Target="https://weaviate.io/developers/weaviate/quickstart/local" TargetMode="External"/><Relationship Id="rId5" Type="http://schemas.openxmlformats.org/officeDocument/2006/relationships/image" Target="../media/image1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eaviate.io/developers/weaviate/starter-guides/custom-vectors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eaviate.io/developers/weaviate/quickstart" TargetMode="External"/><Relationship Id="rId4" Type="http://schemas.openxmlformats.org/officeDocument/2006/relationships/hyperlink" Target="https://weaviate.io/developers/weaviate/quickstart/local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3.png"/><Relationship Id="rId4" Type="http://schemas.openxmlformats.org/officeDocument/2006/relationships/hyperlink" Target="https://weaviate.io/developers/weaviate/model-providers/anthropic/generative" TargetMode="External"/><Relationship Id="rId5" Type="http://schemas.openxmlformats.org/officeDocument/2006/relationships/hyperlink" Target="https://weaviate.io/developers/weaviate/model-providers/ollama/embeddings" TargetMode="External"/><Relationship Id="rId6" Type="http://schemas.openxmlformats.org/officeDocument/2006/relationships/hyperlink" Target="https://weaviate.io/developers/weaviate/model-providers/ollama/generative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colab.research.google.com/drive/1o57exNo2DTAIEBqPXpnbQjJGffi2Sqe3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console.weaviate.cloud/cluster-details" TargetMode="Externa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44575"/>
            <a:ext cx="8520600" cy="9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Embeddings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34125"/>
            <a:ext cx="85206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Epita - Advanced database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Friday the 13th of June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1769850"/>
            <a:ext cx="8520600" cy="18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Classic NLP </a:t>
            </a:r>
            <a:endParaRPr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Natural Language Processing</a:t>
            </a:r>
            <a:endParaRPr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(before 2020)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Language is complex</a:t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1219200" y="1066800"/>
            <a:ext cx="63672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 saw her duck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 saw her duck. She tried to avoid a flying ball.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Let’s eat, grandpa.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Let’s eat grandpa.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"Will you marry me?" is a marriage proposal.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"Will, You, Mary, Me" is a card game proposal.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"Will, you marry me" is a time traveller spoiling the future.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"Will you, Mary me" is a cavewoman named Mary, trying to make Will, who has amnesia, remember who he is.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 NLP Applications</a:t>
            </a:r>
            <a:endParaRPr/>
          </a:p>
        </p:txBody>
      </p:sp>
      <p:sp>
        <p:nvSpPr>
          <p:cNvPr id="73" name="Google Shape;73;p16"/>
          <p:cNvSpPr txBox="1"/>
          <p:nvPr/>
        </p:nvSpPr>
        <p:spPr>
          <a:xfrm>
            <a:off x="1073700" y="1152475"/>
            <a:ext cx="7368300" cy="3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Text mining 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 sz="1800">
                <a:solidFill>
                  <a:srgbClr val="595959"/>
                </a:solidFill>
              </a:rPr>
              <a:t>NER: Named Entity Recognition: LOC, PER, </a:t>
            </a:r>
            <a:endParaRPr sz="1800">
              <a:solidFill>
                <a:srgbClr val="595959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</a:pPr>
            <a:r>
              <a:rPr lang="en" sz="1800">
                <a:solidFill>
                  <a:srgbClr val="595959"/>
                </a:solidFill>
              </a:rPr>
              <a:t>POS: Part of speech Tagging : nouns, adjectives, verbs, …</a:t>
            </a:r>
            <a:endParaRPr sz="1800">
              <a:solidFill>
                <a:srgbClr val="595959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</a:pPr>
            <a:r>
              <a:rPr lang="en" sz="1800">
                <a:solidFill>
                  <a:srgbClr val="595959"/>
                </a:solidFill>
              </a:rPr>
              <a:t>demo: </a:t>
            </a:r>
            <a:r>
              <a:rPr lang="en" sz="18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https://cloud.google.com/natural-language</a:t>
            </a:r>
            <a:r>
              <a:rPr lang="en" sz="1800">
                <a:solidFill>
                  <a:schemeClr val="dk2"/>
                </a:solidFill>
              </a:rPr>
              <a:t>  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speech to text, text to speech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Translation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Classification: sentiment analysis, spam, toxicity, ...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Text generation, summarization, question answering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Topic identification, topic modeling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word sense disambiguation : bank, duck, 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Way back in 2021!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38200"/>
            <a:ext cx="8839196" cy="3321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 NLP Hurdles</a:t>
            </a:r>
            <a:endParaRPr/>
          </a:p>
        </p:txBody>
      </p:sp>
      <p:sp>
        <p:nvSpPr>
          <p:cNvPr id="85" name="Google Shape;85;p18"/>
          <p:cNvSpPr txBox="1"/>
          <p:nvPr/>
        </p:nvSpPr>
        <p:spPr>
          <a:xfrm>
            <a:off x="311700" y="847675"/>
            <a:ext cx="5368200" cy="26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b="1" lang="en" sz="1800">
                <a:solidFill>
                  <a:schemeClr val="dk2"/>
                </a:solidFill>
              </a:rPr>
              <a:t>stopwords</a:t>
            </a:r>
            <a:r>
              <a:rPr lang="en" sz="1800">
                <a:solidFill>
                  <a:schemeClr val="dk2"/>
                </a:solidFill>
              </a:rPr>
              <a:t>: </a:t>
            </a:r>
            <a:r>
              <a:rPr lang="en" sz="1800">
                <a:solidFill>
                  <a:srgbClr val="595959"/>
                </a:solidFill>
              </a:rPr>
              <a:t>many words have no meaning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Choosing the right </a:t>
            </a:r>
            <a:r>
              <a:rPr b="1" lang="en" sz="1800">
                <a:solidFill>
                  <a:srgbClr val="595959"/>
                </a:solidFill>
              </a:rPr>
              <a:t>Unit of text</a:t>
            </a:r>
            <a:r>
              <a:rPr lang="en" sz="1800">
                <a:solidFill>
                  <a:srgbClr val="595959"/>
                </a:solidFill>
              </a:rPr>
              <a:t> to work with</a:t>
            </a:r>
            <a:endParaRPr sz="1800">
              <a:solidFill>
                <a:srgbClr val="595959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</a:pPr>
            <a:r>
              <a:rPr lang="en" sz="1800">
                <a:solidFill>
                  <a:srgbClr val="595959"/>
                </a:solidFill>
              </a:rPr>
              <a:t>words, syllables, tokens, letters &amp; punctuation</a:t>
            </a:r>
            <a:endParaRPr sz="1800">
              <a:solidFill>
                <a:srgbClr val="595959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</a:pPr>
            <a:r>
              <a:rPr lang="en" sz="1800">
                <a:solidFill>
                  <a:srgbClr val="595959"/>
                </a:solidFill>
              </a:rPr>
              <a:t>Bigrams, n-grams: </a:t>
            </a:r>
            <a:r>
              <a:rPr lang="en" sz="15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New York, cul-de-sac, pain au chocolat</a:t>
            </a:r>
            <a:endParaRPr sz="15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</a:pPr>
            <a:r>
              <a:rPr lang="en" sz="1800">
                <a:solidFill>
                  <a:srgbClr val="595959"/>
                </a:solidFill>
              </a:rPr>
              <a:t>sentences, paragraphes, tweets, articles, books, comments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5853475" y="935425"/>
            <a:ext cx="32973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stopwords = ['the', 'of', 'and',</a:t>
            </a:r>
            <a:r>
              <a:rPr lang="en" sz="12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'is', 'to', 'in', 'a', 'from', 'by', 'that', 'with', 'this', 'as', 'an', 'are', 'its', 'at', 'for', …]</a:t>
            </a:r>
            <a:endParaRPr sz="12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Vocabulary</a:t>
            </a:r>
            <a:endParaRPr/>
          </a:p>
        </p:txBody>
      </p:sp>
      <p:sp>
        <p:nvSpPr>
          <p:cNvPr id="92" name="Google Shape;92;p19"/>
          <p:cNvSpPr txBox="1"/>
          <p:nvPr/>
        </p:nvSpPr>
        <p:spPr>
          <a:xfrm>
            <a:off x="914400" y="1371600"/>
            <a:ext cx="4893900" cy="20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800">
                <a:solidFill>
                  <a:schemeClr val="dk2"/>
                </a:solidFill>
              </a:rPr>
              <a:t>Vocabulary</a:t>
            </a:r>
            <a:r>
              <a:rPr lang="en" sz="1800">
                <a:solidFill>
                  <a:schemeClr val="dk2"/>
                </a:solidFill>
              </a:rPr>
              <a:t> can be huge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OOV: out of vocabulary</a:t>
            </a:r>
            <a:endParaRPr sz="18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Named entities and proper nouns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Domain-specific technical terms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Neologisms and emerging words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Misspellings and typos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Morphological variants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of text: tokenization</a:t>
            </a:r>
            <a:endParaRPr/>
          </a:p>
        </p:txBody>
      </p:sp>
      <p:sp>
        <p:nvSpPr>
          <p:cNvPr id="98" name="Google Shape;98;p20"/>
          <p:cNvSpPr txBox="1"/>
          <p:nvPr/>
        </p:nvSpPr>
        <p:spPr>
          <a:xfrm>
            <a:off x="768900" y="771475"/>
            <a:ext cx="7324200" cy="28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What's the most efficient unit of text ?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Using words is problematic: vocab size, forms, OOV etc </a:t>
            </a:r>
            <a:endParaRPr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Using letters is too short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Split words into multiple tokens: </a:t>
            </a:r>
            <a:r>
              <a:rPr b="1" lang="en" sz="1800">
                <a:solidFill>
                  <a:srgbClr val="595959"/>
                </a:solidFill>
              </a:rPr>
              <a:t>subwords</a:t>
            </a:r>
            <a:r>
              <a:rPr lang="en" sz="1800">
                <a:solidFill>
                  <a:srgbClr val="595959"/>
                </a:solidFill>
              </a:rPr>
              <a:t> tokenization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unhappiness -&gt; un + happ + in + ess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running -&gt; run + ing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biiig -&gt; b + iii + g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of subword tokenization</a:t>
            </a:r>
            <a:endParaRPr/>
          </a:p>
        </p:txBody>
      </p:sp>
      <p:sp>
        <p:nvSpPr>
          <p:cNvPr id="104" name="Google Shape;104;p21"/>
          <p:cNvSpPr txBox="1"/>
          <p:nvPr/>
        </p:nvSpPr>
        <p:spPr>
          <a:xfrm>
            <a:off x="921300" y="1152475"/>
            <a:ext cx="6581400" cy="19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no words are OOV: out of vocabulary 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>
                <a:solidFill>
                  <a:srgbClr val="595959"/>
                </a:solidFill>
              </a:rPr>
              <a:t>gpt 3.5 did not know about </a:t>
            </a:r>
            <a:r>
              <a:rPr lang="en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COVID</a:t>
            </a:r>
            <a:endParaRPr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>
                <a:solidFill>
                  <a:srgbClr val="595959"/>
                </a:solidFill>
              </a:rPr>
              <a:t>butt knew </a:t>
            </a:r>
            <a:r>
              <a:rPr lang="en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cov + id</a:t>
            </a:r>
            <a:endParaRPr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typo resilient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smaller vocabulary size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captures semantic and morphological meaning better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Language specific tokenizing strategy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17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Character-based tokenization works better for languages like Chinese, Japanese, and Korean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Morphologically rich languages (Arabic, Turkish, Finnish) need Morphologically-aware tokenizers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Multilingual models often under-represent non-European languages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2150850"/>
            <a:ext cx="85206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to Vectors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need vectors?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923875"/>
            <a:ext cx="4046400" cy="31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we have vector representation, we have a distance between texts:</a:t>
            </a:r>
            <a:endParaRPr sz="15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highlight>
                  <a:srgbClr val="FFFF00"/>
                </a:highlight>
              </a:rPr>
              <a:t>cosine similarity</a:t>
            </a:r>
            <a:endParaRPr b="1"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 we need vector representation that captures </a:t>
            </a:r>
            <a:r>
              <a:rPr b="1" lang="en"/>
              <a:t>semantic</a:t>
            </a:r>
            <a:r>
              <a:rPr lang="en"/>
              <a:t> information : meaning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banana</a:t>
            </a:r>
            <a:r>
              <a:rPr lang="en"/>
              <a:t> is closer to </a:t>
            </a:r>
            <a:r>
              <a:rPr i="1" lang="en"/>
              <a:t>apple</a:t>
            </a:r>
            <a:r>
              <a:rPr lang="en"/>
              <a:t> than it is to </a:t>
            </a:r>
            <a:r>
              <a:rPr i="1" lang="en"/>
              <a:t>plane</a:t>
            </a:r>
            <a:r>
              <a:rPr lang="en"/>
              <a:t>;</a:t>
            </a:r>
            <a:endParaRPr/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1024" y="966249"/>
            <a:ext cx="3848975" cy="295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cosine similarity</a:t>
            </a:r>
            <a:endParaRPr/>
          </a:p>
        </p:txBody>
      </p:sp>
      <p:pic>
        <p:nvPicPr>
          <p:cNvPr descr="A close up of a map&#10;&#10;Description automatically generated" id="128" name="Google Shape;12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670130"/>
            <a:ext cx="7162799" cy="25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 BERT (2018)</a:t>
            </a:r>
            <a:endParaRPr/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311700" y="1152475"/>
            <a:ext cx="6644400" cy="29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tf-idf</a:t>
            </a:r>
            <a:r>
              <a:rPr lang="en" sz="1600"/>
              <a:t> </a:t>
            </a:r>
            <a:r>
              <a:rPr lang="en" sz="1600"/>
              <a:t>before 2013: counting words and their relative frequencies: messy, crude, worked well for spam detection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Word2vec</a:t>
            </a:r>
            <a:r>
              <a:rPr lang="en" sz="1600"/>
              <a:t> 2013: Thomas Mikolov @Google Efficient Estimation of Word Representations in Vector Space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https://arxiv.org/abs/1301.3781</a:t>
            </a:r>
            <a:r>
              <a:rPr lang="en" sz="1600"/>
              <a:t> 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i="1" lang="en" sz="1200"/>
              <a:t>bank</a:t>
            </a:r>
            <a:r>
              <a:rPr lang="en" sz="1200"/>
              <a:t> the river has the same vector as </a:t>
            </a:r>
            <a:r>
              <a:rPr i="1" lang="en" sz="1200"/>
              <a:t>bank</a:t>
            </a:r>
            <a:r>
              <a:rPr lang="en" sz="1200"/>
              <a:t> the company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Transformer</a:t>
            </a:r>
            <a:r>
              <a:rPr lang="en" sz="1600"/>
              <a:t> architecture (Attention Is All You Need, June 2017) and ELMo (February 2018), which introduced bidirectional context-aware embeddings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BERT</a:t>
            </a:r>
            <a:r>
              <a:rPr lang="en" sz="1600"/>
              <a:t> oct 2018: contextual embeddings become the new standard</a:t>
            </a:r>
            <a:endParaRPr sz="1600"/>
          </a:p>
        </p:txBody>
      </p:sp>
      <p:pic>
        <p:nvPicPr>
          <p:cNvPr descr="A screenshot of a cell phone&#10;&#10;Description automatically generated" id="135" name="Google Shape;13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1738" y="1139000"/>
            <a:ext cx="2066925" cy="1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Word2vec</a:t>
            </a:r>
            <a:endParaRPr/>
          </a:p>
        </p:txBody>
      </p:sp>
      <p:pic>
        <p:nvPicPr>
          <p:cNvPr id="141" name="Google Shape;14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9375"/>
            <a:ext cx="8250780" cy="322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7"/>
          <p:cNvSpPr txBox="1"/>
          <p:nvPr/>
        </p:nvSpPr>
        <p:spPr>
          <a:xfrm>
            <a:off x="1676400" y="4495800"/>
            <a:ext cx="490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https://airbyte.com/data-engineering-resources/sentence-word-embeddings</a:t>
            </a:r>
            <a:r>
              <a:rPr lang="en" sz="1000"/>
              <a:t> </a:t>
            </a:r>
            <a:endParaRPr sz="600"/>
          </a:p>
        </p:txBody>
      </p:sp>
      <p:sp>
        <p:nvSpPr>
          <p:cNvPr id="143" name="Google Shape;143;p27"/>
          <p:cNvSpPr txBox="1"/>
          <p:nvPr/>
        </p:nvSpPr>
        <p:spPr>
          <a:xfrm>
            <a:off x="465600" y="905000"/>
            <a:ext cx="43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Word2vec was groundbreaking!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embeddings</a:t>
            </a:r>
            <a:endParaRPr/>
          </a:p>
        </p:txBody>
      </p:sp>
      <p:sp>
        <p:nvSpPr>
          <p:cNvPr id="149" name="Google Shape;149;p28"/>
          <p:cNvSpPr txBox="1"/>
          <p:nvPr>
            <p:ph idx="1" type="body"/>
          </p:nvPr>
        </p:nvSpPr>
        <p:spPr>
          <a:xfrm>
            <a:off x="311700" y="1152475"/>
            <a:ext cx="8520600" cy="32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Contextual understanding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different representations for the same word based on surrounding context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Transfer learning capabilities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models can be fine-tuned for specific tasks with relatively small datasets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Multilingual support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cross-lingual embeddings that work across dozens of languages without language-specific training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Task-specific adaptation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adapted for downstream tasks (classification, QA, generation) through fine-tuning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Semantic richness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Capture complex linguistic phenomena like syntax, semantics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265500" y="389100"/>
            <a:ext cx="40452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Embeddings</a:t>
            </a:r>
            <a:endParaRPr/>
          </a:p>
        </p:txBody>
      </p:sp>
      <p:sp>
        <p:nvSpPr>
          <p:cNvPr id="155" name="Google Shape;155;p29"/>
          <p:cNvSpPr txBox="1"/>
          <p:nvPr>
            <p:ph idx="1" type="subTitle"/>
          </p:nvPr>
        </p:nvSpPr>
        <p:spPr>
          <a:xfrm>
            <a:off x="265500" y="1321201"/>
            <a:ext cx="4045200" cy="21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Everything is a vector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word2vec (2013)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transformers,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56" name="Google Shape;156;p29"/>
          <p:cNvSpPr txBox="1"/>
          <p:nvPr/>
        </p:nvSpPr>
        <p:spPr>
          <a:xfrm>
            <a:off x="4663500" y="86025"/>
            <a:ext cx="43455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</a:rPr>
              <a:t>words</a:t>
            </a:r>
            <a:r>
              <a:rPr lang="en" sz="1800">
                <a:solidFill>
                  <a:srgbClr val="0000FF"/>
                </a:solidFill>
              </a:rPr>
              <a:t> =&gt; vecteurs</a:t>
            </a:r>
            <a:br>
              <a:rPr lang="en" sz="1800">
                <a:solidFill>
                  <a:srgbClr val="0000FF"/>
                </a:solidFill>
              </a:rPr>
            </a:br>
            <a:endParaRPr sz="1800">
              <a:solidFill>
                <a:srgbClr val="0000FF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Roboto Mono"/>
              <a:buChar char="●"/>
            </a:pPr>
            <a:r>
              <a:rPr lang="en" sz="13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chicken -&gt;  [1,4,5,-2, 7, … ,8]</a:t>
            </a:r>
            <a:endParaRPr sz="13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Roboto Mono"/>
              <a:buChar char="●"/>
            </a:pPr>
            <a:r>
              <a:rPr lang="en" sz="13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banana -&gt; [2,-3, 5.3, 12, 127, …. -0.1]</a:t>
            </a:r>
            <a:endParaRPr sz="13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Roboto Mono"/>
              <a:buChar char="●"/>
            </a:pPr>
            <a:r>
              <a:rPr lang="en" sz="13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cat -&gt; [1,2,3,, …., ]</a:t>
            </a:r>
            <a:endParaRPr sz="13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57" name="Google Shape;15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550" y="1962625"/>
            <a:ext cx="4089099" cy="3146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9"/>
          <p:cNvSpPr txBox="1"/>
          <p:nvPr/>
        </p:nvSpPr>
        <p:spPr>
          <a:xfrm>
            <a:off x="4663500" y="2372025"/>
            <a:ext cx="4345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</a:rPr>
              <a:t>semantic relationship</a:t>
            </a:r>
            <a:endParaRPr sz="1800">
              <a:solidFill>
                <a:srgbClr val="00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 sz="1800">
                <a:solidFill>
                  <a:srgbClr val="0000FF"/>
                </a:solidFill>
              </a:rPr>
              <a:t>king - man = queen - woman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</a:rPr>
              <a:t>distance between text</a:t>
            </a:r>
            <a:endParaRPr sz="1800">
              <a:solidFill>
                <a:srgbClr val="00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 sz="1800">
                <a:solidFill>
                  <a:srgbClr val="0000FF"/>
                </a:solidFill>
              </a:rPr>
              <a:t>d(cat, dog) &lt; d(cat, banana)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159" name="Google Shape;159;p29"/>
          <p:cNvSpPr txBox="1"/>
          <p:nvPr/>
        </p:nvSpPr>
        <p:spPr>
          <a:xfrm>
            <a:off x="5169300" y="45218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We are all vectors now</a:t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6900" y="-1217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Audio Embeddings</a:t>
            </a:r>
            <a:endParaRPr/>
          </a:p>
        </p:txBody>
      </p:sp>
      <p:sp>
        <p:nvSpPr>
          <p:cNvPr id="165" name="Google Shape;165;p30"/>
          <p:cNvSpPr txBox="1"/>
          <p:nvPr>
            <p:ph idx="12" type="sldNum"/>
          </p:nvPr>
        </p:nvSpPr>
        <p:spPr>
          <a:xfrm>
            <a:off x="8472458" y="48918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6" name="Google Shape;16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7800" y="1314775"/>
            <a:ext cx="6381280" cy="2840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6900" y="-1217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Multimodal embeddings</a:t>
            </a:r>
            <a:endParaRPr/>
          </a:p>
        </p:txBody>
      </p:sp>
      <p:sp>
        <p:nvSpPr>
          <p:cNvPr id="172" name="Google Shape;172;p31"/>
          <p:cNvSpPr txBox="1"/>
          <p:nvPr>
            <p:ph idx="12" type="sldNum"/>
          </p:nvPr>
        </p:nvSpPr>
        <p:spPr>
          <a:xfrm>
            <a:off x="8472458" y="48918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3" name="Google Shape;17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5227" y="634325"/>
            <a:ext cx="5966601" cy="312692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1"/>
          <p:cNvSpPr txBox="1"/>
          <p:nvPr/>
        </p:nvSpPr>
        <p:spPr>
          <a:xfrm>
            <a:off x="304800" y="3962400"/>
            <a:ext cx="669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Must read: </a:t>
            </a:r>
            <a:r>
              <a:rPr lang="en" u="sng">
                <a:solidFill>
                  <a:schemeClr val="hlink"/>
                </a:solidFill>
                <a:hlinkClick r:id="rId4"/>
              </a:rPr>
              <a:t>The Multimodal Evolution of Vector Embeddings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Applications of embeddings: NLP++</a:t>
            </a:r>
            <a:endParaRPr/>
          </a:p>
        </p:txBody>
      </p:sp>
      <p:sp>
        <p:nvSpPr>
          <p:cNvPr id="180" name="Google Shape;180;p32"/>
          <p:cNvSpPr txBox="1"/>
          <p:nvPr>
            <p:ph idx="1" type="body"/>
          </p:nvPr>
        </p:nvSpPr>
        <p:spPr>
          <a:xfrm>
            <a:off x="1149900" y="923875"/>
            <a:ext cx="7481100" cy="30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Classification</a:t>
            </a:r>
            <a:r>
              <a:rPr lang="en" sz="1500">
                <a:solidFill>
                  <a:schemeClr val="dk1"/>
                </a:solidFill>
              </a:rPr>
              <a:t>: Text categorization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Clustering</a:t>
            </a:r>
            <a:r>
              <a:rPr lang="en" sz="1500">
                <a:solidFill>
                  <a:schemeClr val="dk1"/>
                </a:solidFill>
              </a:rPr>
              <a:t>: Identification of natural groups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rgbClr val="FF0000"/>
                </a:solidFill>
              </a:rPr>
              <a:t>Recommendation systems</a:t>
            </a:r>
            <a:r>
              <a:rPr lang="en" sz="1500">
                <a:solidFill>
                  <a:schemeClr val="dk1"/>
                </a:solidFill>
              </a:rPr>
              <a:t>: Suggestion of similar content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Information retrieval</a:t>
            </a:r>
            <a:r>
              <a:rPr lang="en" sz="1500">
                <a:solidFill>
                  <a:schemeClr val="dk1"/>
                </a:solidFill>
              </a:rPr>
              <a:t>: Improvement of search relevance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Anomaly detection</a:t>
            </a:r>
            <a:r>
              <a:rPr lang="en" sz="1500">
                <a:solidFill>
                  <a:schemeClr val="dk1"/>
                </a:solidFill>
              </a:rPr>
              <a:t>: Identification of atypical documents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Knowledge graph construction</a:t>
            </a:r>
            <a:r>
              <a:rPr lang="en" sz="1500">
                <a:solidFill>
                  <a:schemeClr val="dk1"/>
                </a:solidFill>
              </a:rPr>
              <a:t>: Creation of structured relationships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rgbClr val="FF0000"/>
                </a:solidFill>
              </a:rPr>
              <a:t>Transfer learning</a:t>
            </a:r>
            <a:r>
              <a:rPr lang="en" sz="1500">
                <a:solidFill>
                  <a:schemeClr val="dk1"/>
                </a:solidFill>
              </a:rPr>
              <a:t>: Use as features for other AI tasks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Multi-modal applications</a:t>
            </a:r>
            <a:r>
              <a:rPr lang="en" sz="1500">
                <a:solidFill>
                  <a:schemeClr val="dk1"/>
                </a:solidFill>
              </a:rPr>
              <a:t>: Connection of text with images, audio or video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rgbClr val="FF0000"/>
                </a:solidFill>
              </a:rPr>
              <a:t>Intent recognition</a:t>
            </a:r>
            <a:r>
              <a:rPr lang="en" sz="1500">
                <a:solidFill>
                  <a:schemeClr val="dk1"/>
                </a:solidFill>
              </a:rPr>
              <a:t>: Understanding of user queries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Semantic compression</a:t>
            </a:r>
            <a:r>
              <a:rPr lang="en" sz="1500">
                <a:solidFill>
                  <a:schemeClr val="dk1"/>
                </a:solidFill>
              </a:rPr>
              <a:t>: Compact representation of documents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Q&amp;A, RAG, search etc etc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81" name="Google Shape;181;p32"/>
          <p:cNvSpPr txBox="1"/>
          <p:nvPr/>
        </p:nvSpPr>
        <p:spPr>
          <a:xfrm>
            <a:off x="581575" y="4320250"/>
            <a:ext cx="685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 short: use embeddings as feature representation of the text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311700" y="2150850"/>
            <a:ext cx="85206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embed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embed: 1. get a model 2. embed!</a:t>
            </a:r>
            <a:endParaRPr/>
          </a:p>
        </p:txBody>
      </p:sp>
      <p:sp>
        <p:nvSpPr>
          <p:cNvPr id="192" name="Google Shape;192;p34"/>
          <p:cNvSpPr txBox="1"/>
          <p:nvPr/>
        </p:nvSpPr>
        <p:spPr>
          <a:xfrm>
            <a:off x="228600" y="1143000"/>
            <a:ext cx="5409900" cy="28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API</a:t>
            </a:r>
            <a:endParaRPr b="1"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OpenAI</a:t>
            </a:r>
            <a:r>
              <a:rPr lang="en" sz="1600">
                <a:solidFill>
                  <a:schemeClr val="dk2"/>
                </a:solidFill>
              </a:rPr>
              <a:t>, </a:t>
            </a:r>
            <a:r>
              <a:rPr lang="en" sz="1600" u="sng">
                <a:solidFill>
                  <a:schemeClr val="hlink"/>
                </a:solidFill>
                <a:hlinkClick r:id="rId4"/>
              </a:rPr>
              <a:t>Gemini</a:t>
            </a:r>
            <a:r>
              <a:rPr lang="en" sz="1600">
                <a:solidFill>
                  <a:schemeClr val="dk2"/>
                </a:solidFill>
              </a:rPr>
              <a:t>, </a:t>
            </a:r>
            <a:r>
              <a:rPr lang="en" sz="1600" u="sng">
                <a:solidFill>
                  <a:schemeClr val="hlink"/>
                </a:solidFill>
                <a:hlinkClick r:id="rId5"/>
              </a:rPr>
              <a:t>Mistral</a:t>
            </a:r>
            <a:r>
              <a:rPr lang="en" sz="1600">
                <a:solidFill>
                  <a:schemeClr val="dk2"/>
                </a:solidFill>
              </a:rPr>
              <a:t>, </a:t>
            </a:r>
            <a:r>
              <a:rPr lang="en" sz="1600" u="sng">
                <a:solidFill>
                  <a:schemeClr val="hlink"/>
                </a:solidFill>
                <a:hlinkClick r:id="rId6"/>
              </a:rPr>
              <a:t>VoyageAI</a:t>
            </a:r>
            <a:r>
              <a:rPr lang="en" sz="1600">
                <a:solidFill>
                  <a:schemeClr val="dk2"/>
                </a:solidFill>
              </a:rPr>
              <a:t>, </a:t>
            </a:r>
            <a:r>
              <a:rPr lang="en" sz="1600">
                <a:solidFill>
                  <a:schemeClr val="dk2"/>
                </a:solidFill>
              </a:rPr>
              <a:t>…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not all </a:t>
            </a:r>
            <a:r>
              <a:rPr lang="en" sz="1600" u="sng">
                <a:solidFill>
                  <a:schemeClr val="hlink"/>
                </a:solidFill>
                <a:hlinkClick r:id="rId7"/>
              </a:rPr>
              <a:t>platforms</a:t>
            </a:r>
            <a:r>
              <a:rPr lang="en" sz="1600">
                <a:solidFill>
                  <a:schemeClr val="dk2"/>
                </a:solidFill>
              </a:rPr>
              <a:t> provide embedding models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Local</a:t>
            </a:r>
            <a:endParaRPr b="1"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8"/>
              </a:rPr>
              <a:t>HuggingFace</a:t>
            </a:r>
            <a:r>
              <a:rPr lang="en" sz="1600">
                <a:solidFill>
                  <a:schemeClr val="dk2"/>
                </a:solidFill>
              </a:rPr>
              <a:t> Transformers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>
                <a:solidFill>
                  <a:schemeClr val="dk2"/>
                </a:solidFill>
              </a:rPr>
              <a:t>many models for general or specific tasks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Ollama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 u="sng">
                <a:solidFill>
                  <a:schemeClr val="hlink"/>
                </a:solidFill>
                <a:hlinkClick r:id="rId9"/>
              </a:rPr>
              <a:t>nomic-embed-text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93" name="Google Shape;193;p34"/>
          <p:cNvSpPr txBox="1"/>
          <p:nvPr/>
        </p:nvSpPr>
        <p:spPr>
          <a:xfrm>
            <a:off x="5271900" y="1110275"/>
            <a:ext cx="3678300" cy="28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Example Workflow: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Load a pre-trained embedding model.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Pass your sentences through the model.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Get a N-dimensional vector for each sentence.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Use these embeddings for your downstream task.</a:t>
            </a:r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</a:t>
            </a:r>
            <a:endParaRPr/>
          </a:p>
        </p:txBody>
      </p:sp>
      <p:sp>
        <p:nvSpPr>
          <p:cNvPr id="199" name="Google Shape;199;p35"/>
          <p:cNvSpPr txBox="1"/>
          <p:nvPr>
            <p:ph idx="1" type="body"/>
          </p:nvPr>
        </p:nvSpPr>
        <p:spPr>
          <a:xfrm>
            <a:off x="311700" y="1152475"/>
            <a:ext cx="8520600" cy="15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what follows we consider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a database of texts with their embeddings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want to find the texts that are similar to a given query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retrieve N texts whose embeddings are closest to the query embedding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  <a:solidFill>
            <a:srgbClr val="741B47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Let's practice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205" name="Google Shape;205;p36"/>
          <p:cNvSpPr txBox="1"/>
          <p:nvPr>
            <p:ph idx="1" type="body"/>
          </p:nvPr>
        </p:nvSpPr>
        <p:spPr>
          <a:xfrm>
            <a:off x="311700" y="1152475"/>
            <a:ext cx="85206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https://colab.research.google.com/drive/1mG8fFl6U_W3qvaQcLFwdcRZo9vBPNz24#scrollTo=nTFO3UnTDbIr</a:t>
            </a:r>
            <a:r>
              <a:rPr lang="en"/>
              <a:t> </a:t>
            </a:r>
            <a:endParaRPr/>
          </a:p>
        </p:txBody>
      </p:sp>
      <p:sp>
        <p:nvSpPr>
          <p:cNvPr id="206" name="Google Shape;206;p36"/>
          <p:cNvSpPr txBox="1"/>
          <p:nvPr/>
        </p:nvSpPr>
        <p:spPr>
          <a:xfrm>
            <a:off x="1066800" y="2209800"/>
            <a:ext cx="69612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use wikipedia API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get the Transport pages for Paris, Rome, Berlin, …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split the text into sentences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calculate the embeddings for each sentence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given a query sentence "biking" and its embeddings find the N sentences that are most similar to the query sentence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>
            <p:ph type="title"/>
          </p:nvPr>
        </p:nvSpPr>
        <p:spPr>
          <a:xfrm>
            <a:off x="311700" y="2150850"/>
            <a:ext cx="85206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 to databases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8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search in Neo4j</a:t>
            </a:r>
            <a:endParaRPr/>
          </a:p>
        </p:txBody>
      </p:sp>
      <p:pic>
        <p:nvPicPr>
          <p:cNvPr id="217" name="Google Shape;21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1375" y="1159929"/>
            <a:ext cx="9144003" cy="262979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8"/>
          <p:cNvSpPr txBox="1"/>
          <p:nvPr/>
        </p:nvSpPr>
        <p:spPr>
          <a:xfrm>
            <a:off x="1246200" y="4161625"/>
            <a:ext cx="577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https://neo4j.com/labs/genai-ecosystem/vector-search/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9"/>
          <p:cNvSpPr txBox="1"/>
          <p:nvPr>
            <p:ph type="title"/>
          </p:nvPr>
        </p:nvSpPr>
        <p:spPr>
          <a:xfrm>
            <a:off x="311700" y="2150850"/>
            <a:ext cx="85206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search in MongoDB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0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search in MongoDB</a:t>
            </a:r>
            <a:endParaRPr/>
          </a:p>
        </p:txBody>
      </p:sp>
      <p:pic>
        <p:nvPicPr>
          <p:cNvPr id="229" name="Google Shape;22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86725"/>
            <a:ext cx="8315679" cy="390203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40"/>
          <p:cNvSpPr txBox="1"/>
          <p:nvPr/>
        </p:nvSpPr>
        <p:spPr>
          <a:xfrm>
            <a:off x="1143000" y="4648200"/>
            <a:ext cx="655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https://www.mongodb.com/products/platform/atlas-vector-search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1"/>
          <p:cNvSpPr txBox="1"/>
          <p:nvPr>
            <p:ph type="title"/>
          </p:nvPr>
        </p:nvSpPr>
        <p:spPr>
          <a:xfrm>
            <a:off x="-2786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search in MongoDB</a:t>
            </a:r>
            <a:endParaRPr/>
          </a:p>
        </p:txBody>
      </p:sp>
      <p:sp>
        <p:nvSpPr>
          <p:cNvPr id="236" name="Google Shape;236;p41"/>
          <p:cNvSpPr txBox="1"/>
          <p:nvPr>
            <p:ph idx="1" type="body"/>
          </p:nvPr>
        </p:nvSpPr>
        <p:spPr>
          <a:xfrm>
            <a:off x="6900" y="771475"/>
            <a:ext cx="5246700" cy="17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Index the vector field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$vectorSearch: 2 main algorithms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ANN: faster, focused on a smaller set of vectors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ENN: slower, scans all the vectors in the database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Run Vector Search Queries - MongoDB Atlas</a:t>
            </a:r>
            <a:r>
              <a:rPr lang="en"/>
              <a:t> </a:t>
            </a:r>
            <a:endParaRPr/>
          </a:p>
        </p:txBody>
      </p:sp>
      <p:sp>
        <p:nvSpPr>
          <p:cNvPr id="237" name="Google Shape;237;p41"/>
          <p:cNvSpPr txBox="1"/>
          <p:nvPr/>
        </p:nvSpPr>
        <p:spPr>
          <a:xfrm>
            <a:off x="2105600" y="2743200"/>
            <a:ext cx="4323300" cy="2047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  "$vectorSearch": {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    "exact": true | false,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    "filter": {&lt;filter-specification&gt;},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    "index": "&lt;index-name&gt;",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    "limit": &lt;number-of-results&gt;,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    "numCandidates": &lt;number-of-candidates&gt;,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    "path": "&lt;field-to-search&gt;",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    "queryVector": [&lt;array-of-numbers&gt;]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2"/>
          <p:cNvSpPr txBox="1"/>
          <p:nvPr>
            <p:ph type="title"/>
          </p:nvPr>
        </p:nvSpPr>
        <p:spPr>
          <a:xfrm>
            <a:off x="-2786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with MongoDB </a:t>
            </a:r>
            <a:endParaRPr/>
          </a:p>
        </p:txBody>
      </p:sp>
      <p:sp>
        <p:nvSpPr>
          <p:cNvPr id="243" name="Google Shape;243;p42"/>
          <p:cNvSpPr txBox="1"/>
          <p:nvPr>
            <p:ph idx="1" type="body"/>
          </p:nvPr>
        </p:nvSpPr>
        <p:spPr>
          <a:xfrm>
            <a:off x="311700" y="1152475"/>
            <a:ext cx="8520600" cy="28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Construction of the reference database from a dataset already split into chunks, then retrieval from a query and response generation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VoyageAI for embeddings (Stanford, joined MongoDB)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OpenAI for response generation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MongoDB for the reference database and dataset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2"/>
          <p:cNvSpPr txBox="1"/>
          <p:nvPr/>
        </p:nvSpPr>
        <p:spPr>
          <a:xfrm>
            <a:off x="381000" y="3733800"/>
            <a:ext cx="845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https://github.com/mongodb-developer/GenAI-Showcase/blob/main/notebooks/rag/anthropic_mongodb_pam_ai_stack.ipynb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3"/>
          <p:cNvSpPr txBox="1"/>
          <p:nvPr>
            <p:ph type="title"/>
          </p:nvPr>
        </p:nvSpPr>
        <p:spPr>
          <a:xfrm>
            <a:off x="-2786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2: MongoDB + DeepSeek</a:t>
            </a:r>
            <a:endParaRPr/>
          </a:p>
        </p:txBody>
      </p:sp>
      <p:sp>
        <p:nvSpPr>
          <p:cNvPr id="250" name="Google Shape;250;p43"/>
          <p:cNvSpPr txBox="1"/>
          <p:nvPr>
            <p:ph idx="1" type="body"/>
          </p:nvPr>
        </p:nvSpPr>
        <p:spPr>
          <a:xfrm>
            <a:off x="311700" y="1152475"/>
            <a:ext cx="8520600" cy="14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data: MongoDB/embedded_movies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SentenceTransformer("sentence-transformers/all-MiniLM-L6-v2")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MongoDB + indexing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DeepSeek (from Hugging Face)</a:t>
            </a:r>
            <a:endParaRPr/>
          </a:p>
        </p:txBody>
      </p:sp>
      <p:sp>
        <p:nvSpPr>
          <p:cNvPr id="251" name="Google Shape;251;p43"/>
          <p:cNvSpPr txBox="1"/>
          <p:nvPr/>
        </p:nvSpPr>
        <p:spPr>
          <a:xfrm>
            <a:off x="0" y="2743200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https://github.com/mongodb-developer/GenAI-Showcase/blob/main/notebooks/rag/deepseek_r1_rag_pipeline_with_mongodb.ipynb</a:t>
            </a:r>
            <a:r>
              <a:rPr lang="en"/>
              <a:t> </a:t>
            </a:r>
            <a:endParaRPr sz="13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4"/>
          <p:cNvSpPr txBox="1"/>
          <p:nvPr>
            <p:ph type="title"/>
          </p:nvPr>
        </p:nvSpPr>
        <p:spPr>
          <a:xfrm>
            <a:off x="-2786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3: MongoDB + Keras-NLP</a:t>
            </a:r>
            <a:endParaRPr/>
          </a:p>
        </p:txBody>
      </p:sp>
      <p:sp>
        <p:nvSpPr>
          <p:cNvPr id="257" name="Google Shape;257;p44"/>
          <p:cNvSpPr txBox="1"/>
          <p:nvPr>
            <p:ph idx="1" type="body"/>
          </p:nvPr>
        </p:nvSpPr>
        <p:spPr>
          <a:xfrm>
            <a:off x="311700" y="1152475"/>
            <a:ext cx="8520600" cy="25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dataset: </a:t>
            </a:r>
            <a:r>
              <a:rPr lang="en" u="sng">
                <a:solidFill>
                  <a:schemeClr val="hlink"/>
                </a:solidFill>
                <a:hlinkClick r:id="rId3"/>
              </a:rPr>
              <a:t>MongoDB/subset_arxiv_papers_with_embeddings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embeddings OpenAI: text-embedding-3-small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MongoDB + indexing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Keras: </a:t>
            </a:r>
            <a:r>
              <a:rPr lang="en" u="sng">
                <a:solidFill>
                  <a:schemeClr val="hlink"/>
                </a:solidFill>
                <a:hlinkClick r:id="rId4"/>
              </a:rPr>
              <a:t>CausalLLM models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434343"/>
                </a:highlight>
                <a:latin typeface="Roboto Mono"/>
                <a:ea typeface="Roboto Mono"/>
                <a:cs typeface="Roboto Mono"/>
                <a:sym typeface="Roboto Mono"/>
              </a:rPr>
              <a:t>keras_nlp.models.GemmaCausalLM.from_preset(</a:t>
            </a:r>
            <a:br>
              <a:rPr lang="en">
                <a:solidFill>
                  <a:schemeClr val="lt1"/>
                </a:solidFill>
                <a:highlight>
                  <a:srgbClr val="434343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>
                <a:solidFill>
                  <a:schemeClr val="lt1"/>
                </a:solidFill>
                <a:highlight>
                  <a:srgbClr val="434343"/>
                </a:highlight>
                <a:latin typeface="Roboto Mono"/>
                <a:ea typeface="Roboto Mono"/>
                <a:cs typeface="Roboto Mono"/>
                <a:sym typeface="Roboto Mono"/>
              </a:rPr>
              <a:t>	"hf://gg-tt/gemma-2-instruct-9b-keras" </a:t>
            </a:r>
            <a:br>
              <a:rPr lang="en">
                <a:solidFill>
                  <a:schemeClr val="lt1"/>
                </a:solidFill>
                <a:highlight>
                  <a:srgbClr val="434343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>
                <a:solidFill>
                  <a:schemeClr val="lt1"/>
                </a:solidFill>
                <a:highlight>
                  <a:srgbClr val="434343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solidFill>
                <a:schemeClr val="lt1"/>
              </a:solidFill>
              <a:highlight>
                <a:srgbClr val="434343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8" name="Google Shape;258;p44"/>
          <p:cNvSpPr txBox="1"/>
          <p:nvPr/>
        </p:nvSpPr>
        <p:spPr>
          <a:xfrm>
            <a:off x="0" y="3962400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https://github.com/mongodb-developer/GenAI-Showcase/blob/main/notebooks/rag/rag_pipeline_kerasnlp_mongodb_gemma2.ipynb</a:t>
            </a:r>
            <a:r>
              <a:rPr lang="en"/>
              <a:t> </a:t>
            </a:r>
            <a:endParaRPr sz="13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5"/>
          <p:cNvSpPr txBox="1"/>
          <p:nvPr/>
        </p:nvSpPr>
        <p:spPr>
          <a:xfrm>
            <a:off x="5264425" y="1946966"/>
            <a:ext cx="4056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ENN | ANN</a:t>
            </a:r>
            <a:endParaRPr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Classic MQL filtering</a:t>
            </a:r>
            <a:endParaRPr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vector </a:t>
            </a:r>
            <a:r>
              <a:rPr lang="en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field</a:t>
            </a:r>
            <a:r>
              <a:rPr lang="en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 indexing</a:t>
            </a:r>
            <a:endParaRPr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Number of results</a:t>
            </a:r>
            <a:endParaRPr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Nombre of candidates</a:t>
            </a:r>
            <a:endParaRPr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vector field name</a:t>
            </a:r>
            <a:endParaRPr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query vector</a:t>
            </a:r>
            <a:endParaRPr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4" name="Google Shape;264;p45"/>
          <p:cNvSpPr txBox="1"/>
          <p:nvPr>
            <p:ph type="title"/>
          </p:nvPr>
        </p:nvSpPr>
        <p:spPr>
          <a:xfrm>
            <a:off x="-2786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Search</a:t>
            </a:r>
            <a:endParaRPr/>
          </a:p>
        </p:txBody>
      </p:sp>
      <p:sp>
        <p:nvSpPr>
          <p:cNvPr id="265" name="Google Shape;265;p45"/>
          <p:cNvSpPr txBox="1"/>
          <p:nvPr/>
        </p:nvSpPr>
        <p:spPr>
          <a:xfrm>
            <a:off x="435925" y="1548150"/>
            <a:ext cx="4828500" cy="2385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3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  "$vectorSearch": {</a:t>
            </a:r>
            <a:endParaRPr sz="13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    "exact": true | false,</a:t>
            </a:r>
            <a:endParaRPr sz="13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    "filter": {&lt;filter-specification&gt;},</a:t>
            </a:r>
            <a:endParaRPr sz="13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    "index": "&lt;index-name&gt;",</a:t>
            </a:r>
            <a:endParaRPr sz="13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    "limit": &lt;number-of-results&gt;,</a:t>
            </a:r>
            <a:endParaRPr sz="13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    "numCandidates": &lt;number-of-candidates&gt;,</a:t>
            </a:r>
            <a:endParaRPr sz="13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    "path": "&lt;field-to-search&gt;",</a:t>
            </a:r>
            <a:endParaRPr sz="13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    "queryVector": [&lt;array-of-numbers&gt;]</a:t>
            </a:r>
            <a:endParaRPr sz="13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3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3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6" name="Google Shape;266;p45"/>
          <p:cNvSpPr txBox="1"/>
          <p:nvPr/>
        </p:nvSpPr>
        <p:spPr>
          <a:xfrm>
            <a:off x="525350" y="791700"/>
            <a:ext cx="435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Retrieves</a:t>
            </a:r>
            <a:r>
              <a:rPr lang="en" sz="1800">
                <a:solidFill>
                  <a:schemeClr val="dk2"/>
                </a:solidFill>
              </a:rPr>
              <a:t> N documents whose vector is closest to a query vector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6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MongoDB aggregation pipeline</a:t>
            </a:r>
            <a:endParaRPr/>
          </a:p>
        </p:txBody>
      </p:sp>
      <p:sp>
        <p:nvSpPr>
          <p:cNvPr id="272" name="Google Shape;272;p46"/>
          <p:cNvSpPr txBox="1"/>
          <p:nvPr/>
        </p:nvSpPr>
        <p:spPr>
          <a:xfrm>
            <a:off x="1479000" y="571836"/>
            <a:ext cx="7685400" cy="4494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E2F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db.embedded_movies.</a:t>
            </a:r>
            <a:r>
              <a:rPr b="1" lang="en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aggregate</a:t>
            </a:r>
            <a:r>
              <a:rPr lang="en">
                <a:solidFill>
                  <a:srgbClr val="CFE2F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([</a:t>
            </a:r>
            <a:endParaRPr>
              <a:solidFill>
                <a:srgbClr val="CFE2F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E2F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{</a:t>
            </a:r>
            <a:endParaRPr>
              <a:solidFill>
                <a:srgbClr val="CFE2F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E2F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 "$</a:t>
            </a:r>
            <a:r>
              <a:rPr lang="en">
                <a:solidFill>
                  <a:srgbClr val="FFFF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vectorSearch</a:t>
            </a:r>
            <a:r>
              <a:rPr lang="en">
                <a:solidFill>
                  <a:srgbClr val="CFE2F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": {</a:t>
            </a:r>
            <a:endParaRPr>
              <a:solidFill>
                <a:srgbClr val="CFE2F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E2F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   "index": "vector_index",</a:t>
            </a:r>
            <a:endParaRPr>
              <a:solidFill>
                <a:srgbClr val="CFE2F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E2F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   "path": "plot_embedding",</a:t>
            </a:r>
            <a:endParaRPr>
              <a:solidFill>
                <a:srgbClr val="CFE2F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E2F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   "</a:t>
            </a:r>
            <a:r>
              <a:rPr lang="en">
                <a:solidFill>
                  <a:srgbClr val="CFE2F3"/>
                </a:solidFill>
                <a:highlight>
                  <a:srgbClr val="0000FF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queryVector</a:t>
            </a:r>
            <a:r>
              <a:rPr lang="en">
                <a:solidFill>
                  <a:srgbClr val="CFE2F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": [-0.0016261312,-0.028070757,..., .009710136],</a:t>
            </a:r>
            <a:endParaRPr>
              <a:solidFill>
                <a:srgbClr val="CFE2F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E2F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   "numCandidates": 150,</a:t>
            </a:r>
            <a:endParaRPr>
              <a:solidFill>
                <a:srgbClr val="CFE2F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E2F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   "limit": 10,</a:t>
            </a:r>
            <a:endParaRPr>
              <a:solidFill>
                <a:srgbClr val="CFE2F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E2F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   "quantization": "scalar"</a:t>
            </a:r>
            <a:endParaRPr>
              <a:solidFill>
                <a:srgbClr val="CFE2F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E2F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 }</a:t>
            </a:r>
            <a:endParaRPr>
              <a:solidFill>
                <a:srgbClr val="CFE2F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E2F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},</a:t>
            </a:r>
            <a:endParaRPr>
              <a:solidFill>
                <a:srgbClr val="CFE2F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E2F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{</a:t>
            </a:r>
            <a:endParaRPr>
              <a:solidFill>
                <a:srgbClr val="CFE2F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E2F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 "$project": {</a:t>
            </a:r>
            <a:endParaRPr>
              <a:solidFill>
                <a:srgbClr val="CFE2F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E2F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   "_id": 0,</a:t>
            </a:r>
            <a:endParaRPr>
              <a:solidFill>
                <a:srgbClr val="CFE2F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E2F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   "plot": 1,</a:t>
            </a:r>
            <a:endParaRPr>
              <a:solidFill>
                <a:srgbClr val="CFE2F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E2F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   "title": 1,</a:t>
            </a:r>
            <a:endParaRPr>
              <a:solidFill>
                <a:srgbClr val="CFE2F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E2F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   "score": { $meta: "vectorSearchScore" }</a:t>
            </a:r>
            <a:endParaRPr>
              <a:solidFill>
                <a:srgbClr val="CFE2F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E2F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 }</a:t>
            </a:r>
            <a:endParaRPr>
              <a:solidFill>
                <a:srgbClr val="CFE2F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E2F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}</a:t>
            </a:r>
            <a:endParaRPr>
              <a:solidFill>
                <a:srgbClr val="CFE2F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E2F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])</a:t>
            </a:r>
            <a:endParaRPr>
              <a:solidFill>
                <a:srgbClr val="CFE2F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273" name="Google Shape;273;p46"/>
          <p:cNvSpPr txBox="1"/>
          <p:nvPr/>
        </p:nvSpPr>
        <p:spPr>
          <a:xfrm>
            <a:off x="19975" y="1246225"/>
            <a:ext cx="1377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In the Atlas cluster,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embedded</a:t>
            </a:r>
            <a:r>
              <a:rPr lang="en" sz="1300">
                <a:solidFill>
                  <a:schemeClr val="dk2"/>
                </a:solidFill>
              </a:rPr>
              <a:t> movies </a:t>
            </a:r>
            <a:r>
              <a:rPr lang="en" sz="1300" u="sng">
                <a:solidFill>
                  <a:schemeClr val="hlink"/>
                </a:solidFill>
                <a:hlinkClick r:id="rId3"/>
              </a:rPr>
              <a:t>dataset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7"/>
          <p:cNvSpPr txBox="1"/>
          <p:nvPr>
            <p:ph type="title"/>
          </p:nvPr>
        </p:nvSpPr>
        <p:spPr>
          <a:xfrm>
            <a:off x="-2786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Gotchas!</a:t>
            </a:r>
            <a:endParaRPr/>
          </a:p>
        </p:txBody>
      </p:sp>
      <p:sp>
        <p:nvSpPr>
          <p:cNvPr id="279" name="Google Shape;279;p47"/>
          <p:cNvSpPr txBox="1"/>
          <p:nvPr>
            <p:ph idx="1" type="body"/>
          </p:nvPr>
        </p:nvSpPr>
        <p:spPr>
          <a:xfrm>
            <a:off x="311700" y="1152475"/>
            <a:ext cx="4899900" cy="28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vector search, only available in Atlas, not on local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 native </a:t>
            </a:r>
            <a:r>
              <a:rPr b="1" lang="en" sz="1600"/>
              <a:t>hybrid search</a:t>
            </a:r>
            <a:r>
              <a:rPr lang="en" sz="1600"/>
              <a:t> natif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Hybrid search combines vector search (cosine similarity) and keyword search with weights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dense vectors(embeddings)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sparse vectors (tf-idf)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Hybrid Search Explained | Weaviate</a:t>
            </a:r>
            <a:r>
              <a:rPr lang="en" sz="1600"/>
              <a:t> </a:t>
            </a:r>
            <a:endParaRPr sz="1600"/>
          </a:p>
        </p:txBody>
      </p:sp>
      <p:pic>
        <p:nvPicPr>
          <p:cNvPr id="280" name="Google Shape;28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8650" y="1249250"/>
            <a:ext cx="3783974" cy="252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8"/>
          <p:cNvSpPr txBox="1"/>
          <p:nvPr>
            <p:ph type="title"/>
          </p:nvPr>
        </p:nvSpPr>
        <p:spPr>
          <a:xfrm>
            <a:off x="311700" y="2150850"/>
            <a:ext cx="85206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Dedicated vector stores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9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Dedicated vector stores</a:t>
            </a:r>
            <a:endParaRPr/>
          </a:p>
        </p:txBody>
      </p:sp>
      <p:sp>
        <p:nvSpPr>
          <p:cNvPr id="291" name="Google Shape;291;p49"/>
          <p:cNvSpPr txBox="1"/>
          <p:nvPr>
            <p:ph idx="1" type="body"/>
          </p:nvPr>
        </p:nvSpPr>
        <p:spPr>
          <a:xfrm>
            <a:off x="311700" y="1152475"/>
            <a:ext cx="8520600" cy="27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A </a:t>
            </a:r>
            <a:r>
              <a:rPr b="1" lang="en" sz="1600">
                <a:solidFill>
                  <a:schemeClr val="dk1"/>
                </a:solidFill>
              </a:rPr>
              <a:t>vector store</a:t>
            </a:r>
            <a:r>
              <a:rPr lang="en" sz="1600">
                <a:solidFill>
                  <a:schemeClr val="dk1"/>
                </a:solidFill>
              </a:rPr>
              <a:t> is a specialized database designed to efficiently store, index, and search high-dimensional vectors.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Weaviate.io</a:t>
            </a:r>
            <a:r>
              <a:rPr lang="en" sz="1600">
                <a:solidFill>
                  <a:schemeClr val="dk1"/>
                </a:solidFill>
              </a:rPr>
              <a:t> – Open-source vector search engine with built-in ML models. (Netherlands)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4"/>
              </a:rPr>
              <a:t>vespa.ai</a:t>
            </a:r>
            <a:r>
              <a:rPr lang="en" sz="1600">
                <a:solidFill>
                  <a:schemeClr val="dk1"/>
                </a:solidFill>
              </a:rPr>
              <a:t> (Norway)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Pinecone – Scalable, fully managed vector database. (US)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FAISS (by Facebook) – Fast indexing for large-scale search. </a:t>
            </a:r>
            <a:r>
              <a:rPr lang="en" sz="1600">
                <a:solidFill>
                  <a:schemeClr val="dk1"/>
                </a:solidFill>
              </a:rPr>
              <a:t>(US)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Chroma – Lightweight vector store often used in RAG pipelines. </a:t>
            </a:r>
            <a:r>
              <a:rPr lang="en" sz="1600">
                <a:solidFill>
                  <a:schemeClr val="dk1"/>
                </a:solidFill>
              </a:rPr>
              <a:t>(US)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and many others</a:t>
            </a:r>
            <a:endParaRPr sz="1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0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a dedicated vector store?</a:t>
            </a:r>
            <a:endParaRPr/>
          </a:p>
        </p:txBody>
      </p:sp>
      <p:sp>
        <p:nvSpPr>
          <p:cNvPr id="297" name="Google Shape;297;p50"/>
          <p:cNvSpPr txBox="1"/>
          <p:nvPr>
            <p:ph idx="1" type="body"/>
          </p:nvPr>
        </p:nvSpPr>
        <p:spPr>
          <a:xfrm>
            <a:off x="311700" y="1152475"/>
            <a:ext cx="8520600" cy="25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short: scale &amp; speed &amp; smarter neighbor search algorithms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Performance optimization</a:t>
            </a:r>
            <a:r>
              <a:rPr lang="en"/>
              <a:t> - Dedicated vector stores use specialized indexing algorithms (HNSW, IVF) built specifically for high-dimensional similarity search, typically 10-100x faster than generic NoSQL approaches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Advanced similarity metrics</a:t>
            </a:r>
            <a:r>
              <a:rPr lang="en"/>
              <a:t> - Native support for cosine, euclidean, dot product, and custom distance functions, while MongoDB's vector search has more limited metric options</a:t>
            </a:r>
            <a:endParaRPr/>
          </a:p>
        </p:txBody>
      </p:sp>
      <p:sp>
        <p:nvSpPr>
          <p:cNvPr id="298" name="Google Shape;298;p50"/>
          <p:cNvSpPr txBox="1"/>
          <p:nvPr/>
        </p:nvSpPr>
        <p:spPr>
          <a:xfrm>
            <a:off x="574025" y="3867075"/>
            <a:ext cx="753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smallish database: any </a:t>
            </a:r>
            <a:r>
              <a:rPr lang="en" sz="1800">
                <a:solidFill>
                  <a:schemeClr val="dk2"/>
                </a:solidFill>
              </a:rPr>
              <a:t>solution</a:t>
            </a:r>
            <a:r>
              <a:rPr lang="en" sz="1800">
                <a:solidFill>
                  <a:schemeClr val="dk2"/>
                </a:solidFill>
              </a:rPr>
              <a:t> will do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huge-ish data: choose a dedicated vector store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1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</a:t>
            </a:r>
            <a:endParaRPr/>
          </a:p>
        </p:txBody>
      </p:sp>
      <p:pic>
        <p:nvPicPr>
          <p:cNvPr id="304" name="Google Shape;30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75" y="862774"/>
            <a:ext cx="9143999" cy="3391952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51"/>
          <p:cNvSpPr/>
          <p:nvPr/>
        </p:nvSpPr>
        <p:spPr>
          <a:xfrm>
            <a:off x="67969" y="2430691"/>
            <a:ext cx="1549800" cy="537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51"/>
          <p:cNvSpPr/>
          <p:nvPr/>
        </p:nvSpPr>
        <p:spPr>
          <a:xfrm>
            <a:off x="3181775" y="1761191"/>
            <a:ext cx="1017600" cy="324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51"/>
          <p:cNvSpPr/>
          <p:nvPr/>
        </p:nvSpPr>
        <p:spPr>
          <a:xfrm>
            <a:off x="3181775" y="3765050"/>
            <a:ext cx="1017600" cy="324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2"/>
          <p:cNvSpPr txBox="1"/>
          <p:nvPr>
            <p:ph type="title"/>
          </p:nvPr>
        </p:nvSpPr>
        <p:spPr>
          <a:xfrm>
            <a:off x="311700" y="2150850"/>
            <a:ext cx="85206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Weaviate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3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Excellent short course on weaviate</a:t>
            </a:r>
            <a:endParaRPr/>
          </a:p>
        </p:txBody>
      </p:sp>
      <p:sp>
        <p:nvSpPr>
          <p:cNvPr id="318" name="Google Shape;318;p53"/>
          <p:cNvSpPr txBox="1"/>
          <p:nvPr>
            <p:ph idx="1" type="body"/>
          </p:nvPr>
        </p:nvSpPr>
        <p:spPr>
          <a:xfrm>
            <a:off x="311700" y="1152475"/>
            <a:ext cx="85206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Vector Databases: from Embeddings to Applications - DeepLearning.AI</a:t>
            </a:r>
            <a:r>
              <a:rPr lang="en"/>
              <a:t> </a:t>
            </a:r>
            <a:endParaRPr/>
          </a:p>
        </p:txBody>
      </p:sp>
      <p:pic>
        <p:nvPicPr>
          <p:cNvPr id="319" name="Google Shape;319;p53" title="Screenshot 2025-06-12 at 11.00.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766575"/>
            <a:ext cx="8839204" cy="2637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4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Weaviate - cloud or local</a:t>
            </a:r>
            <a:endParaRPr/>
          </a:p>
        </p:txBody>
      </p:sp>
      <p:sp>
        <p:nvSpPr>
          <p:cNvPr id="325" name="Google Shape;325;p54"/>
          <p:cNvSpPr txBox="1"/>
          <p:nvPr/>
        </p:nvSpPr>
        <p:spPr>
          <a:xfrm>
            <a:off x="387900" y="1234075"/>
            <a:ext cx="46044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Verdana"/>
                <a:ea typeface="Verdana"/>
                <a:cs typeface="Verdana"/>
                <a:sym typeface="Verdana"/>
              </a:rPr>
              <a:t>Cloud: usual steps 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en" sz="18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weaviate.io</a:t>
            </a:r>
            <a:r>
              <a:rPr lang="en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Verdana"/>
                <a:ea typeface="Verdana"/>
                <a:cs typeface="Verdana"/>
                <a:sym typeface="Verdana"/>
              </a:rPr>
              <a:t>Install on Local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Verdana"/>
              <a:buChar char="●"/>
            </a:pPr>
            <a:r>
              <a:rPr lang="en" sz="18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install</a:t>
            </a:r>
            <a:r>
              <a:rPr lang="en" sz="1800">
                <a:latin typeface="Verdana"/>
                <a:ea typeface="Verdana"/>
                <a:cs typeface="Verdana"/>
                <a:sym typeface="Verdana"/>
              </a:rPr>
              <a:t> (with Docker + Ollama)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26" name="Google Shape;326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5031" y="1263700"/>
            <a:ext cx="3568824" cy="312967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54"/>
          <p:cNvSpPr txBox="1"/>
          <p:nvPr/>
        </p:nvSpPr>
        <p:spPr>
          <a:xfrm>
            <a:off x="234150" y="3564950"/>
            <a:ext cx="387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then </a:t>
            </a:r>
            <a:r>
              <a:rPr lang="en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create cluster &amp; connect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5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 data into weaviate</a:t>
            </a:r>
            <a:endParaRPr/>
          </a:p>
        </p:txBody>
      </p:sp>
      <p:sp>
        <p:nvSpPr>
          <p:cNvPr id="333" name="Google Shape;333;p55"/>
          <p:cNvSpPr txBox="1"/>
          <p:nvPr>
            <p:ph idx="1" type="body"/>
          </p:nvPr>
        </p:nvSpPr>
        <p:spPr>
          <a:xfrm>
            <a:off x="311700" y="1152475"/>
            <a:ext cx="8520600" cy="18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either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have weaviate create the vectors at import time through one of the many available modules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or </a:t>
            </a: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embed the text yourself and </a:t>
            </a:r>
            <a:r>
              <a:rPr lang="en" u="sng">
                <a:solidFill>
                  <a:srgbClr val="0F9D58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Bring your own vectors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○"/>
            </a:pPr>
            <a:r>
              <a:rPr lang="en"/>
              <a:t>then you need to generate the vector for the query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6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Weaviate quickstart</a:t>
            </a:r>
            <a:endParaRPr/>
          </a:p>
        </p:txBody>
      </p:sp>
      <p:sp>
        <p:nvSpPr>
          <p:cNvPr id="339" name="Google Shape;339;p56"/>
          <p:cNvSpPr txBox="1"/>
          <p:nvPr/>
        </p:nvSpPr>
        <p:spPr>
          <a:xfrm>
            <a:off x="311700" y="1157875"/>
            <a:ext cx="85206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Quick Start</a:t>
            </a:r>
            <a:r>
              <a:rPr lang="en" sz="1800">
                <a:latin typeface="Verdana"/>
                <a:ea typeface="Verdana"/>
                <a:cs typeface="Verdana"/>
                <a:sym typeface="Verdana"/>
              </a:rPr>
              <a:t> on hosted cluster</a:t>
            </a:r>
            <a:endParaRPr sz="1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en" sz="1800">
                <a:latin typeface="Verdana"/>
                <a:ea typeface="Verdana"/>
                <a:cs typeface="Verdana"/>
                <a:sym typeface="Verdana"/>
              </a:rPr>
              <a:t>Quota for free cluster</a:t>
            </a:r>
            <a:endParaRPr sz="1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○"/>
            </a:pPr>
            <a:r>
              <a:rPr lang="en" sz="1800">
                <a:latin typeface="Verdana"/>
                <a:ea typeface="Verdana"/>
                <a:cs typeface="Verdana"/>
                <a:sym typeface="Verdana"/>
              </a:rPr>
              <a:t>Expiration : This sandbox will expire in 14 days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○"/>
            </a:pPr>
            <a:r>
              <a:rPr lang="en" sz="1800">
                <a:latin typeface="Verdana"/>
                <a:ea typeface="Verdana"/>
                <a:cs typeface="Verdana"/>
                <a:sym typeface="Verdana"/>
              </a:rPr>
              <a:t>Number of objects: Max. 300K objects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○"/>
            </a:pPr>
            <a:r>
              <a:rPr lang="en" sz="1800">
                <a:latin typeface="Verdana"/>
                <a:ea typeface="Verdana"/>
                <a:cs typeface="Verdana"/>
                <a:sym typeface="Verdana"/>
              </a:rPr>
              <a:t>Vector dimension: 256, 768, 1536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○"/>
            </a:pPr>
            <a:r>
              <a:rPr lang="en" sz="1800">
                <a:latin typeface="Verdana"/>
                <a:ea typeface="Verdana"/>
                <a:cs typeface="Verdana"/>
                <a:sym typeface="Verdana"/>
              </a:rPr>
              <a:t>Disk size: 20 GB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○"/>
            </a:pPr>
            <a:r>
              <a:rPr lang="en" sz="1800">
                <a:latin typeface="Verdana"/>
                <a:ea typeface="Verdana"/>
                <a:cs typeface="Verdana"/>
                <a:sym typeface="Verdana"/>
              </a:rPr>
              <a:t>Daily limit of 2,000 requests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latin typeface="Verdana"/>
                <a:ea typeface="Verdana"/>
                <a:cs typeface="Verdana"/>
                <a:sym typeface="Verdana"/>
              </a:rPr>
              <a:t>or </a:t>
            </a:r>
            <a:r>
              <a:rPr lang="en" sz="18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install on Local</a:t>
            </a:r>
            <a:r>
              <a:rPr lang="en" sz="1800">
                <a:latin typeface="Verdana"/>
                <a:ea typeface="Verdana"/>
                <a:cs typeface="Verdana"/>
                <a:sym typeface="Verdana"/>
              </a:rPr>
              <a:t> (you need Docker + Ollama)</a:t>
            </a:r>
            <a:endParaRPr sz="1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7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your cluster</a:t>
            </a:r>
            <a:endParaRPr/>
          </a:p>
        </p:txBody>
      </p:sp>
      <p:sp>
        <p:nvSpPr>
          <p:cNvPr id="345" name="Google Shape;345;p57"/>
          <p:cNvSpPr txBox="1"/>
          <p:nvPr>
            <p:ph idx="1" type="body"/>
          </p:nvPr>
        </p:nvSpPr>
        <p:spPr>
          <a:xfrm>
            <a:off x="311700" y="1152475"/>
            <a:ext cx="85206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endpoints</a:t>
            </a:r>
            <a:endParaRPr/>
          </a:p>
        </p:txBody>
      </p:sp>
      <p:pic>
        <p:nvPicPr>
          <p:cNvPr id="346" name="Google Shape;346;p57" title="Screenshot 2025-06-12 at 17.06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66575"/>
            <a:ext cx="8839202" cy="250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8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API key</a:t>
            </a:r>
            <a:endParaRPr/>
          </a:p>
        </p:txBody>
      </p:sp>
      <p:sp>
        <p:nvSpPr>
          <p:cNvPr id="352" name="Google Shape;352;p58"/>
          <p:cNvSpPr txBox="1"/>
          <p:nvPr>
            <p:ph idx="1" type="body"/>
          </p:nvPr>
        </p:nvSpPr>
        <p:spPr>
          <a:xfrm>
            <a:off x="311700" y="923875"/>
            <a:ext cx="85206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once the cluster is created, scroll down and create an API key.</a:t>
            </a:r>
            <a:br>
              <a:rPr lang="en"/>
            </a:br>
            <a:r>
              <a:rPr lang="en"/>
              <a:t>download the file</a:t>
            </a:r>
            <a:endParaRPr/>
          </a:p>
        </p:txBody>
      </p:sp>
      <p:pic>
        <p:nvPicPr>
          <p:cNvPr id="353" name="Google Shape;353;p58" title="Screenshot 2025-06-12 at 17.06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" y="1766575"/>
            <a:ext cx="6206043" cy="322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9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Active</a:t>
            </a:r>
            <a:r>
              <a:rPr lang="en"/>
              <a:t> modules</a:t>
            </a:r>
            <a:endParaRPr/>
          </a:p>
        </p:txBody>
      </p:sp>
      <p:pic>
        <p:nvPicPr>
          <p:cNvPr id="359" name="Google Shape;359;p59" title="Screenshot 2025-06-12 at 17.08.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9675" y="571225"/>
            <a:ext cx="6644238" cy="3224524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59"/>
          <p:cNvSpPr txBox="1"/>
          <p:nvPr/>
        </p:nvSpPr>
        <p:spPr>
          <a:xfrm>
            <a:off x="203925" y="951650"/>
            <a:ext cx="4350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generative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multi2vec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reranker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qna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ref2vec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text2vec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61" name="Google Shape;361;p59"/>
          <p:cNvSpPr txBox="1"/>
          <p:nvPr/>
        </p:nvSpPr>
        <p:spPr>
          <a:xfrm>
            <a:off x="315875" y="4071000"/>
            <a:ext cx="858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5"/>
              </a:rPr>
              <a:t>text2vec ollama</a:t>
            </a:r>
            <a:r>
              <a:rPr lang="en" sz="1800">
                <a:solidFill>
                  <a:schemeClr val="dk2"/>
                </a:solidFill>
              </a:rPr>
              <a:t> and the </a:t>
            </a:r>
            <a:r>
              <a:rPr lang="en" sz="1800" u="sng">
                <a:solidFill>
                  <a:schemeClr val="hlink"/>
                </a:solidFill>
                <a:hlinkClick r:id="rId6"/>
              </a:rPr>
              <a:t>generative-ollama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module do not require </a:t>
            </a:r>
            <a:r>
              <a:rPr lang="en" sz="1800">
                <a:solidFill>
                  <a:schemeClr val="dk2"/>
                </a:solidFill>
              </a:rPr>
              <a:t>external</a:t>
            </a:r>
            <a:r>
              <a:rPr lang="en" sz="1800">
                <a:solidFill>
                  <a:schemeClr val="dk2"/>
                </a:solidFill>
              </a:rPr>
              <a:t> credentials but they do require a locally running ollama. out of scope.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0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Weaviate demo</a:t>
            </a:r>
            <a:endParaRPr/>
          </a:p>
        </p:txBody>
      </p:sp>
      <p:sp>
        <p:nvSpPr>
          <p:cNvPr id="367" name="Google Shape;367;p60"/>
          <p:cNvSpPr txBox="1"/>
          <p:nvPr>
            <p:ph idx="1" type="body"/>
          </p:nvPr>
        </p:nvSpPr>
        <p:spPr>
          <a:xfrm>
            <a:off x="311700" y="1152475"/>
            <a:ext cx="8520600" cy="9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https://colab.research.google.com/drive/1o57exNo2DTAIEBqPXpnbQjJGffi2Sqe3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does not work :(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1"/>
          <p:cNvSpPr txBox="1"/>
          <p:nvPr>
            <p:ph type="title"/>
          </p:nvPr>
        </p:nvSpPr>
        <p:spPr>
          <a:xfrm>
            <a:off x="6900" y="-12175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Weaviate cloud</a:t>
            </a:r>
            <a:endParaRPr/>
          </a:p>
        </p:txBody>
      </p:sp>
      <p:sp>
        <p:nvSpPr>
          <p:cNvPr id="373" name="Google Shape;373;p61"/>
          <p:cNvSpPr txBox="1"/>
          <p:nvPr>
            <p:ph idx="1" type="body"/>
          </p:nvPr>
        </p:nvSpPr>
        <p:spPr>
          <a:xfrm>
            <a:off x="311700" y="1152475"/>
            <a:ext cx="85206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https://console.weaviate.cloud/cluster-details</a:t>
            </a:r>
            <a:r>
              <a:rPr lang="en"/>
              <a:t> </a:t>
            </a:r>
            <a:endParaRPr/>
          </a:p>
        </p:txBody>
      </p:sp>
      <p:pic>
        <p:nvPicPr>
          <p:cNvPr id="374" name="Google Shape;374;p61" title="Screenshot 2025-06-12 at 11.11.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3350" y="1152475"/>
            <a:ext cx="3389236" cy="322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
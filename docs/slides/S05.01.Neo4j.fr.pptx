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  <p:embeddedFont>
      <p:font typeface="PT Sans Narrow"/>
      <p:regular r:id="rId50"/>
      <p:bold r:id="rId51"/>
    </p:embeddedFont>
    <p:embeddedFont>
      <p:font typeface="Helvetica Neue"/>
      <p:regular r:id="rId52"/>
      <p:bold r:id="rId53"/>
      <p:italic r:id="rId54"/>
      <p:boldItalic r:id="rId55"/>
    </p:embeddedFont>
    <p:embeddedFont>
      <p:font typeface="Helvetica Neue Light"/>
      <p:regular r:id="rId56"/>
      <p:bold r:id="rId57"/>
      <p:italic r:id="rId58"/>
      <p:boldItalic r:id="rId59"/>
    </p:embeddedFont>
    <p:embeddedFont>
      <p:font typeface="Open Sans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penSans-italic.fntdata"/><Relationship Id="rId61" Type="http://schemas.openxmlformats.org/officeDocument/2006/relationships/font" Target="fonts/OpenSans-bold.fntdata"/><Relationship Id="rId20" Type="http://schemas.openxmlformats.org/officeDocument/2006/relationships/slide" Target="slides/slide15.xml"/><Relationship Id="rId63" Type="http://schemas.openxmlformats.org/officeDocument/2006/relationships/font" Target="fonts/Open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penSans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TSansNarrow-bold.fntdata"/><Relationship Id="rId50" Type="http://schemas.openxmlformats.org/officeDocument/2006/relationships/font" Target="fonts/PTSansNarrow-regular.fntdata"/><Relationship Id="rId53" Type="http://schemas.openxmlformats.org/officeDocument/2006/relationships/font" Target="fonts/HelveticaNeue-bold.fntdata"/><Relationship Id="rId52" Type="http://schemas.openxmlformats.org/officeDocument/2006/relationships/font" Target="fonts/HelveticaNeue-regular.fntdata"/><Relationship Id="rId11" Type="http://schemas.openxmlformats.org/officeDocument/2006/relationships/slide" Target="slides/slide6.xml"/><Relationship Id="rId55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54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57" Type="http://schemas.openxmlformats.org/officeDocument/2006/relationships/font" Target="fonts/HelveticaNeueLight-bold.fntdata"/><Relationship Id="rId12" Type="http://schemas.openxmlformats.org/officeDocument/2006/relationships/slide" Target="slides/slide7.xml"/><Relationship Id="rId56" Type="http://schemas.openxmlformats.org/officeDocument/2006/relationships/font" Target="fonts/HelveticaNeueLight-regular.fntdata"/><Relationship Id="rId15" Type="http://schemas.openxmlformats.org/officeDocument/2006/relationships/slide" Target="slides/slide10.xml"/><Relationship Id="rId59" Type="http://schemas.openxmlformats.org/officeDocument/2006/relationships/font" Target="fonts/HelveticaNeueLight-boldItalic.fntdata"/><Relationship Id="rId14" Type="http://schemas.openxmlformats.org/officeDocument/2006/relationships/slide" Target="slides/slide9.xml"/><Relationship Id="rId58" Type="http://schemas.openxmlformats.org/officeDocument/2006/relationships/font" Target="fonts/HelveticaNeueLigh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f6bce1fe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f6bce1fe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6d23b24d5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26d23b24d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7e3de1aa0_0_1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7e3de1aa0_0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af6bce1fe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af6bce1fe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7e3de1aa0_0_1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7e3de1aa0_0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7e3de1aa0_0_1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7e3de1aa0_0_1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3e37c2098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e3e37c2098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3e37c2098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e3e37c2098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e3e37c2098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e3e37c2098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3e37c2098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3e37c2098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e3e37c2098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e3e37c2098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e3e37c209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e3e37c209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3e37c2098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e3e37c2098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7e3de1aa0_0_1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37e3de1aa0_0_1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7e3de1aa0_0_1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7e3de1aa0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3e37c209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3e37c209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37e3de1aa0_0_1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37e3de1aa0_0_1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e3e37c209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e3e37c209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3e37c2098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e3e37c209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7e3de1aa0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37e3de1aa0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7e3de1aa0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37e3de1aa0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e3e37c209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e3e37c209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7e3de1aa0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37e3de1aa0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37e3de1aa0_0_1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37e3de1aa0_0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e3e37c2098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e3e37c2098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37e3de1aa0_0_1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37e3de1aa0_0_1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37e3de1aa0_0_1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37e3de1aa0_0_1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3e37c2098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e3e37c2098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37e3de1aa0_0_1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37e3de1aa0_0_1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37e3de1aa0_0_1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37e3de1aa0_0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37e3de1aa0_0_1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37e3de1aa0_0_1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37e3de1aa0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37e3de1aa0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7e3de1aa0_0_1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37e3de1aa0_0_1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e3e37c2098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e3e37c2098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e3e37c2098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e3e37c2098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e3e37c2098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e3e37c2098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e3e37c2098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e3e37c2098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e3e37c2098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e3e37c2098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e3e37c2098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e3e37c2098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37e3de1aa0_0_1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37e3de1aa0_0_1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ithub.com/SkatAI/IPSA-NoSQL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957600"/>
            <a:ext cx="9144000" cy="24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1957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b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4949775"/>
            <a:ext cx="9144000" cy="193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900" y="-121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None/>
              <a:defRPr b="0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9" y="4870209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EFEFE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NoSQL - Alexis Perrier - IPSA - </a:t>
            </a:r>
            <a:r>
              <a:rPr lang="fr" sz="1000">
                <a:solidFill>
                  <a:srgbClr val="EFEFEF"/>
                </a:solidFill>
                <a:uFill>
                  <a:noFill/>
                </a:uFill>
                <a:latin typeface="Helvetica Neue Light"/>
                <a:ea typeface="Helvetica Neue Light"/>
                <a:cs typeface="Helvetica Neue Light"/>
                <a:sym typeface="Helvetica Neue L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https://github.com/SkatAI/IPSA-NoSQL</a:t>
            </a:r>
            <a:r>
              <a:rPr lang="fr" sz="1000">
                <a:solidFill>
                  <a:srgbClr val="EFEFE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endParaRPr sz="1000">
              <a:solidFill>
                <a:srgbClr val="EFEFE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hyperlink" Target="https://youtu.be/anRVomtGXFc?t=204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ephi.org/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networkx.org/" TargetMode="External"/><Relationship Id="rId4" Type="http://schemas.openxmlformats.org/officeDocument/2006/relationships/image" Target="../media/image12.png"/><Relationship Id="rId5" Type="http://schemas.openxmlformats.org/officeDocument/2006/relationships/hyperlink" Target="https://www.toptal.com/data-science/graph-data-science-python-networkx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tarunjain07.medium.com/spanning-tree-minimum-spanning-tree-notes-6c3e54d8bdfc" TargetMode="External"/><Relationship Id="rId4" Type="http://schemas.openxmlformats.org/officeDocument/2006/relationships/hyperlink" Target="https://fr.wikipedia.org/wiki/Arbre_couvrant_de_poids_minimal" TargetMode="External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www.youtube.com/watch?v=T6L9EoBy8Zk" TargetMode="External"/><Relationship Id="rId4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neo4j.com/use-cases/knowledge-graph/" TargetMode="External"/><Relationship Id="rId4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evelopers.google.com/knowledge-graph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s://www.google.com/search?q=Neo4j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researchgate.net/publication/308197795_Algorithms_and_Software_for_the_Analysis_of_Large_Complex_Networks" TargetMode="External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hyperlink" Target="https://moliere.lov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moliere.love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neo4j.com/graphgists/" TargetMode="External"/><Relationship Id="rId4" Type="http://schemas.openxmlformats.org/officeDocument/2006/relationships/hyperlink" Target="https://neo4j.com/use-cases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neo4j.com/graphgists/the-panamapapers-example-dataset-president-of-azerbaijan/" TargetMode="External"/><Relationship Id="rId4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linkurious.com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www.youtube.com/watch?v=r5ghMhQOFh0" TargetMode="External"/><Relationship Id="rId4" Type="http://schemas.openxmlformats.org/officeDocument/2006/relationships/image" Target="../media/image1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neo4j.com/use-cases/knowledge-graph/" TargetMode="External"/><Relationship Id="rId4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neo4j.com/" TargetMode="External"/><Relationship Id="rId4" Type="http://schemas.openxmlformats.org/officeDocument/2006/relationships/hyperlink" Target="https://graphacademy.neo4j.com" TargetMode="External"/><Relationship Id="rId5" Type="http://schemas.openxmlformats.org/officeDocument/2006/relationships/hyperlink" Target="https://neo4j.com/product/auradb/" TargetMode="External"/><Relationship Id="rId6" Type="http://schemas.openxmlformats.org/officeDocument/2006/relationships/hyperlink" Target="https://neo4j.com/docs/cypher-manual/current/introduction/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neo4j.com/download/" TargetMode="External"/><Relationship Id="rId4" Type="http://schemas.openxmlformats.org/officeDocument/2006/relationships/hyperlink" Target="https://browser.neo4j.io/" TargetMode="External"/><Relationship Id="rId5" Type="http://schemas.openxmlformats.org/officeDocument/2006/relationships/hyperlink" Target="https://neo4j.com/labs/apoc/" TargetMode="External"/><Relationship Id="rId6" Type="http://schemas.openxmlformats.org/officeDocument/2006/relationships/hyperlink" Target="https://neo4j.com/docs/graph-data-science/current/" TargetMode="External"/><Relationship Id="rId7" Type="http://schemas.openxmlformats.org/officeDocument/2006/relationships/hyperlink" Target="https://arrows.app/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neo4j.com/docs/desktop-manual/current/installation/download-installation/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neo4j.com/graphgists/network-dependency-graph/" TargetMode="External"/><Relationship Id="rId4" Type="http://schemas.openxmlformats.org/officeDocument/2006/relationships/image" Target="../media/image23.png"/><Relationship Id="rId5" Type="http://schemas.openxmlformats.org/officeDocument/2006/relationships/hyperlink" Target="https://colab.research.google.com/drive/1gwoQRRI2BqcroW8_aPNEIKRuCnyFZ8H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11708" y="1430375"/>
            <a:ext cx="85206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Neo4j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11700" y="2834125"/>
            <a:ext cx="8520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07: Intro Neo4j - IPSA - Hiver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10/03/2025 - 2h</a:t>
            </a:r>
            <a:endParaRPr/>
          </a:p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835700" y="1266325"/>
            <a:ext cx="46188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Projets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Embeddings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Vector 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Weaviate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RAG</a:t>
            </a:r>
            <a:endParaRPr/>
          </a:p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Last time on NoSQL</a:t>
            </a:r>
            <a:endParaRPr/>
          </a:p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885325"/>
            <a:ext cx="8520600" cy="26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Graph databases, Graphs networks, Graph knowledge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Usages et avantages des graphs databases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Cypher le langage de query de Neo4j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Graph networks et graph data science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mesures de centralit</a:t>
            </a:r>
            <a:r>
              <a:rPr lang="fr"/>
              <a:t>és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algorithmes de shortest path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détection de communauté, d'anomalies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Knowledge graphs - LLMs</a:t>
            </a:r>
            <a:endParaRPr/>
          </a:p>
        </p:txBody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Cette semaine </a:t>
            </a:r>
            <a:endParaRPr/>
          </a:p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Cette semaine : Neo4j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1683300" y="732925"/>
            <a:ext cx="4590900" cy="3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Aujourd'hui Lundi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Intro graph database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Pratique sur Aura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Et Jeudi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Intro graph database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Pratique sur Aura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Et Vendredi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Graph data science</a:t>
            </a:r>
            <a:endParaRPr/>
          </a:p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graph networks</a:t>
            </a:r>
            <a:endParaRPr/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8" title="1_BsmA5DeGnkcsS_WkneSNm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7713" y="795338"/>
            <a:ext cx="4600575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809125"/>
            <a:ext cx="8520600" cy="17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Un graphe est une structure composée de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fr"/>
              <a:t>nœuds</a:t>
            </a:r>
            <a:r>
              <a:rPr lang="fr"/>
              <a:t> ou sommets.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les noeuds sont reliés par des </a:t>
            </a:r>
            <a:r>
              <a:rPr b="1" lang="fr"/>
              <a:t>arêtes</a:t>
            </a:r>
            <a:r>
              <a:rPr lang="fr"/>
              <a:t> ou liens.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Edges, vertices</a:t>
            </a:r>
            <a:endParaRPr/>
          </a:p>
        </p:txBody>
      </p:sp>
      <p:sp>
        <p:nvSpPr>
          <p:cNvPr id="103" name="Google Shape;103;p18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Graphes </a:t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304800" y="2743200"/>
            <a:ext cx="5932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fr" sz="1600">
                <a:solidFill>
                  <a:schemeClr val="dk2"/>
                </a:solidFill>
              </a:rPr>
              <a:t>Degree</a:t>
            </a:r>
            <a:r>
              <a:rPr lang="fr" sz="1600">
                <a:solidFill>
                  <a:schemeClr val="dk2"/>
                </a:solidFill>
              </a:rPr>
              <a:t>: Number of edges connected to a node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fr" sz="1600">
                <a:solidFill>
                  <a:schemeClr val="dk2"/>
                </a:solidFill>
              </a:rPr>
              <a:t>Path</a:t>
            </a:r>
            <a:r>
              <a:rPr lang="fr" sz="1600">
                <a:solidFill>
                  <a:schemeClr val="dk2"/>
                </a:solidFill>
              </a:rPr>
              <a:t>: Sequence of edges connecting two nodes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fr" sz="1600">
                <a:solidFill>
                  <a:schemeClr val="dk2"/>
                </a:solidFill>
              </a:rPr>
              <a:t>Cycle</a:t>
            </a:r>
            <a:r>
              <a:rPr lang="fr" sz="1600">
                <a:solidFill>
                  <a:schemeClr val="dk2"/>
                </a:solidFill>
              </a:rPr>
              <a:t>: Path that starts and ends at the same node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2775" y="899000"/>
            <a:ext cx="4718874" cy="265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acyclic, cyclic, directed graphs</a:t>
            </a:r>
            <a:endParaRPr/>
          </a:p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5867400" y="3962400"/>
            <a:ext cx="32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4"/>
              </a:rPr>
              <a:t>https://youtu.be/anRVomtGXFc?t=204</a:t>
            </a:r>
            <a:r>
              <a:rPr lang="fr"/>
              <a:t> </a:t>
            </a:r>
            <a:endParaRPr/>
          </a:p>
        </p:txBody>
      </p:sp>
      <p:sp>
        <p:nvSpPr>
          <p:cNvPr id="114" name="Google Shape;114;p19"/>
          <p:cNvSpPr txBox="1"/>
          <p:nvPr/>
        </p:nvSpPr>
        <p:spPr>
          <a:xfrm>
            <a:off x="304800" y="914400"/>
            <a:ext cx="3932400" cy="3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>
              <a:rPr b="1" lang="fr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Orienté / </a:t>
            </a:r>
            <a:r>
              <a:rPr b="1" lang="fr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Directed</a:t>
            </a:r>
            <a:r>
              <a:rPr lang="fr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graph : direction explicite entre les noeuds : </a:t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</a:pPr>
            <a:r>
              <a:rPr lang="f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parent -&gt; enfant,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>
              <a:rPr b="1" lang="fr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acyclique</a:t>
            </a:r>
            <a:r>
              <a:rPr lang="fr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: impossible de revenir en arrière (DAG)</a:t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</a:pPr>
            <a:r>
              <a:rPr lang="f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 -&gt; B -&gt; C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>
              <a:rPr b="1" lang="fr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cyclique</a:t>
            </a:r>
            <a:r>
              <a:rPr lang="fr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: il existe au moins un cycle qui permette de revenir en arrière: </a:t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</a:pPr>
            <a:r>
              <a:rPr lang="f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 -&gt; B -&gt; C -&gt; 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Cas d'usage</a:t>
            </a:r>
            <a:endParaRPr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11700" y="1266325"/>
            <a:ext cx="8520600" cy="19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Analyse de réseaux sociaux : Étudier les relations entre individus.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Réseaux de transport : Optimiser les itinéraires et les flux de trafic.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Biologie : Modéliser les interactions entre protéines.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Informatique : Représenter les dépendances entre composants logiciels.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Sociologie numérique: Comportements, modélisation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Scientométrie</a:t>
            </a:r>
            <a:r>
              <a:rPr lang="fr"/>
              <a:t> : evolution de la science, références croisées</a:t>
            </a:r>
            <a:endParaRPr/>
          </a:p>
        </p:txBody>
      </p:sp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Outils d'analyse : Gephi</a:t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809125"/>
            <a:ext cx="85206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Gephi : Logiciel interactif pour visualiser et explorer des graphes.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Mathieu Jacomy - </a:t>
            </a:r>
            <a:r>
              <a:rPr lang="fr" u="sng">
                <a:solidFill>
                  <a:schemeClr val="hlink"/>
                </a:solidFill>
                <a:hlinkClick r:id="rId3"/>
              </a:rPr>
              <a:t>https://gephi.org/</a:t>
            </a:r>
            <a:r>
              <a:rPr lang="fr"/>
              <a:t> - https://gephi.wordpress.com/</a:t>
            </a:r>
            <a:endParaRPr/>
          </a:p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08025"/>
            <a:ext cx="3718041" cy="247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2841" y="1575625"/>
            <a:ext cx="4887214" cy="2935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Outils d'analyse : networkx</a:t>
            </a:r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961525"/>
            <a:ext cx="85206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 u="sng">
                <a:solidFill>
                  <a:schemeClr val="hlink"/>
                </a:solidFill>
                <a:hlinkClick r:id="rId3"/>
              </a:rPr>
              <a:t>NetworkX</a:t>
            </a:r>
            <a:r>
              <a:rPr lang="fr"/>
              <a:t> : Bibliothèque Python pour la création, la manipulation et l'étude de graphes.</a:t>
            </a:r>
            <a:endParaRPr/>
          </a:p>
        </p:txBody>
      </p:sp>
      <p:sp>
        <p:nvSpPr>
          <p:cNvPr id="137" name="Google Shape;137;p2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400" y="2122125"/>
            <a:ext cx="4282475" cy="125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685800" y="3657600"/>
            <a:ext cx="61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5"/>
              </a:rPr>
              <a:t>https://www.toptal.com/data-science/graph-data-science-python-networkx</a:t>
            </a:r>
            <a:r>
              <a:rPr lang="fr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1700" y="809125"/>
            <a:ext cx="8520600" cy="12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●"/>
            </a:pPr>
            <a:r>
              <a:rPr b="1" lang="fr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r>
              <a:rPr lang="fr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N×N matrix where element (i,j) indicates connection</a:t>
            </a:r>
            <a:endParaRPr sz="16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●"/>
            </a:pPr>
            <a:r>
              <a:rPr b="1" lang="fr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Adjacency List</a:t>
            </a:r>
            <a:r>
              <a:rPr lang="fr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Each node stores a list of its connected neighbors</a:t>
            </a:r>
            <a:endParaRPr sz="16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●"/>
            </a:pPr>
            <a:r>
              <a:rPr b="1" lang="fr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Edge List</a:t>
            </a:r>
            <a:r>
              <a:rPr lang="fr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Simple list of all node pairs that form edges</a:t>
            </a:r>
            <a:endParaRPr sz="16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●"/>
            </a:pPr>
            <a:r>
              <a:rPr b="1" lang="fr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Incidence Matrix</a:t>
            </a:r>
            <a:r>
              <a:rPr lang="fr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Rows represent nodes, columns represent edges</a:t>
            </a:r>
            <a:endParaRPr sz="16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3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Repr</a:t>
            </a:r>
            <a:r>
              <a:rPr lang="fr"/>
              <a:t>é</a:t>
            </a:r>
            <a:r>
              <a:rPr lang="fr"/>
              <a:t>sentations des donn</a:t>
            </a:r>
            <a:r>
              <a:rPr lang="fr"/>
              <a:t>ées</a:t>
            </a:r>
            <a:endParaRPr/>
          </a:p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2394625"/>
            <a:ext cx="4412151" cy="19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 txBox="1"/>
          <p:nvPr/>
        </p:nvSpPr>
        <p:spPr>
          <a:xfrm>
            <a:off x="685800" y="3048000"/>
            <a:ext cx="1542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1600">
                <a:solidFill>
                  <a:srgbClr val="666666"/>
                </a:solidFill>
              </a:rPr>
              <a:t>Adjacency </a:t>
            </a:r>
            <a:br>
              <a:rPr b="1" lang="fr" sz="1600">
                <a:solidFill>
                  <a:srgbClr val="666666"/>
                </a:solidFill>
              </a:rPr>
            </a:br>
            <a:r>
              <a:rPr b="1" lang="fr" sz="1600">
                <a:solidFill>
                  <a:srgbClr val="666666"/>
                </a:solidFill>
              </a:rPr>
              <a:t>Matrix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Algorithmes d'analyse</a:t>
            </a:r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311700" y="1037725"/>
            <a:ext cx="85206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●"/>
            </a:pPr>
            <a:r>
              <a:rPr b="1" lang="fr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Traversal</a:t>
            </a:r>
            <a:r>
              <a:rPr lang="fr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BFS (Breadth-First Search), DFS (Depth-First Search), </a:t>
            </a:r>
            <a:endParaRPr b="1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●"/>
            </a:pPr>
            <a:r>
              <a:rPr b="1" lang="fr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Shortest Path / Plus Court Chemin</a:t>
            </a:r>
            <a:r>
              <a:rPr lang="fr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: Dijkstra, Bellman-Ford, A*</a:t>
            </a:r>
            <a:endParaRPr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●"/>
            </a:pPr>
            <a:r>
              <a:rPr b="1" lang="fr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Minimum Spanning Tree </a:t>
            </a:r>
            <a:r>
              <a:rPr lang="fr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Kruskal, Prim, </a:t>
            </a:r>
            <a:r>
              <a:rPr lang="fr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lien</a:t>
            </a:r>
            <a:r>
              <a:rPr lang="fr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fr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wikipedia</a:t>
            </a:r>
            <a:endParaRPr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●"/>
            </a:pPr>
            <a:r>
              <a:rPr b="1" lang="fr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Mesures de Centralité</a:t>
            </a:r>
            <a:r>
              <a:rPr lang="fr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: Degré, Intermédiarité, Proximité, Vecteur Propre</a:t>
            </a:r>
            <a:endParaRPr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●"/>
            </a:pPr>
            <a:r>
              <a:rPr b="1" lang="fr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Détection de Communautés</a:t>
            </a:r>
            <a:r>
              <a:rPr lang="fr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: Recherche de clusters ou groupes de nœuds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0700" y="2697625"/>
            <a:ext cx="3818788" cy="215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Neo4j</a:t>
            </a:r>
            <a:endParaRPr/>
          </a:p>
        </p:txBody>
      </p:sp>
      <p:sp>
        <p:nvSpPr>
          <p:cNvPr id="162" name="Google Shape;162;p2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descr="Neo4j is a native graph database designed to handle highly complex relational data. Learn the basics of graph data modeling and the Cypher Query Language https://bit.ly/3Jcl6bO&#10;&#10;#programming #database #100secondsofcode &#10;&#10;💬 Chat with Me on Discord&#10;&#10;https://discord.gg/fireship&#10;&#10;🔗 Resources&#10;&#10;Neo4j Aura https://bit.ly/3Jcl6bO&#10;Neo4j GitHub https://github.com/neo4j/neo4j&#10;SQL in 100 Seconds https://youtu.be/zsjvFFKOm3c&#10;7 Database Paradigms https://youtu.be/W2Z7fbCLSTw&#10;&#10;Sponsored by Neo4j Aura &#10;&#10;🔥 Get More Content - Upgrade to PRO&#10;&#10;Upgrade at https://fireship.io/pro&#10;Use code YT25 for 25% off PRO access &#10;&#10;🎨 My Editor Settings&#10;&#10;- Atom One Dark &#10;- vscode-icons&#10;- Fira Code Font&#10;&#10;🔖 Topics Covered&#10;&#10;- Neo4j vs SQL&#10;- What is Neo4j?&#10;- Graph Databases vs RDBMS&#10;- Cypher Query Language basics&#10;- Neo4j quickstart tutorial" id="168" name="Google Shape;168;p26" title="Neo4j in 100 Second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7879" y="664925"/>
            <a:ext cx="6409546" cy="36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 txBox="1"/>
          <p:nvPr/>
        </p:nvSpPr>
        <p:spPr>
          <a:xfrm>
            <a:off x="1647875" y="166150"/>
            <a:ext cx="43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Take a deep breath!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311700" y="961525"/>
            <a:ext cx="8520600" cy="28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Neo4j est avant tout une </a:t>
            </a:r>
            <a:r>
              <a:rPr b="1" lang="fr"/>
              <a:t>Graph</a:t>
            </a:r>
            <a:r>
              <a:rPr lang="fr"/>
              <a:t> </a:t>
            </a:r>
            <a:r>
              <a:rPr b="1" lang="fr"/>
              <a:t>Database</a:t>
            </a:r>
            <a:r>
              <a:rPr lang="fr"/>
              <a:t>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fr"/>
              <a:t>PostgreSQL</a:t>
            </a:r>
            <a:r>
              <a:rPr lang="fr"/>
              <a:t>: performance, optimisation et normalisation des données.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fr"/>
              <a:t>MongoDB</a:t>
            </a:r>
            <a:r>
              <a:rPr lang="fr"/>
              <a:t>: flexibilité du schéma, pipelines d'agrégation et la performance pour des gros volumes.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</a:t>
            </a:r>
            <a:r>
              <a:rPr lang="fr"/>
              <a:t>es </a:t>
            </a:r>
            <a:r>
              <a:rPr b="1" lang="fr"/>
              <a:t>Graph databases</a:t>
            </a:r>
            <a:r>
              <a:rPr lang="fr"/>
              <a:t> comme Neo4j apportent une dimension d'analyse des données modélisées sous forme de graphes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graph datascience &amp; knowledge graphs</a:t>
            </a:r>
            <a:endParaRPr/>
          </a:p>
        </p:txBody>
      </p:sp>
      <p:sp>
        <p:nvSpPr>
          <p:cNvPr id="175" name="Google Shape;175;p27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SQL vs MongoDB vs Neo4j</a:t>
            </a:r>
            <a:endParaRPr/>
          </a:p>
        </p:txBody>
      </p:sp>
      <p:sp>
        <p:nvSpPr>
          <p:cNvPr id="176" name="Google Shape;176;p2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311700" y="732925"/>
            <a:ext cx="8520600" cy="32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</a:t>
            </a:r>
            <a:r>
              <a:rPr lang="fr"/>
              <a:t>nalyser des données complexes modélisées sous formes de graphes.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fr"/>
              <a:t>algorithmes</a:t>
            </a:r>
            <a:r>
              <a:rPr lang="fr"/>
              <a:t> d'identification de patterns, de communautés ou d'anomalies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fr"/>
              <a:t>Étude</a:t>
            </a:r>
            <a:r>
              <a:rPr lang="fr"/>
              <a:t> des relations entre les entités (nœuds) et leurs connexions (arêtes) pour extraire des informations.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analyse de réseaux,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détection de communautés,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prédiction de liens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fr"/>
              <a:t>Applications </a:t>
            </a:r>
            <a:r>
              <a:rPr lang="fr"/>
              <a:t>: réseaux sociaux, bioinformatique, recommandation de produits….</a:t>
            </a:r>
            <a:endParaRPr/>
          </a:p>
        </p:txBody>
      </p:sp>
      <p:sp>
        <p:nvSpPr>
          <p:cNvPr id="182" name="Google Shape;182;p28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Graph data science</a:t>
            </a:r>
            <a:endParaRPr/>
          </a:p>
        </p:txBody>
      </p:sp>
      <p:sp>
        <p:nvSpPr>
          <p:cNvPr id="183" name="Google Shape;183;p2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/>
        </p:nvSpPr>
        <p:spPr>
          <a:xfrm>
            <a:off x="300475" y="1045925"/>
            <a:ext cx="5266200" cy="2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>
              <a:rPr lang="fr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Centrality Algorithms: Find important/influential nodes in network</a:t>
            </a:r>
            <a:endParaRPr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>
              <a:rPr lang="fr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Community Detection: Identify groups of densely connected nodes</a:t>
            </a:r>
            <a:endParaRPr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>
              <a:rPr lang="fr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Path Finding: Discover optimal routes between nodes</a:t>
            </a:r>
            <a:endParaRPr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>
              <a:rPr lang="fr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Similarity Algorithms: Calculate how similar nodes/communities are</a:t>
            </a:r>
            <a:endParaRPr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>
              <a:rPr lang="fr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Machine Learning: Node embeddings and predictions</a:t>
            </a:r>
            <a:endParaRPr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>
              <a:rPr lang="fr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Node Embedding: Convert graph structure to vector space</a:t>
            </a:r>
            <a:endParaRPr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>
              <a:rPr lang="fr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Link </a:t>
            </a:r>
            <a:r>
              <a:rPr lang="fr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Prediction</a:t>
            </a:r>
            <a:r>
              <a:rPr lang="fr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: Predict future/missing relationships</a:t>
            </a:r>
            <a:endParaRPr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29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Graph data science</a:t>
            </a:r>
            <a:endParaRPr/>
          </a:p>
        </p:txBody>
      </p:sp>
      <p:sp>
        <p:nvSpPr>
          <p:cNvPr id="190" name="Google Shape;190;p2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1" name="Google Shape;191;p29"/>
          <p:cNvSpPr txBox="1"/>
          <p:nvPr/>
        </p:nvSpPr>
        <p:spPr>
          <a:xfrm>
            <a:off x="533400" y="3581400"/>
            <a:ext cx="546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3"/>
              </a:rPr>
              <a:t>https://neo4j.com/use-cases/knowledge-graph/</a:t>
            </a:r>
            <a:r>
              <a:rPr lang="fr"/>
              <a:t> </a:t>
            </a:r>
            <a:endParaRPr/>
          </a:p>
        </p:txBody>
      </p:sp>
      <p:pic>
        <p:nvPicPr>
          <p:cNvPr id="192" name="Google Shape;19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8700" y="817325"/>
            <a:ext cx="3372899" cy="3095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/>
        </p:nvSpPr>
        <p:spPr>
          <a:xfrm>
            <a:off x="129575" y="922575"/>
            <a:ext cx="3804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</a:t>
            </a:r>
            <a:r>
              <a:rPr lang="fr"/>
              <a:t>eprésentation structurée de faits et de relations entre des entités.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/>
              <a:t>Nœuds (Entités) : Personnes, lieux, objets, concepts.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/>
              <a:t>Arêtes (Relations) : Comment les entités sont connectées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Paris est la capitale de la France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Pourquoi utiliser des graphes de connaissances ?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/>
              <a:t>recherche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/>
              <a:t>raisonnement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/>
              <a:t>inférence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0"/>
          <p:cNvSpPr txBox="1"/>
          <p:nvPr/>
        </p:nvSpPr>
        <p:spPr>
          <a:xfrm>
            <a:off x="0" y="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99" name="Google Shape;1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7425" y="853500"/>
            <a:ext cx="5190374" cy="291990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0"/>
          <p:cNvSpPr txBox="1"/>
          <p:nvPr/>
        </p:nvSpPr>
        <p:spPr>
          <a:xfrm>
            <a:off x="4252425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/>
              <a:t>https://zilliz.com/learn/what-is-knowledge-graph</a:t>
            </a:r>
            <a:endParaRPr sz="1000"/>
          </a:p>
        </p:txBody>
      </p:sp>
      <p:sp>
        <p:nvSpPr>
          <p:cNvPr id="201" name="Google Shape;201;p30"/>
          <p:cNvSpPr txBox="1"/>
          <p:nvPr>
            <p:ph type="title"/>
          </p:nvPr>
        </p:nvSpPr>
        <p:spPr>
          <a:xfrm>
            <a:off x="6900" y="-12175"/>
            <a:ext cx="8520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Knowledge Graphs</a:t>
            </a:r>
            <a:endParaRPr/>
          </a:p>
        </p:txBody>
      </p:sp>
      <p:sp>
        <p:nvSpPr>
          <p:cNvPr id="202" name="Google Shape;202;p3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/>
        </p:nvSpPr>
        <p:spPr>
          <a:xfrm>
            <a:off x="53375" y="922575"/>
            <a:ext cx="5356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Il y a une API!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u="sng">
                <a:solidFill>
                  <a:schemeClr val="hlink"/>
                </a:solidFill>
                <a:hlinkClick r:id="rId3"/>
              </a:rPr>
              <a:t>https://developers.google.com/knowledge-graph</a:t>
            </a:r>
            <a:r>
              <a:rPr lang="fr" sz="1100"/>
              <a:t> </a:t>
            </a:r>
            <a:endParaRPr sz="1100"/>
          </a:p>
        </p:txBody>
      </p:sp>
      <p:sp>
        <p:nvSpPr>
          <p:cNvPr id="208" name="Google Shape;208;p31"/>
          <p:cNvSpPr txBox="1"/>
          <p:nvPr/>
        </p:nvSpPr>
        <p:spPr>
          <a:xfrm>
            <a:off x="0" y="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09" name="Google Shape;209;p31"/>
          <p:cNvSpPr txBox="1"/>
          <p:nvPr>
            <p:ph type="title"/>
          </p:nvPr>
        </p:nvSpPr>
        <p:spPr>
          <a:xfrm>
            <a:off x="6900" y="-12175"/>
            <a:ext cx="8520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Google Knowledge Graphs</a:t>
            </a:r>
            <a:endParaRPr/>
          </a:p>
        </p:txBody>
      </p:sp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1400" y="597675"/>
            <a:ext cx="5566802" cy="411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1"/>
          <p:cNvSpPr txBox="1"/>
          <p:nvPr/>
        </p:nvSpPr>
        <p:spPr>
          <a:xfrm>
            <a:off x="3505200" y="4648200"/>
            <a:ext cx="436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u="sng">
                <a:solidFill>
                  <a:schemeClr val="hlink"/>
                </a:solidFill>
                <a:hlinkClick r:id="rId5"/>
              </a:rPr>
              <a:t>https://www.google.com/search?q=Neo4j</a:t>
            </a:r>
            <a:r>
              <a:rPr lang="fr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/>
        </p:nvSpPr>
        <p:spPr>
          <a:xfrm>
            <a:off x="2052700" y="4427150"/>
            <a:ext cx="5696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from </a:t>
            </a:r>
            <a:r>
              <a:rPr lang="fr" sz="11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Algorithms and Software for the Analysis of Large Complex Networks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32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Graph</a:t>
            </a:r>
            <a:endParaRPr/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311700" y="1266325"/>
            <a:ext cx="2956500" cy="14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Nodes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&amp;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Edges</a:t>
            </a:r>
            <a:endParaRPr/>
          </a:p>
        </p:txBody>
      </p:sp>
      <p:sp>
        <p:nvSpPr>
          <p:cNvPr id="220" name="Google Shape;220;p3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21" name="Google Shape;221;p32" title="A-node-edge-diagram-of-the-dolphin-social-network-Node-labels-are-the-names-researcher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6400" y="188149"/>
            <a:ext cx="6215200" cy="312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2"/>
          <p:cNvSpPr txBox="1"/>
          <p:nvPr/>
        </p:nvSpPr>
        <p:spPr>
          <a:xfrm>
            <a:off x="2061925" y="3524425"/>
            <a:ext cx="646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99999"/>
                </a:solidFill>
              </a:rPr>
              <a:t>A node-edge diagram of the </a:t>
            </a:r>
            <a:r>
              <a:rPr b="1" lang="fr">
                <a:solidFill>
                  <a:srgbClr val="999999"/>
                </a:solidFill>
              </a:rPr>
              <a:t>dolphin social network. </a:t>
            </a:r>
            <a:br>
              <a:rPr lang="fr">
                <a:solidFill>
                  <a:srgbClr val="999999"/>
                </a:solidFill>
              </a:rPr>
            </a:br>
            <a:r>
              <a:rPr lang="fr">
                <a:solidFill>
                  <a:srgbClr val="999999"/>
                </a:solidFill>
              </a:rPr>
              <a:t>Node labels are the names researchers assigned to the individual dolphins. </a:t>
            </a:r>
            <a:br>
              <a:rPr lang="fr">
                <a:solidFill>
                  <a:srgbClr val="999999"/>
                </a:solidFill>
              </a:rPr>
            </a:br>
            <a:r>
              <a:rPr lang="fr">
                <a:solidFill>
                  <a:srgbClr val="999999"/>
                </a:solidFill>
              </a:rPr>
              <a:t>Node color indicates male (pink), female (blue) or unknown (gray).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3" title="le-malade-imaginai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0406" y="844425"/>
            <a:ext cx="3461769" cy="323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Graphs dans Neo4J: weights, properties, labels</a:t>
            </a:r>
            <a:endParaRPr/>
          </a:p>
        </p:txBody>
      </p:sp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83100" y="961525"/>
            <a:ext cx="8447700" cy="14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Les noeuds et les relations (Aretes) peuvent avoir 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des poids en fonction de leur importance relative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des </a:t>
            </a:r>
            <a:r>
              <a:rPr lang="fr" sz="1600"/>
              <a:t>propriétés</a:t>
            </a:r>
            <a:r>
              <a:rPr lang="fr" sz="1600"/>
              <a:t>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des </a:t>
            </a:r>
            <a:r>
              <a:rPr lang="fr" sz="1600"/>
              <a:t>étiquettes / label </a:t>
            </a:r>
            <a:endParaRPr sz="1600"/>
          </a:p>
        </p:txBody>
      </p:sp>
      <p:sp>
        <p:nvSpPr>
          <p:cNvPr id="230" name="Google Shape;230;p3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31" name="Google Shape;231;p33"/>
          <p:cNvSpPr txBox="1"/>
          <p:nvPr/>
        </p:nvSpPr>
        <p:spPr>
          <a:xfrm>
            <a:off x="152400" y="2743200"/>
            <a:ext cx="58950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666666"/>
                </a:solidFill>
              </a:rPr>
              <a:t>Les relations sont des </a:t>
            </a:r>
            <a:r>
              <a:rPr b="1" lang="fr" sz="1600">
                <a:solidFill>
                  <a:srgbClr val="666666"/>
                </a:solidFill>
              </a:rPr>
              <a:t>verbes</a:t>
            </a:r>
            <a:r>
              <a:rPr lang="fr" sz="1600">
                <a:solidFill>
                  <a:srgbClr val="666666"/>
                </a:solidFill>
              </a:rPr>
              <a:t> ou des </a:t>
            </a:r>
            <a:r>
              <a:rPr b="1" lang="fr" sz="1600">
                <a:solidFill>
                  <a:srgbClr val="666666"/>
                </a:solidFill>
              </a:rPr>
              <a:t>locutions verbales</a:t>
            </a:r>
            <a:r>
              <a:rPr lang="fr" sz="1600">
                <a:solidFill>
                  <a:srgbClr val="666666"/>
                </a:solidFill>
              </a:rPr>
              <a:t> </a:t>
            </a:r>
            <a:br>
              <a:rPr lang="fr" sz="1600">
                <a:solidFill>
                  <a:srgbClr val="666666"/>
                </a:solidFill>
              </a:rPr>
            </a:br>
            <a:r>
              <a:rPr lang="fr" sz="1600">
                <a:solidFill>
                  <a:srgbClr val="666666"/>
                </a:solidFill>
              </a:rPr>
              <a:t>qui décrivent l'action, la connexion entre les nœuds. 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rgbClr val="666666"/>
                </a:solidFill>
              </a:rPr>
              <a:t>Elles définissent la signification sémantique de la façon dont les nœuds interagissent. Comme les verbes dans les phrases, ils doivent être clairs et spécifiques sur la nature de la relation.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5820050" y="4239175"/>
            <a:ext cx="313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Moliere.love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275" y="-53750"/>
            <a:ext cx="7261174" cy="541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Exemple m</a:t>
            </a:r>
            <a:r>
              <a:rPr lang="fr"/>
              <a:t>é</a:t>
            </a:r>
            <a:r>
              <a:rPr lang="fr"/>
              <a:t>tro parisien</a:t>
            </a:r>
            <a:endParaRPr/>
          </a:p>
        </p:txBody>
      </p:sp>
      <p:sp>
        <p:nvSpPr>
          <p:cNvPr id="243" name="Google Shape;243;p35"/>
          <p:cNvSpPr txBox="1"/>
          <p:nvPr>
            <p:ph idx="1" type="body"/>
          </p:nvPr>
        </p:nvSpPr>
        <p:spPr>
          <a:xfrm>
            <a:off x="311700" y="885325"/>
            <a:ext cx="3562800" cy="20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latin typeface="Calibri"/>
                <a:ea typeface="Calibri"/>
                <a:cs typeface="Calibri"/>
                <a:sym typeface="Calibri"/>
              </a:rPr>
              <a:t>Noeuds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fr" sz="1400">
                <a:latin typeface="Calibri"/>
                <a:ea typeface="Calibri"/>
                <a:cs typeface="Calibri"/>
                <a:sym typeface="Calibri"/>
              </a:rPr>
              <a:t>étiquettes / labels: Metro / RER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fr" sz="1400">
                <a:latin typeface="Calibri"/>
                <a:ea typeface="Calibri"/>
                <a:cs typeface="Calibri"/>
                <a:sym typeface="Calibri"/>
              </a:rPr>
              <a:t>propriétés: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</a:pPr>
            <a:r>
              <a:rPr lang="fr">
                <a:latin typeface="Calibri"/>
                <a:ea typeface="Calibri"/>
                <a:cs typeface="Calibri"/>
                <a:sym typeface="Calibri"/>
              </a:rPr>
              <a:t>nom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</a:pPr>
            <a:r>
              <a:rPr lang="fr">
                <a:latin typeface="Calibri"/>
                <a:ea typeface="Calibri"/>
                <a:cs typeface="Calibri"/>
                <a:sym typeface="Calibri"/>
              </a:rPr>
              <a:t>accessibilité,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</a:pPr>
            <a:r>
              <a:rPr lang="fr">
                <a:latin typeface="Calibri"/>
                <a:ea typeface="Calibri"/>
                <a:cs typeface="Calibri"/>
                <a:sym typeface="Calibri"/>
              </a:rPr>
              <a:t>aérien ou sous terre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</a:pPr>
            <a:r>
              <a:rPr lang="fr">
                <a:latin typeface="Calibri"/>
                <a:ea typeface="Calibri"/>
                <a:cs typeface="Calibri"/>
                <a:sym typeface="Calibri"/>
              </a:rPr>
              <a:t>propriétés </a:t>
            </a:r>
            <a:r>
              <a:rPr lang="fr">
                <a:latin typeface="Calibri"/>
                <a:ea typeface="Calibri"/>
                <a:cs typeface="Calibri"/>
                <a:sym typeface="Calibri"/>
              </a:rPr>
              <a:t>événementielles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45" name="Google Shape;245;p35"/>
          <p:cNvSpPr txBox="1"/>
          <p:nvPr/>
        </p:nvSpPr>
        <p:spPr>
          <a:xfrm>
            <a:off x="4876800" y="838200"/>
            <a:ext cx="4028100" cy="18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Relations</a:t>
            </a:r>
            <a:endParaRPr b="1"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●"/>
            </a:pPr>
            <a:r>
              <a:rPr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BELONGS_TO_LINE</a:t>
            </a:r>
            <a:endParaRPr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○"/>
            </a:pPr>
            <a:r>
              <a:rPr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properties: line number, maintenance time, distance</a:t>
            </a:r>
            <a:endParaRPr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●"/>
            </a:pPr>
            <a:r>
              <a:rPr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PASSENGER_</a:t>
            </a:r>
            <a:r>
              <a:rPr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CONNECTS_TO</a:t>
            </a:r>
            <a:endParaRPr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○"/>
            </a:pPr>
            <a:r>
              <a:rPr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can be unidirectional or both ways</a:t>
            </a:r>
            <a:endParaRPr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○"/>
            </a:pPr>
            <a:r>
              <a:rPr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properties: distance, stairs, ...</a:t>
            </a:r>
            <a:endParaRPr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●"/>
            </a:pPr>
            <a:r>
              <a:rPr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CONNECTS_TO_LINE</a:t>
            </a:r>
            <a:endParaRPr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○"/>
            </a:pPr>
            <a:r>
              <a:rPr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properties: line number, ...</a:t>
            </a:r>
            <a:endParaRPr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5"/>
          <p:cNvSpPr txBox="1"/>
          <p:nvPr/>
        </p:nvSpPr>
        <p:spPr>
          <a:xfrm>
            <a:off x="956875" y="3266200"/>
            <a:ext cx="5913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Relationship </a:t>
            </a:r>
            <a:r>
              <a:rPr b="1"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types</a:t>
            </a:r>
            <a:r>
              <a:rPr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(BELONGS_TO_LINE, PASSENGER_CONNECTS_TO, CONNECTS_TO_LINE) are </a:t>
            </a:r>
            <a:r>
              <a:rPr b="1"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verbs</a:t>
            </a:r>
            <a:r>
              <a:rPr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verb phrases</a:t>
            </a:r>
            <a:r>
              <a:rPr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that describe the action, the connection between nodes. </a:t>
            </a:r>
            <a:endParaRPr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They define the semantic meaning of how nodes interact. </a:t>
            </a:r>
            <a:endParaRPr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Like verbs in sentences, they should be clear and specific about the nature of the relationship.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Th</a:t>
            </a:r>
            <a:r>
              <a:rPr lang="fr"/>
              <a:t>éatre</a:t>
            </a:r>
            <a:r>
              <a:rPr lang="fr"/>
              <a:t> </a:t>
            </a:r>
            <a:endParaRPr/>
          </a:p>
        </p:txBody>
      </p:sp>
      <p:sp>
        <p:nvSpPr>
          <p:cNvPr id="252" name="Google Shape;252;p3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53" name="Google Shape;253;p36"/>
          <p:cNvSpPr txBox="1"/>
          <p:nvPr/>
        </p:nvSpPr>
        <p:spPr>
          <a:xfrm>
            <a:off x="2161450" y="4010575"/>
            <a:ext cx="43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from </a:t>
            </a:r>
            <a:r>
              <a:rPr lang="fr" sz="18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Moliere.love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4" name="Google Shape;25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17325"/>
            <a:ext cx="3124199" cy="265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8199" y="741125"/>
            <a:ext cx="4058681" cy="304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Neo4J : </a:t>
            </a:r>
            <a:r>
              <a:rPr lang="fr"/>
              <a:t>Property Graph Model or KG</a:t>
            </a:r>
            <a:endParaRPr/>
          </a:p>
        </p:txBody>
      </p:sp>
      <p:sp>
        <p:nvSpPr>
          <p:cNvPr id="261" name="Google Shape;261;p3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62" name="Google Shape;262;p37"/>
          <p:cNvSpPr txBox="1"/>
          <p:nvPr>
            <p:ph idx="1" type="body"/>
          </p:nvPr>
        </p:nvSpPr>
        <p:spPr>
          <a:xfrm>
            <a:off x="311700" y="809125"/>
            <a:ext cx="8520600" cy="3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Makes a Graph in Neo4j a "Knowledge Graph" vs. Just a Graph?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Semantics &amp; Ontology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your Neo4j graph follows a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formal ontology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"Person" → "won" → "Award"), then it is a proper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knowledge graph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it’s just a graph without clear entity relationships, it’s a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graph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Querying for Facts &amp; Reasoning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use Neo4j to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infer new facts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"If Einstein won the Nobel Prize, he must have been a scientist"), it's closer to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knowledge graph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use Neo4j for network analysis (e.g., shortest path between nodes), it’s just a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 database application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So, Is Every Graph in Neo4j a Knowledge Graph?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Yes, if it represents structured knowledge and relationships.</a:t>
            </a:r>
            <a:b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👉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No, if it's just a general graph for things like social networks, logistics, or recommendation systems.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short: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Neo4j CAN store and query knowledge graphs.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it can also be used for non-KG applications.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Use cases</a:t>
            </a:r>
            <a:endParaRPr/>
          </a:p>
        </p:txBody>
      </p:sp>
      <p:sp>
        <p:nvSpPr>
          <p:cNvPr id="268" name="Google Shape;268;p3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69" name="Google Shape;269;p38"/>
          <p:cNvSpPr txBox="1"/>
          <p:nvPr/>
        </p:nvSpPr>
        <p:spPr>
          <a:xfrm>
            <a:off x="3352800" y="3581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3"/>
              </a:rPr>
              <a:t>https://neo4j.com/graphgists/</a:t>
            </a:r>
            <a:r>
              <a:rPr lang="f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4"/>
              </a:rPr>
              <a:t>https://neo4j.com/use-cases/</a:t>
            </a:r>
            <a:r>
              <a:rPr lang="fr"/>
              <a:t>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Investigative journalism - </a:t>
            </a:r>
            <a:r>
              <a:rPr lang="fr" sz="2300" u="sng">
                <a:solidFill>
                  <a:schemeClr val="accent5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Panama Papers</a:t>
            </a:r>
            <a:endParaRPr/>
          </a:p>
        </p:txBody>
      </p:sp>
      <p:sp>
        <p:nvSpPr>
          <p:cNvPr id="275" name="Google Shape;275;p3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76" name="Google Shape;276;p39" title="panama-papers-graphgi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3850" y="983200"/>
            <a:ext cx="5001119" cy="3033574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9"/>
          <p:cNvSpPr txBox="1"/>
          <p:nvPr/>
        </p:nvSpPr>
        <p:spPr>
          <a:xfrm>
            <a:off x="304800" y="990600"/>
            <a:ext cx="30000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/>
              <a:t>What Happened?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Leak:</a:t>
            </a:r>
            <a:r>
              <a:rPr lang="fr" sz="1100"/>
              <a:t> 11.5 million documents (2.6 TB) from Mossack Fonseca.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Revealed:</a:t>
            </a:r>
            <a:r>
              <a:rPr lang="fr" sz="1100"/>
              <a:t> Offshore companies used for </a:t>
            </a:r>
            <a:r>
              <a:rPr b="1" lang="fr" sz="1100"/>
              <a:t>tax evasion, money laundering, and corruption</a:t>
            </a:r>
            <a:r>
              <a:rPr lang="fr" sz="1100"/>
              <a:t>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Investigated by:</a:t>
            </a:r>
            <a:r>
              <a:rPr lang="fr" sz="1100"/>
              <a:t> </a:t>
            </a:r>
            <a:r>
              <a:rPr b="1" lang="fr" sz="1100"/>
              <a:t>ICIJ + 400+ journalists</a:t>
            </a:r>
            <a:r>
              <a:rPr lang="fr" sz="1100"/>
              <a:t> across </a:t>
            </a:r>
            <a:r>
              <a:rPr b="1" lang="fr" sz="1100"/>
              <a:t>80+ countries</a:t>
            </a:r>
            <a:r>
              <a:rPr lang="fr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/>
              <a:t>Why Use Neo4j?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Traditional databases failed</a:t>
            </a:r>
            <a:r>
              <a:rPr lang="fr" sz="1100"/>
              <a:t> due to complex relationships.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Graph database = better for uncovering hidden networks.</a:t>
            </a:r>
            <a:endParaRPr b="1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Panama Papers</a:t>
            </a:r>
            <a:endParaRPr/>
          </a:p>
        </p:txBody>
      </p:sp>
      <p:sp>
        <p:nvSpPr>
          <p:cNvPr id="283" name="Google Shape;283;p4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84" name="Google Shape;284;p40"/>
          <p:cNvSpPr txBox="1"/>
          <p:nvPr/>
        </p:nvSpPr>
        <p:spPr>
          <a:xfrm>
            <a:off x="152400" y="1066800"/>
            <a:ext cx="4498200" cy="26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Graph-Based Investigation</a:t>
            </a:r>
            <a:endParaRPr b="1"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b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Nodes:</a:t>
            </a: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People, companies, addresses, banks.</a:t>
            </a:r>
            <a:endParaRPr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b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Edges:</a:t>
            </a: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Relationships like </a:t>
            </a:r>
            <a:r>
              <a:rPr i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"owns"</a:t>
            </a: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"directs"</a:t>
            </a: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"registered at"</a:t>
            </a: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Key Techniques</a:t>
            </a:r>
            <a:endParaRPr b="1"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b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Pattern discovery:</a:t>
            </a: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Found secret owners of offshore firms.</a:t>
            </a:r>
            <a:endParaRPr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b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Cypher queries:</a:t>
            </a: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Traced hidden financial flows.</a:t>
            </a:r>
            <a:endParaRPr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b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Visualization:</a:t>
            </a: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Used </a:t>
            </a:r>
            <a:r>
              <a:rPr b="1" lang="fr" sz="1300" u="sng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Linkurious</a:t>
            </a: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for easy exploration.</a:t>
            </a:r>
            <a:endParaRPr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0"/>
          <p:cNvSpPr txBox="1"/>
          <p:nvPr/>
        </p:nvSpPr>
        <p:spPr>
          <a:xfrm>
            <a:off x="5061425" y="1059000"/>
            <a:ext cx="3714300" cy="26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Major Discoveries</a:t>
            </a:r>
            <a:endParaRPr b="1"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✔ </a:t>
            </a:r>
            <a:r>
              <a:rPr b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143 politicians</a:t>
            </a: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&amp; world leaders involved.</a:t>
            </a:r>
            <a:b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✔ </a:t>
            </a:r>
            <a:r>
              <a:rPr b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Banks &amp; law firms enabled</a:t>
            </a: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tax havens.</a:t>
            </a:r>
            <a:b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✔ </a:t>
            </a:r>
            <a:r>
              <a:rPr b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Complex money trails exposed</a:t>
            </a: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Global Impact</a:t>
            </a:r>
            <a:endParaRPr b="1"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🔥 </a:t>
            </a:r>
            <a:r>
              <a:rPr b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$1.36B recovered</a:t>
            </a: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in unpaid taxes.</a:t>
            </a:r>
            <a:b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🔥 </a:t>
            </a:r>
            <a:r>
              <a:rPr b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Iceland’s PM resigned</a:t>
            </a: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, global investigations launched.</a:t>
            </a:r>
            <a:b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🔥 Led to </a:t>
            </a:r>
            <a:r>
              <a:rPr b="1"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Paradise Papers &amp; Pandora Papers</a:t>
            </a:r>
            <a:r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Fraud detection</a:t>
            </a:r>
            <a:endParaRPr/>
          </a:p>
        </p:txBody>
      </p:sp>
      <p:sp>
        <p:nvSpPr>
          <p:cNvPr id="291" name="Google Shape;291;p4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Build Intelligent Fraud Detection Apps With Graph&#10;Fraudsters operate in rings, not in isolation. Build apps that uncover patterns in your data to identify sophisticated scams other tools miss.&#10;&#10;Learn more: https://bit.ly/3Zg3uU1" id="292" name="Google Shape;292;p41" title="Neo4j for Fraud Detectio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3900" y="733725"/>
            <a:ext cx="6212750" cy="34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Characteristics</a:t>
            </a:r>
            <a:endParaRPr/>
          </a:p>
        </p:txBody>
      </p:sp>
      <p:sp>
        <p:nvSpPr>
          <p:cNvPr id="298" name="Google Shape;298;p4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Property Graph Model</a:t>
            </a:r>
            <a:endParaRPr/>
          </a:p>
        </p:txBody>
      </p:sp>
      <p:sp>
        <p:nvSpPr>
          <p:cNvPr id="304" name="Google Shape;304;p4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05" name="Google Shape;305;p43"/>
          <p:cNvSpPr txBox="1"/>
          <p:nvPr/>
        </p:nvSpPr>
        <p:spPr>
          <a:xfrm>
            <a:off x="304800" y="3048000"/>
            <a:ext cx="546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3"/>
              </a:rPr>
              <a:t>https://neo4j.com/use-cases/knowledge-graph/</a:t>
            </a:r>
            <a:r>
              <a:rPr lang="fr"/>
              <a:t> </a:t>
            </a:r>
            <a:endParaRPr/>
          </a:p>
        </p:txBody>
      </p:sp>
      <p:pic>
        <p:nvPicPr>
          <p:cNvPr id="306" name="Google Shape;30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9750" y="501949"/>
            <a:ext cx="3731851" cy="327887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3"/>
          <p:cNvSpPr txBox="1"/>
          <p:nvPr/>
        </p:nvSpPr>
        <p:spPr>
          <a:xfrm>
            <a:off x="315175" y="1122125"/>
            <a:ext cx="417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pas besoin de </a:t>
            </a:r>
            <a:r>
              <a:rPr lang="fr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r>
              <a:rPr lang="fr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les objets </a:t>
            </a:r>
            <a:r>
              <a:rPr i="1" lang="fr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naturels</a:t>
            </a:r>
            <a:r>
              <a:rPr lang="fr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en tables, foreign keys, …</a:t>
            </a:r>
            <a:endParaRPr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Les relations s'expriment naturellement</a:t>
            </a:r>
            <a:endParaRPr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"/>
          <p:cNvSpPr txBox="1"/>
          <p:nvPr/>
        </p:nvSpPr>
        <p:spPr>
          <a:xfrm>
            <a:off x="300475" y="1045925"/>
            <a:ext cx="42711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On retrouve le </a:t>
            </a:r>
            <a:r>
              <a:rPr b="1" lang="fr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schéma flexible</a:t>
            </a:r>
            <a:r>
              <a:rPr lang="fr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de MongoDB</a:t>
            </a:r>
            <a:endParaRPr sz="1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avec en plus une facilité accrue pour modifier les relations entre les objets. </a:t>
            </a:r>
            <a:endParaRPr sz="1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Dans cet exemple on transforme une relation </a:t>
            </a:r>
            <a:r>
              <a:rPr b="1" lang="fr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one to many</a:t>
            </a:r>
            <a:r>
              <a:rPr lang="fr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en une relation  </a:t>
            </a:r>
            <a:r>
              <a:rPr b="1" lang="fr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many to many </a:t>
            </a:r>
            <a:r>
              <a:rPr lang="fr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en ne créant qu'une relation </a:t>
            </a:r>
            <a:r>
              <a:rPr lang="fr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supplémentaire</a:t>
            </a:r>
            <a:endParaRPr sz="1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Les attributs de noeuds et relations peuvent aussi évoluer sans contraintes</a:t>
            </a:r>
            <a:endParaRPr sz="1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4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Schema flexible</a:t>
            </a:r>
            <a:endParaRPr/>
          </a:p>
        </p:txBody>
      </p:sp>
      <p:sp>
        <p:nvSpPr>
          <p:cNvPr id="314" name="Google Shape;314;p44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15" name="Google Shape;31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33025"/>
            <a:ext cx="4507251" cy="3347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3249" y="236650"/>
            <a:ext cx="4021200" cy="3975949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5"/>
          <p:cNvSpPr txBox="1"/>
          <p:nvPr/>
        </p:nvSpPr>
        <p:spPr>
          <a:xfrm>
            <a:off x="300475" y="1045925"/>
            <a:ext cx="52662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Les noeuds référencent directement leurs relations sans utiliser de recherche d'index. </a:t>
            </a:r>
            <a:endParaRPr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Quand un noeud doit trouver ses voisins :</a:t>
            </a:r>
            <a:endParaRPr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Char char="●"/>
            </a:pPr>
            <a:r>
              <a:rPr lang="fr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Il suit directement les pointeurs physiques vers les noeuds connectés</a:t>
            </a:r>
            <a:endParaRPr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Char char="●"/>
            </a:pPr>
            <a:r>
              <a:rPr lang="fr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Évite les recherches d'index coûteuses requises dans les bases relationnelles</a:t>
            </a:r>
            <a:endParaRPr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Temps de parcours constant quelle que soit la taille de la base</a:t>
            </a:r>
            <a:endParaRPr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La relation est une sorte de micro index</a:t>
            </a:r>
            <a:endParaRPr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5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Index Free Adjency</a:t>
            </a:r>
            <a:endParaRPr/>
          </a:p>
        </p:txBody>
      </p:sp>
      <p:sp>
        <p:nvSpPr>
          <p:cNvPr id="323" name="Google Shape;323;p4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6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Ecosysteme</a:t>
            </a:r>
            <a:endParaRPr/>
          </a:p>
        </p:txBody>
      </p:sp>
      <p:sp>
        <p:nvSpPr>
          <p:cNvPr id="329" name="Google Shape;329;p4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7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core platforms</a:t>
            </a:r>
            <a:endParaRPr/>
          </a:p>
        </p:txBody>
      </p:sp>
      <p:sp>
        <p:nvSpPr>
          <p:cNvPr id="335" name="Google Shape;335;p4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36" name="Google Shape;336;p47"/>
          <p:cNvSpPr txBox="1"/>
          <p:nvPr/>
        </p:nvSpPr>
        <p:spPr>
          <a:xfrm>
            <a:off x="533400" y="1371600"/>
            <a:ext cx="67587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fr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Neo4j</a:t>
            </a:r>
            <a:r>
              <a:rPr lang="fr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Graph Database (Community &amp; Enterprise): a native graph database that stores and processes connected data</a:t>
            </a:r>
            <a:endParaRPr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Char char="●"/>
            </a:pPr>
            <a:r>
              <a:rPr lang="fr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GraphAcademy</a:t>
            </a:r>
            <a:r>
              <a:rPr lang="fr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Free official learning platform with structured courses and certifications</a:t>
            </a:r>
            <a:endParaRPr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" sz="16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Neo4j AuraDB</a:t>
            </a:r>
            <a:r>
              <a:rPr lang="fr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Fully managed cloud service that handles infrastructure, updates, and scaling automatically</a:t>
            </a:r>
            <a:endParaRPr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fr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Cypher</a:t>
            </a:r>
            <a:r>
              <a:rPr lang="fr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Declarative graph query language designed to be visual and intuitive, like ASCII art for queries</a:t>
            </a:r>
            <a:endParaRPr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8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Outils</a:t>
            </a:r>
            <a:endParaRPr/>
          </a:p>
        </p:txBody>
      </p:sp>
      <p:sp>
        <p:nvSpPr>
          <p:cNvPr id="342" name="Google Shape;342;p4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43" name="Google Shape;343;p48"/>
          <p:cNvSpPr txBox="1"/>
          <p:nvPr/>
        </p:nvSpPr>
        <p:spPr>
          <a:xfrm>
            <a:off x="0" y="1295400"/>
            <a:ext cx="86145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fr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Neo4j Desktop</a:t>
            </a:r>
            <a:r>
              <a:rPr lang="fr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: All-in-one development environment for local database management and project organization</a:t>
            </a:r>
            <a:endParaRPr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fr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Neo4j Browser</a:t>
            </a:r>
            <a:r>
              <a:rPr lang="fr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Web-based interface for writing queries, visualizing results, and exploring your graph</a:t>
            </a:r>
            <a:endParaRPr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Char char="●"/>
            </a:pPr>
            <a:r>
              <a:rPr lang="fr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Neo4j Bloom: Business-friendly tool for visual graph exploration without writing queries</a:t>
            </a:r>
            <a:endParaRPr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fr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APOC library</a:t>
            </a:r>
            <a:r>
              <a:rPr lang="fr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Swiss army knife of useful functions that extend Neo4j's capabilities</a:t>
            </a:r>
            <a:endParaRPr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fr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GDS (Graph Data Science)</a:t>
            </a:r>
            <a:r>
              <a:rPr lang="fr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library: Machine learning and graph algorithms for advanced analytics</a:t>
            </a:r>
            <a:endParaRPr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Char char="●"/>
            </a:pPr>
            <a:r>
              <a:rPr lang="fr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Official drivers: Native connectivity for major programming languages like Python, Java, JavaScript</a:t>
            </a:r>
            <a:endParaRPr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Char char="●"/>
            </a:pPr>
            <a:r>
              <a:rPr lang="fr" sz="1600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Arrows.app</a:t>
            </a:r>
            <a:r>
              <a:rPr lang="fr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: Free web-based tool for creating and sharing graph data models visually</a:t>
            </a:r>
            <a:endParaRPr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Pratique</a:t>
            </a:r>
            <a:endParaRPr/>
          </a:p>
        </p:txBody>
      </p:sp>
      <p:sp>
        <p:nvSpPr>
          <p:cNvPr id="349" name="Google Shape;349;p4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0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Neo4j desktop</a:t>
            </a:r>
            <a:endParaRPr/>
          </a:p>
        </p:txBody>
      </p:sp>
      <p:sp>
        <p:nvSpPr>
          <p:cNvPr id="355" name="Google Shape;355;p5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56" name="Google Shape;356;p50"/>
          <p:cNvSpPr txBox="1"/>
          <p:nvPr/>
        </p:nvSpPr>
        <p:spPr>
          <a:xfrm>
            <a:off x="914400" y="1828800"/>
            <a:ext cx="684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3"/>
              </a:rPr>
              <a:t>https://neo4j.com/docs/desktop-manual/current/installation/download-installation/</a:t>
            </a:r>
            <a:r>
              <a:rPr lang="fr"/>
              <a:t>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1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Neo4j desktop</a:t>
            </a:r>
            <a:endParaRPr/>
          </a:p>
        </p:txBody>
      </p:sp>
      <p:sp>
        <p:nvSpPr>
          <p:cNvPr id="362" name="Google Shape;362;p5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63" name="Google Shape;36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817325"/>
            <a:ext cx="6271064" cy="417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2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Network Dependency Graph</a:t>
            </a:r>
            <a:endParaRPr/>
          </a:p>
        </p:txBody>
      </p:sp>
      <p:sp>
        <p:nvSpPr>
          <p:cNvPr id="369" name="Google Shape;369;p52"/>
          <p:cNvSpPr txBox="1"/>
          <p:nvPr>
            <p:ph idx="1" type="body"/>
          </p:nvPr>
        </p:nvSpPr>
        <p:spPr>
          <a:xfrm>
            <a:off x="311700" y="1266325"/>
            <a:ext cx="85206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fr" sz="2300" u="sng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Network Dependency Graph</a:t>
            </a:r>
            <a:endParaRPr/>
          </a:p>
        </p:txBody>
      </p:sp>
      <p:sp>
        <p:nvSpPr>
          <p:cNvPr id="370" name="Google Shape;370;p5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71" name="Google Shape;371;p52" title="network-graphgi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907675"/>
            <a:ext cx="4209188" cy="30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2"/>
          <p:cNvSpPr txBox="1"/>
          <p:nvPr/>
        </p:nvSpPr>
        <p:spPr>
          <a:xfrm>
            <a:off x="391400" y="2688825"/>
            <a:ext cx="435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As a </a:t>
            </a:r>
            <a:r>
              <a:rPr lang="fr" sz="18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Colab notebook</a:t>
            </a:r>
            <a:r>
              <a:rPr lang="fr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using the icypher extension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
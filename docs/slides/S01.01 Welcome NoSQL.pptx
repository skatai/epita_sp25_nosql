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Playfair Display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Permanent Marker"/>
      <p:regular r:id="rId32"/>
    </p:embeddedFont>
    <p:embeddedFont>
      <p:font typeface="Helvetica Neue"/>
      <p:regular r:id="rId33"/>
      <p:bold r:id="rId34"/>
      <p:italic r:id="rId35"/>
      <p:boldItalic r:id="rId36"/>
    </p:embeddedFont>
    <p:embeddedFont>
      <p:font typeface="Oswald"/>
      <p:regular r:id="rId37"/>
      <p:bold r:id="rId38"/>
    </p:embeddedFont>
    <p:embeddedFont>
      <p:font typeface="Bree Serif"/>
      <p:regular r:id="rId39"/>
    </p:embeddedFont>
    <p:embeddedFont>
      <p:font typeface="Helvetica Neue Ligh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Light-regular.fntdata"/><Relationship Id="rId20" Type="http://schemas.openxmlformats.org/officeDocument/2006/relationships/font" Target="fonts/Roboto-regular.fntdata"/><Relationship Id="rId42" Type="http://schemas.openxmlformats.org/officeDocument/2006/relationships/font" Target="fonts/HelveticaNeueLight-italic.fntdata"/><Relationship Id="rId41" Type="http://schemas.openxmlformats.org/officeDocument/2006/relationships/font" Target="fonts/HelveticaNeueLight-bold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43" Type="http://schemas.openxmlformats.org/officeDocument/2006/relationships/font" Target="fonts/HelveticaNeueLight-boldItalic.fntdata"/><Relationship Id="rId24" Type="http://schemas.openxmlformats.org/officeDocument/2006/relationships/font" Target="fonts/PlayfairDisplay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-italic.fntdata"/><Relationship Id="rId25" Type="http://schemas.openxmlformats.org/officeDocument/2006/relationships/font" Target="fonts/PlayfairDisplay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33" Type="http://schemas.openxmlformats.org/officeDocument/2006/relationships/font" Target="fonts/HelveticaNeue-regular.fntdata"/><Relationship Id="rId10" Type="http://schemas.openxmlformats.org/officeDocument/2006/relationships/slide" Target="slides/slide5.xml"/><Relationship Id="rId32" Type="http://schemas.openxmlformats.org/officeDocument/2006/relationships/font" Target="fonts/PermanentMarker-regular.fntdata"/><Relationship Id="rId13" Type="http://schemas.openxmlformats.org/officeDocument/2006/relationships/slide" Target="slides/slide8.xml"/><Relationship Id="rId35" Type="http://schemas.openxmlformats.org/officeDocument/2006/relationships/font" Target="fonts/HelveticaNeue-italic.fntdata"/><Relationship Id="rId12" Type="http://schemas.openxmlformats.org/officeDocument/2006/relationships/slide" Target="slides/slide7.xml"/><Relationship Id="rId34" Type="http://schemas.openxmlformats.org/officeDocument/2006/relationships/font" Target="fonts/HelveticaNeue-bold.fntdata"/><Relationship Id="rId15" Type="http://schemas.openxmlformats.org/officeDocument/2006/relationships/slide" Target="slides/slide10.xml"/><Relationship Id="rId37" Type="http://schemas.openxmlformats.org/officeDocument/2006/relationships/font" Target="fonts/Oswald-regular.fntdata"/><Relationship Id="rId14" Type="http://schemas.openxmlformats.org/officeDocument/2006/relationships/slide" Target="slides/slide9.xml"/><Relationship Id="rId36" Type="http://schemas.openxmlformats.org/officeDocument/2006/relationships/font" Target="fonts/HelveticaNeue-boldItalic.fntdata"/><Relationship Id="rId17" Type="http://schemas.openxmlformats.org/officeDocument/2006/relationships/slide" Target="slides/slide12.xml"/><Relationship Id="rId39" Type="http://schemas.openxmlformats.org/officeDocument/2006/relationships/font" Target="fonts/BreeSerif-regular.fntdata"/><Relationship Id="rId16" Type="http://schemas.openxmlformats.org/officeDocument/2006/relationships/slide" Target="slides/slide11.xml"/><Relationship Id="rId38" Type="http://schemas.openxmlformats.org/officeDocument/2006/relationships/font" Target="fonts/Oswa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ithub.com/SkatAI/Epita_SP25_NoSQL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Bree Serif"/>
              <a:buNone/>
              <a:defRPr b="1" sz="6800">
                <a:latin typeface="Bree Serif"/>
                <a:ea typeface="Bree Serif"/>
                <a:cs typeface="Bree Serif"/>
                <a:sym typeface="Bree Serif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9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ree Serif"/>
              <a:buNone/>
              <a:defRPr>
                <a:latin typeface="Bree Serif"/>
                <a:ea typeface="Bree Serif"/>
                <a:cs typeface="Bree Serif"/>
                <a:sym typeface="Bree Serif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ree Serif"/>
              <a:buNone/>
              <a:defRPr>
                <a:latin typeface="Bree Serif"/>
                <a:ea typeface="Bree Serif"/>
                <a:cs typeface="Bree Serif"/>
                <a:sym typeface="Bree Serif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ree Serif"/>
              <a:buNone/>
              <a:defRPr>
                <a:latin typeface="Bree Serif"/>
                <a:ea typeface="Bree Serif"/>
                <a:cs typeface="Bree Serif"/>
                <a:sym typeface="Bree Serif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ree Serif"/>
              <a:buNone/>
              <a:defRPr>
                <a:latin typeface="Bree Serif"/>
                <a:ea typeface="Bree Serif"/>
                <a:cs typeface="Bree Serif"/>
                <a:sym typeface="Bree Serif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ree Serif"/>
              <a:buNone/>
              <a:defRPr>
                <a:latin typeface="Bree Serif"/>
                <a:ea typeface="Bree Serif"/>
                <a:cs typeface="Bree Serif"/>
                <a:sym typeface="Bree Serif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ree Serif"/>
              <a:buNone/>
              <a:defRPr>
                <a:latin typeface="Bree Serif"/>
                <a:ea typeface="Bree Serif"/>
                <a:cs typeface="Bree Serif"/>
                <a:sym typeface="Bree Serif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ree Serif"/>
              <a:buNone/>
              <a:defRPr>
                <a:latin typeface="Bree Serif"/>
                <a:ea typeface="Bree Serif"/>
                <a:cs typeface="Bree Serif"/>
                <a:sym typeface="Bree Serif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ree Serif"/>
              <a:buNone/>
              <a:defRPr>
                <a:latin typeface="Bree Serif"/>
                <a:ea typeface="Bree Serif"/>
                <a:cs typeface="Bree Serif"/>
                <a:sym typeface="Bree Serif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ree Serif"/>
              <a:buNone/>
              <a:defRPr>
                <a:latin typeface="Bree Serif"/>
                <a:ea typeface="Bree Serif"/>
                <a:cs typeface="Bree Serif"/>
                <a:sym typeface="Bree Serif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●"/>
              <a:defRPr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  <a:defRPr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■"/>
              <a:defRPr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  <a:defRPr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■"/>
              <a:defRPr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  <a:defRPr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■"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8411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idx="2" type="sldNum"/>
          </p:nvPr>
        </p:nvSpPr>
        <p:spPr>
          <a:xfrm>
            <a:off x="9" y="4841150"/>
            <a:ext cx="66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NoSQL - Alexis Perrier - </a:t>
            </a:r>
            <a:r>
              <a:rPr lang="en"/>
              <a:t>Epita</a:t>
            </a:r>
            <a:r>
              <a:rPr lang="en"/>
              <a:t> -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https://github.com/SkatAI/Epita_SP25_NoSQL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7999" y="46887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7999" y="46887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7999" y="46887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7999" y="46887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7999" y="46887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7999" y="46887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7999" y="46887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7999" y="46887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7999" y="46887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b="0" i="0" sz="18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b="0" i="0" sz="14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discord.gg/4rcjT5TUGx" TargetMode="External"/><Relationship Id="rId5" Type="http://schemas.openxmlformats.org/officeDocument/2006/relationships/image" Target="../media/image2.png"/><Relationship Id="rId6" Type="http://schemas.openxmlformats.org/officeDocument/2006/relationships/hyperlink" Target="https://github.com/SkatAI/Epita_SP25_NoSQL" TargetMode="Externa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hyperlink" Target="https://www.linkedin.com/in/alexisperrier/" TargetMode="External"/><Relationship Id="rId13" Type="http://schemas.openxmlformats.org/officeDocument/2006/relationships/image" Target="../media/image4.png"/><Relationship Id="rId12" Type="http://schemas.openxmlformats.org/officeDocument/2006/relationships/hyperlink" Target="https://x.com/alexip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hyperlink" Target="mailto:alexis.perrier@ipsa.fr" TargetMode="External"/><Relationship Id="rId9" Type="http://schemas.openxmlformats.org/officeDocument/2006/relationships/image" Target="../media/image5.png"/><Relationship Id="rId15" Type="http://schemas.openxmlformats.org/officeDocument/2006/relationships/image" Target="../media/image3.png"/><Relationship Id="rId14" Type="http://schemas.openxmlformats.org/officeDocument/2006/relationships/hyperlink" Target="https://medium.com/@alexisperrier" TargetMode="External"/><Relationship Id="rId16" Type="http://schemas.openxmlformats.org/officeDocument/2006/relationships/hyperlink" Target="https://skatai.com" TargetMode="External"/><Relationship Id="rId5" Type="http://schemas.openxmlformats.org/officeDocument/2006/relationships/hyperlink" Target="mailto:alexis.perrier@ipsa.fr" TargetMode="External"/><Relationship Id="rId6" Type="http://schemas.openxmlformats.org/officeDocument/2006/relationships/hyperlink" Target="mailto:alexis.perrier@ipsa.fr" TargetMode="External"/><Relationship Id="rId7" Type="http://schemas.openxmlformats.org/officeDocument/2006/relationships/hyperlink" Target="https://github.com/SkatAI/Epita_SP25_NoSQL" TargetMode="External"/><Relationship Id="rId8" Type="http://schemas.openxmlformats.org/officeDocument/2006/relationships/hyperlink" Target="https://bsky.app/profile/alexisperrier.bsky.socia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document/d/1IHEsvdrlGsvzYJ1z6L85tbfAdEIWmO2fxYAsfqfg8_Y/edit?tab=t.0" TargetMode="External"/><Relationship Id="rId4" Type="http://schemas.openxmlformats.org/officeDocument/2006/relationships/hyperlink" Target="https://github.com/SkatAI/Epita_SP25_NoSQ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SkatAI/Epita_SP25_NoSQ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SkatAI/Epita_SP25_NoSQ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SkatAI/Epita_SP25_NoSQ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drive/folders/1Id4IzNQ2JoaD91lUv_mciMMiQq4fylyL?usp=sharing" TargetMode="External"/><Relationship Id="rId4" Type="http://schemas.openxmlformats.org/officeDocument/2006/relationships/hyperlink" Target="https://github.com/SkatAI/Epita_SP25_NoSQL" TargetMode="External"/><Relationship Id="rId5" Type="http://schemas.openxmlformats.org/officeDocument/2006/relationships/hyperlink" Target="https://discord.gg/4rcjT5TUGx" TargetMode="External"/><Relationship Id="rId6" Type="http://schemas.openxmlformats.org/officeDocument/2006/relationships/hyperlink" Target="https://github.com/SkatAI/Epita_SP25_NoSQ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SkatAI/Epita_SP25_NoSQL" TargetMode="External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hyperlink" Target="https://x.com/i/grok?focus=1" TargetMode="External"/><Relationship Id="rId10" Type="http://schemas.openxmlformats.org/officeDocument/2006/relationships/hyperlink" Target="https://chat.mistral.ai/chat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SkatAI/Epita_SP25_NoSQL" TargetMode="External"/><Relationship Id="rId4" Type="http://schemas.openxmlformats.org/officeDocument/2006/relationships/hyperlink" Target="https://chat.deepseek.com/" TargetMode="External"/><Relationship Id="rId9" Type="http://schemas.openxmlformats.org/officeDocument/2006/relationships/hyperlink" Target="http://chatgpt.com" TargetMode="External"/><Relationship Id="rId5" Type="http://schemas.openxmlformats.org/officeDocument/2006/relationships/hyperlink" Target="https://chat.qwenlm.ai/" TargetMode="External"/><Relationship Id="rId6" Type="http://schemas.openxmlformats.org/officeDocument/2006/relationships/hyperlink" Target="http://aistudio.google.com" TargetMode="External"/><Relationship Id="rId7" Type="http://schemas.openxmlformats.org/officeDocument/2006/relationships/hyperlink" Target="https://colab.research.google.com/" TargetMode="External"/><Relationship Id="rId8" Type="http://schemas.openxmlformats.org/officeDocument/2006/relationships/hyperlink" Target="http://claude.ai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SkatAI/Epita_SP25_NoSQ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SkatAI/Epita_SP25_NoSQ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hyperlink" Target="https://github.com/SkatAI/Epita_SP25_NoSQ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forms.gle/L87wNPPaH85JT72YA" TargetMode="External"/><Relationship Id="rId4" Type="http://schemas.openxmlformats.org/officeDocument/2006/relationships/hyperlink" Target="https://discord.gg/4rcjT5TUGx" TargetMode="External"/><Relationship Id="rId5" Type="http://schemas.openxmlformats.org/officeDocument/2006/relationships/hyperlink" Target="https://github.com/SkatAI/Epita_SP25_NoSQL" TargetMode="External"/><Relationship Id="rId6" Type="http://schemas.openxmlformats.org/officeDocument/2006/relationships/hyperlink" Target="https://drive.google.com/drive/folders/1Id4IzNQ2JoaD91lUv_mciMMiQq4fylyL?usp=sharing" TargetMode="External"/><Relationship Id="rId7" Type="http://schemas.openxmlformats.org/officeDocument/2006/relationships/hyperlink" Target="https://github.com/SkatAI/Epita_SP25_NoSQ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8" y="744575"/>
            <a:ext cx="8520600" cy="123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</a:pPr>
            <a:r>
              <a:rPr lang="en"/>
              <a:t>NoSQL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834125"/>
            <a:ext cx="8520600" cy="55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Epita - Spring 2025</a:t>
            </a:r>
            <a:endParaRPr/>
          </a:p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97999" y="46887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6900" y="-12175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Discord</a:t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011" y="1241550"/>
            <a:ext cx="3359283" cy="18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466350" y="3256200"/>
            <a:ext cx="399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Join </a:t>
            </a:r>
            <a:r>
              <a:rPr b="1" i="0" lang="en" sz="18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r>
              <a:rPr b="1" lang="en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epita-sp25-nosql</a:t>
            </a:r>
            <a:endParaRPr b="0" i="0" sz="1800" u="none" cap="none" strike="noStrike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466350" y="3939750"/>
            <a:ext cx="3990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u="sng">
                <a:solidFill>
                  <a:schemeClr val="hlink"/>
                </a:solidFill>
                <a:hlinkClick r:id="rId4"/>
              </a:rPr>
              <a:t>https://discord.gg/4rcjT5TUGx</a:t>
            </a:r>
            <a:r>
              <a:rPr lang="en" sz="2100"/>
              <a:t>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8497999" y="48411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4" title="discord-qr-cod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9350" y="786725"/>
            <a:ext cx="3902035" cy="390203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>
            <p:ph idx="2" type="sldNum"/>
          </p:nvPr>
        </p:nvSpPr>
        <p:spPr>
          <a:xfrm>
            <a:off x="9" y="4841150"/>
            <a:ext cx="66084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/>
              <a:t>NoSQL - Alexis Perrier - Epita -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https://github.com/SkatAI/Epita_SP25_NoSQL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6900" y="-12175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Presentation</a:t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841125"/>
            <a:ext cx="2099226" cy="209922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2989900" y="652250"/>
            <a:ext cx="6123600" cy="1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Alexis Perrier</a:t>
            </a:r>
            <a:endParaRPr b="0" i="0" sz="18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Engineer, </a:t>
            </a:r>
            <a:r>
              <a:rPr b="0" i="0" lang="en" sz="18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Data scientist, teacher, nerd</a:t>
            </a:r>
            <a:endParaRPr b="0" i="0" sz="18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sng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alexis.perrier@</a:t>
            </a:r>
            <a:r>
              <a:rPr lang="en" sz="18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epita</a:t>
            </a:r>
            <a:r>
              <a:rPr b="0" i="0" lang="en" sz="1800" u="sng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6"/>
              </a:rPr>
              <a:t>.fr</a:t>
            </a:r>
            <a:endParaRPr b="0" i="0" sz="18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11700" y="4114800"/>
            <a:ext cx="8801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Started working with mysql in 2000</a:t>
            </a:r>
            <a:endParaRPr b="0" i="0" sz="1600" u="none" cap="none" strike="noStrike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Teaching: SciencePo, IPSA, Eifrei, Epita, Gustave Eiffel, Openclassrooms, etc.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497999" y="48411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5"/>
          <p:cNvSpPr txBox="1"/>
          <p:nvPr>
            <p:ph idx="2" type="sldNum"/>
          </p:nvPr>
        </p:nvSpPr>
        <p:spPr>
          <a:xfrm>
            <a:off x="9" y="4841150"/>
            <a:ext cx="66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/>
              <a:t>NoSQL - Alexis Perrier - Epita - </a:t>
            </a:r>
            <a:r>
              <a:rPr lang="en" u="sng">
                <a:solidFill>
                  <a:schemeClr val="hlink"/>
                </a:solidFill>
                <a:hlinkClick r:id="rId7"/>
              </a:rPr>
              <a:t>https://github.com/SkatAI/Epita_SP25_NoSQL</a:t>
            </a:r>
            <a:r>
              <a:rPr lang="en"/>
              <a:t> </a:t>
            </a:r>
            <a:endParaRPr/>
          </a:p>
        </p:txBody>
      </p:sp>
      <p:grpSp>
        <p:nvGrpSpPr>
          <p:cNvPr id="83" name="Google Shape;83;p15"/>
          <p:cNvGrpSpPr/>
          <p:nvPr/>
        </p:nvGrpSpPr>
        <p:grpSpPr>
          <a:xfrm>
            <a:off x="2989900" y="2314454"/>
            <a:ext cx="2703751" cy="514601"/>
            <a:chOff x="5264700" y="2908204"/>
            <a:chExt cx="2703751" cy="514601"/>
          </a:xfrm>
        </p:grpSpPr>
        <p:pic>
          <p:nvPicPr>
            <p:cNvPr id="84" name="Google Shape;84;p15" title="Bluesky_Logo.svg.png">
              <a:hlinkClick r:id="rId8"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264700" y="2969513"/>
              <a:ext cx="485375" cy="430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5" title="LinkedIn_icon.svg.png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875750" y="2969538"/>
              <a:ext cx="430050" cy="430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5" title="X_logo_2023.svg.png">
              <a:hlinkClick r:id="rId12"/>
            </p:cNvPr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431474" y="2990301"/>
              <a:ext cx="430050" cy="388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5" title="Medium_logo_Monogram.svg.png">
              <a:hlinkClick r:id="rId14"/>
            </p:cNvPr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983400" y="2990300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5" title="logo_skatai_woodpecker.png">
              <a:hlinkClick r:id="rId16"/>
            </p:cNvPr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53850" y="2908204"/>
              <a:ext cx="514601" cy="5146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6900" y="-12175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Syllabus</a:t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311700" y="1234075"/>
            <a:ext cx="85206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NoSQL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MongoDB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Vector stores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Neo4j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370100" y="750425"/>
            <a:ext cx="360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- Syllabus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4457375" y="1104325"/>
            <a:ext cx="35313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What for </a:t>
            </a: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Use cases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Ecosystem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SQL Comparison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(DNL) queries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Performances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LLMs with vector stores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Schema in MongoDB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Data science in Neo4j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97999" y="48411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6"/>
          <p:cNvSpPr txBox="1"/>
          <p:nvPr>
            <p:ph idx="2" type="sldNum"/>
          </p:nvPr>
        </p:nvSpPr>
        <p:spPr>
          <a:xfrm>
            <a:off x="9" y="4841150"/>
            <a:ext cx="66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/>
              <a:t>NoSQL - Alexis Perrier - Epita -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https://github.com/SkatAI/Epita_SP25_NoSQL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6900" y="-12175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Course Evaluation</a:t>
            </a:r>
            <a:endParaRPr/>
          </a:p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1530900" y="1843675"/>
            <a:ext cx="43710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1 MongoDB workshop (50%)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1 Neo4j workshop (50%)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Work on a dataset of your choosing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8497999" y="48411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7"/>
          <p:cNvSpPr txBox="1"/>
          <p:nvPr>
            <p:ph idx="2" type="sldNum"/>
          </p:nvPr>
        </p:nvSpPr>
        <p:spPr>
          <a:xfrm>
            <a:off x="9" y="4841150"/>
            <a:ext cx="66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/>
              <a:t>NoSQL - Alexis Perrier - Epita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https://github.com/SkatAI/Epita_SP25_NoSQL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311700" y="1234075"/>
            <a:ext cx="8520600" cy="22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This is a course on MongoDB, Vector store and Neo4j.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MongoDB: </a:t>
            </a:r>
            <a:r>
              <a:rPr b="1" lang="en" sz="1400">
                <a:latin typeface="Helvetica Neue"/>
                <a:ea typeface="Helvetica Neue"/>
                <a:cs typeface="Helvetica Neue"/>
                <a:sym typeface="Helvetica Neue"/>
              </a:rPr>
              <a:t>Document database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lang="en" sz="1400">
                <a:highlight>
                  <a:srgbClr val="FF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large volume of data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 that has </a:t>
            </a:r>
            <a:r>
              <a:rPr lang="en" sz="1400">
                <a:highlight>
                  <a:srgbClr val="FF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flexible schema</a:t>
            </a:r>
            <a:endParaRPr sz="1400">
              <a:highlight>
                <a:srgbClr val="FFFF00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b="1" lang="en" sz="1400"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1" lang="en" sz="1400">
                <a:latin typeface="Helvetica Neue"/>
                <a:ea typeface="Helvetica Neue"/>
                <a:cs typeface="Helvetica Neue"/>
                <a:sym typeface="Helvetica Neue"/>
              </a:rPr>
              <a:t>ector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 databases! Vector search is the building block of </a:t>
            </a:r>
            <a:r>
              <a:rPr lang="en" sz="1400">
                <a:highlight>
                  <a:srgbClr val="FF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LLMs 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b="1"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○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Major players now offer vector search, including PostgreSQL, MongoDB, and Neo4J.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○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There are also dedicated vector databases such as </a:t>
            </a:r>
            <a:r>
              <a:rPr b="1" lang="en" sz="1400">
                <a:latin typeface="Helvetica Neue"/>
                <a:ea typeface="Helvetica Neue"/>
                <a:cs typeface="Helvetica Neue"/>
                <a:sym typeface="Helvetica Neue"/>
              </a:rPr>
              <a:t>Weaviate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, Pinecone, chromadb, ... . we are talking about </a:t>
            </a:r>
            <a:r>
              <a:rPr b="1" lang="en" sz="1400">
                <a:latin typeface="Helvetica Neue"/>
                <a:ea typeface="Helvetica Neue"/>
                <a:cs typeface="Helvetica Neue"/>
                <a:sym typeface="Helvetica Neue"/>
              </a:rPr>
              <a:t>vector stores 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Neo4J: </a:t>
            </a:r>
            <a:r>
              <a:rPr b="1" lang="en" sz="1400">
                <a:highlight>
                  <a:srgbClr val="FF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graph database. 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particularly effective for certain types of use cases and questions. we'll also look at alternatives.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18"/>
          <p:cNvSpPr txBox="1"/>
          <p:nvPr>
            <p:ph type="title"/>
          </p:nvPr>
        </p:nvSpPr>
        <p:spPr>
          <a:xfrm>
            <a:off x="6900" y="-12175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Scope</a:t>
            </a:r>
            <a:endParaRPr/>
          </a:p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497999" y="48411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8"/>
          <p:cNvSpPr txBox="1"/>
          <p:nvPr>
            <p:ph idx="2" type="sldNum"/>
          </p:nvPr>
        </p:nvSpPr>
        <p:spPr>
          <a:xfrm>
            <a:off x="9" y="4841150"/>
            <a:ext cx="66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/>
              <a:t>NoSQL - Alexis Perrier - Epita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https://github.com/SkatAI/Epita_SP25_NoSQL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6900" y="-12175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Prerequisite</a:t>
            </a:r>
            <a:endParaRPr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1364300" y="1241650"/>
            <a:ext cx="4995000" cy="22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Verdana"/>
              <a:buChar char="●"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Know your computer (Path, install, etc.)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Verdana"/>
              <a:buChar char="●"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Terminal and Command Line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Verdana"/>
              <a:buChar char="○"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mongosh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Verdana"/>
              <a:buChar char="○"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cypher shell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Verdana"/>
              <a:buChar char="●"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Mac: iTerm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Verdana"/>
              <a:buChar char="●"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Windows: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Verdana"/>
              <a:buChar char="○"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git console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Verdana"/>
              <a:buChar char="○"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Powershell Admin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97999" y="48411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 txBox="1"/>
          <p:nvPr>
            <p:ph idx="2" type="sldNum"/>
          </p:nvPr>
        </p:nvSpPr>
        <p:spPr>
          <a:xfrm>
            <a:off x="9" y="4841150"/>
            <a:ext cx="66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/>
              <a:t>NoSQL - Alexis Perrier - Epita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https://github.com/SkatAI/Epita_SP25_NoSQL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6900" y="-12175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Tools</a:t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311700" y="1234075"/>
            <a:ext cx="8520600" cy="14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Google Drive </a:t>
            </a: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: Slides and PDFs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Github: scripts and pdf  </a:t>
            </a:r>
            <a:r>
              <a:rPr lang="en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https://github.com/SkatAI/Epita_SP25_NoSQL</a:t>
            </a: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●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Discord: your questions </a:t>
            </a:r>
            <a:r>
              <a:rPr lang="en" sz="21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/>
              </a:rPr>
              <a:t>https://discord.gg/4rcjT5TUGx</a:t>
            </a:r>
            <a:r>
              <a:rPr lang="en" sz="21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LLMs: some Answers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8497999" y="48411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0"/>
          <p:cNvSpPr txBox="1"/>
          <p:nvPr>
            <p:ph idx="2" type="sldNum"/>
          </p:nvPr>
        </p:nvSpPr>
        <p:spPr>
          <a:xfrm>
            <a:off x="9" y="4841150"/>
            <a:ext cx="66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/>
              <a:t>NoSQL - Alexis Perrier - Epita -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https://github.com/SkatAI/Epita_SP25_NoSQL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6900" y="-12175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Languages</a:t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845100" y="1677625"/>
            <a:ext cx="7962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Helvetica Neue"/>
              <a:buChar char="●"/>
            </a:pPr>
            <a:r>
              <a:rPr b="0" i="0" lang="en" sz="2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javascript for MongoDB</a:t>
            </a:r>
            <a:endParaRPr b="0" i="0" sz="22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Helvetica Neue"/>
              <a:buChar char="●"/>
            </a:pPr>
            <a:r>
              <a:rPr b="0" i="0" lang="en" sz="2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cypher for Neo4j</a:t>
            </a:r>
            <a:endParaRPr b="0" i="0" sz="22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Helvetica Neue"/>
              <a:buChar char="●"/>
            </a:pPr>
            <a:r>
              <a:rPr b="0" i="0" lang="en" sz="2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python, javascript or your favorite language </a:t>
            </a:r>
            <a:endParaRPr b="0" i="0" sz="22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21"/>
          <p:cNvSpPr txBox="1"/>
          <p:nvPr>
            <p:ph idx="12" type="sldNum"/>
          </p:nvPr>
        </p:nvSpPr>
        <p:spPr>
          <a:xfrm>
            <a:off x="8497999" y="48411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1"/>
          <p:cNvSpPr txBox="1"/>
          <p:nvPr>
            <p:ph idx="2" type="sldNum"/>
          </p:nvPr>
        </p:nvSpPr>
        <p:spPr>
          <a:xfrm>
            <a:off x="9" y="4841150"/>
            <a:ext cx="66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/>
              <a:t>NoSQL - Alexis Perrier - Epita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https://github.com/SkatAI/Epita_SP25_NoSQL</a:t>
            </a:r>
            <a:r>
              <a:rPr lang="en"/>
              <a:t> 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1234075"/>
            <a:ext cx="85206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6900" y="-12175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AI policy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476350" y="822850"/>
            <a:ext cx="4851000" cy="20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It would be absurd not to use LLMs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Verdana"/>
              <a:buChar char="●"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Learn to work with LLMs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●"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How to avoid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cognitive offloading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the rabbit hole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hallucinations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97999" y="48411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2"/>
          <p:cNvSpPr txBox="1"/>
          <p:nvPr>
            <p:ph idx="2" type="sldNum"/>
          </p:nvPr>
        </p:nvSpPr>
        <p:spPr>
          <a:xfrm>
            <a:off x="9" y="4841150"/>
            <a:ext cx="66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/>
              <a:t>NoSQL - Alexis Perrier - Epita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https://github.com/SkatAI/Epita_SP25_NoSQL</a:t>
            </a:r>
            <a:r>
              <a:rPr lang="en"/>
              <a:t> </a:t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5709950" y="765525"/>
            <a:ext cx="3255300" cy="40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erdana"/>
              <a:buChar char="●"/>
            </a:pPr>
            <a:r>
              <a:rPr lang="en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LLMs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○"/>
            </a:pPr>
            <a:r>
              <a:rPr lang="en" u="sng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DeepSeek</a:t>
            </a:r>
            <a:r>
              <a:rPr lang="en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u="sng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Qwen.ai</a:t>
            </a:r>
            <a:endParaRPr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Gemini on </a:t>
            </a:r>
            <a:r>
              <a:rPr lang="en" u="sng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aistudio.google.com </a:t>
            </a:r>
            <a:r>
              <a:rPr lang="en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and in </a:t>
            </a:r>
            <a:r>
              <a:rPr lang="en" u="sng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Colab</a:t>
            </a:r>
            <a:endParaRPr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○"/>
            </a:pPr>
            <a:r>
              <a:rPr lang="en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8"/>
              </a:rPr>
              <a:t>Claude.ai</a:t>
            </a:r>
            <a:r>
              <a:rPr lang="en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○"/>
            </a:pPr>
            <a:r>
              <a:rPr lang="en" u="sng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ChatGPT.com</a:t>
            </a:r>
            <a:r>
              <a:rPr lang="en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○"/>
            </a:pPr>
            <a:r>
              <a:rPr lang="en" u="sng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Mistral</a:t>
            </a:r>
            <a:endParaRPr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○"/>
            </a:pPr>
            <a:r>
              <a:rPr lang="en" u="sng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Grok </a:t>
            </a:r>
            <a:r>
              <a:rPr lang="en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on X</a:t>
            </a:r>
            <a:endParaRPr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erdana"/>
              <a:buChar char="●"/>
            </a:pPr>
            <a:r>
              <a:rPr lang="en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Platforms</a:t>
            </a:r>
            <a:endParaRPr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windsurf</a:t>
            </a:r>
            <a:endParaRPr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cursor</a:t>
            </a:r>
            <a:endParaRPr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claude code</a:t>
            </a:r>
            <a:endParaRPr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openAI codex</a:t>
            </a:r>
            <a:endParaRPr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Magnus.im</a:t>
            </a:r>
            <a:endParaRPr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6900" y="-12175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AI policy</a:t>
            </a:r>
            <a:endParaRPr/>
          </a:p>
        </p:txBody>
      </p:sp>
      <p:sp>
        <p:nvSpPr>
          <p:cNvPr id="154" name="Google Shape;154;p23"/>
          <p:cNvSpPr txBox="1"/>
          <p:nvPr/>
        </p:nvSpPr>
        <p:spPr>
          <a:xfrm>
            <a:off x="964900" y="3360650"/>
            <a:ext cx="7330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You don't get fit by watching workouts on Instagram.</a:t>
            </a:r>
            <a:endParaRPr b="0" i="0" sz="18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Likewise, you don't learn by letting the LLM do the work.</a:t>
            </a:r>
            <a:endParaRPr b="0" i="0" sz="18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2492125" y="745975"/>
            <a:ext cx="44820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0" i="0" lang="en" sz="6800" u="none" cap="none" strike="noStrike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NO PAIN</a:t>
            </a:r>
            <a:endParaRPr b="0" i="0" sz="6800" u="none" cap="none" strike="noStrike">
              <a:solidFill>
                <a:srgbClr val="FF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0" i="0" lang="en" sz="6800" u="none" cap="none" strike="noStrike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NO GAIN</a:t>
            </a:r>
            <a:endParaRPr b="0" i="0" sz="6800" u="none" cap="none" strike="noStrike">
              <a:solidFill>
                <a:srgbClr val="FF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497999" y="48411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3"/>
          <p:cNvSpPr txBox="1"/>
          <p:nvPr>
            <p:ph idx="2" type="sldNum"/>
          </p:nvPr>
        </p:nvSpPr>
        <p:spPr>
          <a:xfrm>
            <a:off x="9" y="4841150"/>
            <a:ext cx="66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/>
              <a:t>NoSQL - Alexis Perrier - Epita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https://github.com/SkatAI/Epita_SP25_NoSQL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311700" y="1005475"/>
            <a:ext cx="85206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Verdana"/>
              <a:buChar char="●"/>
            </a:pP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the global NoSQL market projected to soar from $7.3 billion in 2022 to $86.3 billion by 2032, driven by a </a:t>
            </a:r>
            <a:r>
              <a:rPr lang="en" sz="1600"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28% annual growth rate</a:t>
            </a:r>
            <a:br>
              <a:rPr lang="en" sz="1600"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</a:br>
            <a:endParaRPr sz="1600">
              <a:highlight>
                <a:srgbClr val="FFFF00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Verdana"/>
              <a:buChar char="●"/>
            </a:pP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NoSQL is for applications with </a:t>
            </a:r>
            <a:r>
              <a:rPr lang="en" sz="1600"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unpredictable workloads </a:t>
            </a: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, such as social media platforms, e-commerce sites, and IoT systems</a:t>
            </a:r>
            <a:br>
              <a:rPr lang="en" sz="1600">
                <a:latin typeface="Verdana"/>
                <a:ea typeface="Verdana"/>
                <a:cs typeface="Verdana"/>
                <a:sym typeface="Verdana"/>
              </a:rPr>
            </a:b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Verdana"/>
              <a:buChar char="●"/>
            </a:pP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future-proofing your career and standing out in a </a:t>
            </a:r>
            <a:r>
              <a:rPr lang="en" sz="1600"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competitive job market.</a:t>
            </a:r>
            <a:br>
              <a:rPr lang="en" sz="1600"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</a:br>
            <a:endParaRPr sz="1600">
              <a:highlight>
                <a:srgbClr val="FFFF00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Verdana"/>
              <a:buChar char="●"/>
            </a:pP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Students who learn NoSQL </a:t>
            </a:r>
            <a:r>
              <a:rPr lang="en" sz="1600"/>
              <a:t>are</a:t>
            </a: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 better prepared to work on cutting-edge technologies like real-time analytics, </a:t>
            </a:r>
            <a:r>
              <a:rPr lang="en" sz="1600"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machine learning </a:t>
            </a: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, and distributed systems.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3" name="Google Shape;163;p24"/>
          <p:cNvSpPr txBox="1"/>
          <p:nvPr>
            <p:ph type="title"/>
          </p:nvPr>
        </p:nvSpPr>
        <p:spPr>
          <a:xfrm>
            <a:off x="6900" y="-12175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Why this course?</a:t>
            </a:r>
            <a:endParaRPr/>
          </a:p>
        </p:txBody>
      </p:sp>
      <p:sp>
        <p:nvSpPr>
          <p:cNvPr id="164" name="Google Shape;164;p24"/>
          <p:cNvSpPr txBox="1"/>
          <p:nvPr>
            <p:ph idx="12" type="sldNum"/>
          </p:nvPr>
        </p:nvSpPr>
        <p:spPr>
          <a:xfrm>
            <a:off x="8497999" y="48411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24"/>
          <p:cNvSpPr txBox="1"/>
          <p:nvPr>
            <p:ph idx="2" type="sldNum"/>
          </p:nvPr>
        </p:nvSpPr>
        <p:spPr>
          <a:xfrm>
            <a:off x="9" y="4841150"/>
            <a:ext cx="66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/>
              <a:t>NoSQL - Alexis Perrier - Epita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https://github.com/SkatAI/Epita_SP25_NoSQL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6900" y="-12175"/>
            <a:ext cx="852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SQL vs NoSQL usage </a:t>
            </a:r>
            <a:br>
              <a:rPr lang="en"/>
            </a:br>
            <a:r>
              <a:rPr lang="en"/>
              <a:t>stackoverflow 2023</a:t>
            </a:r>
            <a:endParaRPr/>
          </a:p>
        </p:txBody>
      </p:sp>
      <p:pic>
        <p:nvPicPr>
          <p:cNvPr id="171" name="Google Shape;1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7425" y="0"/>
            <a:ext cx="5067300" cy="50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 txBox="1"/>
          <p:nvPr>
            <p:ph idx="12" type="sldNum"/>
          </p:nvPr>
        </p:nvSpPr>
        <p:spPr>
          <a:xfrm>
            <a:off x="8497999" y="48411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25"/>
          <p:cNvSpPr txBox="1"/>
          <p:nvPr>
            <p:ph idx="2" type="sldNum"/>
          </p:nvPr>
        </p:nvSpPr>
        <p:spPr>
          <a:xfrm>
            <a:off x="9" y="4841150"/>
            <a:ext cx="66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/>
              <a:t>NoSQL - Alexis Perrier - Epita -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https://github.com/SkatAI/Epita_SP25_NoSQL</a:t>
            </a:r>
            <a:r>
              <a:rPr lang="en"/>
              <a:t> </a:t>
            </a:r>
            <a:endParaRPr/>
          </a:p>
        </p:txBody>
      </p:sp>
      <p:sp>
        <p:nvSpPr>
          <p:cNvPr id="174" name="Google Shape;174;p25"/>
          <p:cNvSpPr txBox="1"/>
          <p:nvPr/>
        </p:nvSpPr>
        <p:spPr>
          <a:xfrm>
            <a:off x="267800" y="1626600"/>
            <a:ext cx="328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" sz="3900" u="none" cap="none" strike="noStrike">
                <a:solidFill>
                  <a:srgbClr val="434343"/>
                </a:solidFill>
                <a:latin typeface="Verdana"/>
                <a:ea typeface="Verdana"/>
                <a:cs typeface="Verdana"/>
                <a:sym typeface="Verdana"/>
              </a:rPr>
              <a:t>NoSQL</a:t>
            </a:r>
            <a:endParaRPr b="0" i="0" sz="3900" u="none" cap="none" strike="noStrike">
              <a:solidFill>
                <a:srgbClr val="43434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" sz="3900" u="none" cap="none" strike="noStrike">
                <a:solidFill>
                  <a:srgbClr val="434343"/>
                </a:solidFill>
                <a:latin typeface="Verdana"/>
                <a:ea typeface="Verdana"/>
                <a:cs typeface="Verdana"/>
                <a:sym typeface="Verdana"/>
              </a:rPr>
              <a:t>in parallel</a:t>
            </a:r>
            <a:endParaRPr b="0" i="0" sz="3900" u="none" cap="none" strike="noStrike">
              <a:solidFill>
                <a:srgbClr val="43434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" sz="3900" u="none" cap="none" strike="noStrike">
                <a:solidFill>
                  <a:srgbClr val="434343"/>
                </a:solidFill>
                <a:latin typeface="Verdana"/>
                <a:ea typeface="Verdana"/>
                <a:cs typeface="Verdana"/>
                <a:sym typeface="Verdana"/>
              </a:rPr>
              <a:t>SQL</a:t>
            </a:r>
            <a:endParaRPr b="0" i="0" sz="3900" u="none" cap="none" strike="noStrike">
              <a:solidFill>
                <a:srgbClr val="43434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6900" y="-12175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Questionnaire to find out your expectations</a:t>
            </a:r>
            <a:endParaRPr/>
          </a:p>
        </p:txBody>
      </p:sp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311700" y="1234075"/>
            <a:ext cx="8698800" cy="30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Complete the following questionnaire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https://forms.gle/L87wNPPaH85JT72YA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Then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Join the Discord: </a:t>
            </a:r>
            <a:r>
              <a:rPr lang="en" sz="2100" u="sng">
                <a:solidFill>
                  <a:schemeClr val="hlink"/>
                </a:solidFill>
                <a:hlinkClick r:id="rId4"/>
              </a:rPr>
              <a:t>https://discord.gg/4rcjT5TUGx</a:t>
            </a:r>
            <a:r>
              <a:rPr lang="en" sz="2100"/>
              <a:t>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clone the github repo: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https://github.com/SkatAI/Epita_SP25_NoSQL</a:t>
            </a:r>
            <a:r>
              <a:rPr lang="en"/>
              <a:t>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access the slides in </a:t>
            </a:r>
            <a:r>
              <a:rPr lang="en" u="sng">
                <a:solidFill>
                  <a:schemeClr val="hlink"/>
                </a:solidFill>
                <a:hlinkClick r:id="rId6"/>
              </a:rPr>
              <a:t>Google Drive</a:t>
            </a:r>
            <a:endParaRPr/>
          </a:p>
        </p:txBody>
      </p: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497999" y="484115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26"/>
          <p:cNvSpPr txBox="1"/>
          <p:nvPr>
            <p:ph idx="2" type="sldNum"/>
          </p:nvPr>
        </p:nvSpPr>
        <p:spPr>
          <a:xfrm>
            <a:off x="9" y="4841150"/>
            <a:ext cx="66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/>
              <a:t>NoSQL - Alexis Perrier - Epita - </a:t>
            </a:r>
            <a:r>
              <a:rPr lang="en" u="sng">
                <a:solidFill>
                  <a:schemeClr val="hlink"/>
                </a:solidFill>
                <a:hlinkClick r:id="rId7"/>
              </a:rPr>
              <a:t>https://github.com/SkatAI/Epita_SP25_NoSQL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
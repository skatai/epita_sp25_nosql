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embeddedFontLst>
    <p:embeddedFont>
      <p:font typeface="Roboto"/>
      <p:regular r:id="rId46"/>
      <p:bold r:id="rId47"/>
      <p:italic r:id="rId48"/>
      <p:boldItalic r:id="rId49"/>
    </p:embeddedFont>
    <p:embeddedFont>
      <p:font typeface="PT Sans Narrow"/>
      <p:regular r:id="rId50"/>
      <p:bold r:id="rId51"/>
    </p:embeddedFont>
    <p:embeddedFont>
      <p:font typeface="Helvetica Neue"/>
      <p:regular r:id="rId52"/>
      <p:bold r:id="rId53"/>
      <p:italic r:id="rId54"/>
      <p:boldItalic r:id="rId55"/>
    </p:embeddedFont>
    <p:embeddedFont>
      <p:font typeface="Helvetica Neue Light"/>
      <p:regular r:id="rId56"/>
      <p:bold r:id="rId57"/>
      <p:italic r:id="rId58"/>
      <p:boldItalic r:id="rId59"/>
    </p:embeddedFont>
    <p:embeddedFont>
      <p:font typeface="Open Sans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Roboto-regular.fntdata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OpenSans-italic.fntdata"/><Relationship Id="rId61" Type="http://schemas.openxmlformats.org/officeDocument/2006/relationships/font" Target="fonts/OpenSans-bold.fntdata"/><Relationship Id="rId20" Type="http://schemas.openxmlformats.org/officeDocument/2006/relationships/slide" Target="slides/slide15.xml"/><Relationship Id="rId63" Type="http://schemas.openxmlformats.org/officeDocument/2006/relationships/font" Target="fonts/OpenSans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OpenSans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TSansNarrow-bold.fntdata"/><Relationship Id="rId50" Type="http://schemas.openxmlformats.org/officeDocument/2006/relationships/font" Target="fonts/PTSansNarrow-regular.fntdata"/><Relationship Id="rId53" Type="http://schemas.openxmlformats.org/officeDocument/2006/relationships/font" Target="fonts/HelveticaNeue-bold.fntdata"/><Relationship Id="rId52" Type="http://schemas.openxmlformats.org/officeDocument/2006/relationships/font" Target="fonts/HelveticaNeue-regular.fntdata"/><Relationship Id="rId11" Type="http://schemas.openxmlformats.org/officeDocument/2006/relationships/slide" Target="slides/slide6.xml"/><Relationship Id="rId55" Type="http://schemas.openxmlformats.org/officeDocument/2006/relationships/font" Target="fonts/HelveticaNeue-boldItalic.fntdata"/><Relationship Id="rId10" Type="http://schemas.openxmlformats.org/officeDocument/2006/relationships/slide" Target="slides/slide5.xml"/><Relationship Id="rId54" Type="http://schemas.openxmlformats.org/officeDocument/2006/relationships/font" Target="fonts/HelveticaNeue-italic.fntdata"/><Relationship Id="rId13" Type="http://schemas.openxmlformats.org/officeDocument/2006/relationships/slide" Target="slides/slide8.xml"/><Relationship Id="rId57" Type="http://schemas.openxmlformats.org/officeDocument/2006/relationships/font" Target="fonts/HelveticaNeueLight-bold.fntdata"/><Relationship Id="rId12" Type="http://schemas.openxmlformats.org/officeDocument/2006/relationships/slide" Target="slides/slide7.xml"/><Relationship Id="rId56" Type="http://schemas.openxmlformats.org/officeDocument/2006/relationships/font" Target="fonts/HelveticaNeueLight-regular.fntdata"/><Relationship Id="rId15" Type="http://schemas.openxmlformats.org/officeDocument/2006/relationships/slide" Target="slides/slide10.xml"/><Relationship Id="rId59" Type="http://schemas.openxmlformats.org/officeDocument/2006/relationships/font" Target="fonts/HelveticaNeueLight-boldItalic.fntdata"/><Relationship Id="rId14" Type="http://schemas.openxmlformats.org/officeDocument/2006/relationships/slide" Target="slides/slide9.xml"/><Relationship Id="rId58" Type="http://schemas.openxmlformats.org/officeDocument/2006/relationships/font" Target="fonts/HelveticaNeueLigh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680094c94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680094c94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75" y="4949775"/>
            <a:ext cx="9144000" cy="193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6900" y="-1217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Calibri"/>
              <a:buNone/>
              <a:defRPr b="0" sz="3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3"/>
          <p:cNvSpPr txBox="1"/>
          <p:nvPr/>
        </p:nvSpPr>
        <p:spPr>
          <a:xfrm>
            <a:off x="9" y="4870209"/>
            <a:ext cx="660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rgbClr val="EFEFE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NoSQL - Alexis Perrier - </a:t>
            </a:r>
            <a:r>
              <a:rPr lang="en" sz="1000">
                <a:solidFill>
                  <a:srgbClr val="EFEFE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Epita </a:t>
            </a:r>
            <a:r>
              <a:rPr b="0" i="0" lang="en" sz="1000" u="none" cap="none" strike="noStrike">
                <a:solidFill>
                  <a:srgbClr val="EFEFE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- </a:t>
            </a:r>
            <a:r>
              <a:rPr lang="en" sz="1000" u="none">
                <a:solidFill>
                  <a:srgbClr val="1155CC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https://github.com/SkatAI/Epita_SP25_NoSQL</a:t>
            </a:r>
            <a:endParaRPr b="0" i="0" sz="1000" u="none" cap="none" strike="noStrike">
              <a:solidFill>
                <a:srgbClr val="1155CC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-50" y="2957600"/>
            <a:ext cx="9144000" cy="248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4"/>
          <p:cNvSpPr txBox="1"/>
          <p:nvPr>
            <p:ph type="title"/>
          </p:nvPr>
        </p:nvSpPr>
        <p:spPr>
          <a:xfrm>
            <a:off x="311700" y="1957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Helvetica Neue"/>
              <a:buNone/>
              <a:defRPr b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jpg"/><Relationship Id="rId4" Type="http://schemas.openxmlformats.org/officeDocument/2006/relationships/hyperlink" Target="https://youtu.be/anRVomtGXFc?t=204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ephi.org/" TargetMode="External"/><Relationship Id="rId4" Type="http://schemas.openxmlformats.org/officeDocument/2006/relationships/hyperlink" Target="https://gephi.wordpress.com/" TargetMode="External"/><Relationship Id="rId5" Type="http://schemas.openxmlformats.org/officeDocument/2006/relationships/image" Target="../media/image19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networkx.org/" TargetMode="External"/><Relationship Id="rId4" Type="http://schemas.openxmlformats.org/officeDocument/2006/relationships/image" Target="../media/image7.png"/><Relationship Id="rId5" Type="http://schemas.openxmlformats.org/officeDocument/2006/relationships/hyperlink" Target="https://www.toptal.com/data-science/graph-data-science-python-networkx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www.youtube.com/watch?v=T6L9EoBy8Zk" TargetMode="External"/><Relationship Id="rId4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neo4j.com/use-cases/knowledge-graph/" TargetMode="External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tarunjain07.medium.com/spanning-tree-minimum-spanning-tree-notes-6c3e54d8bdfc" TargetMode="External"/><Relationship Id="rId4" Type="http://schemas.openxmlformats.org/officeDocument/2006/relationships/hyperlink" Target="https://fr.wikipedia.org/wiki/Arbre_couvrant_de_poids_minimal" TargetMode="External"/><Relationship Id="rId5" Type="http://schemas.openxmlformats.org/officeDocument/2006/relationships/image" Target="../media/image2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hyperlink" Target="https://zilliz.com/learn/what-is-knowledge-graph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evelopers.google.com/knowledge-graph" TargetMode="External"/><Relationship Id="rId4" Type="http://schemas.openxmlformats.org/officeDocument/2006/relationships/image" Target="../media/image15.png"/><Relationship Id="rId5" Type="http://schemas.openxmlformats.org/officeDocument/2006/relationships/hyperlink" Target="https://www.google.com/search?q=Neo4j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www.researchgate.net/publication/308197795_Algorithms_and_Software_for_the_Analysis_of_Large_Complex_Networks" TargetMode="External"/><Relationship Id="rId4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hyperlink" Target="https://moliere.love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moliere.love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neo4j.com/graphgists/" TargetMode="External"/><Relationship Id="rId4" Type="http://schemas.openxmlformats.org/officeDocument/2006/relationships/hyperlink" Target="https://neo4j.com/use-cases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neo4j.com/graphgists/the-panamapapers-example-dataset-president-of-azerbaijan/" TargetMode="External"/><Relationship Id="rId4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linkurious.com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www.youtube.com/watch?v=r5ghMhQOFh0" TargetMode="External"/><Relationship Id="rId4" Type="http://schemas.openxmlformats.org/officeDocument/2006/relationships/image" Target="../media/image9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neo4j.com/use-cases/knowledge-graph/" TargetMode="External"/><Relationship Id="rId4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neo4j.com/" TargetMode="External"/><Relationship Id="rId4" Type="http://schemas.openxmlformats.org/officeDocument/2006/relationships/hyperlink" Target="https://graphacademy.neo4j.com" TargetMode="External"/><Relationship Id="rId5" Type="http://schemas.openxmlformats.org/officeDocument/2006/relationships/hyperlink" Target="https://neo4j.com/product/auradb/" TargetMode="External"/><Relationship Id="rId6" Type="http://schemas.openxmlformats.org/officeDocument/2006/relationships/hyperlink" Target="https://neo4j.com/docs/cypher-manual/current/introduction/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neo4j.com/download/" TargetMode="External"/><Relationship Id="rId4" Type="http://schemas.openxmlformats.org/officeDocument/2006/relationships/hyperlink" Target="https://browser.neo4j.io/" TargetMode="External"/><Relationship Id="rId5" Type="http://schemas.openxmlformats.org/officeDocument/2006/relationships/hyperlink" Target="https://neo4j.com/labs/apoc/" TargetMode="External"/><Relationship Id="rId6" Type="http://schemas.openxmlformats.org/officeDocument/2006/relationships/hyperlink" Target="https://neo4j.com/docs/graph-data-science/current/" TargetMode="External"/><Relationship Id="rId7" Type="http://schemas.openxmlformats.org/officeDocument/2006/relationships/hyperlink" Target="https://arrows.app/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neo4j.com/docs/desktop-manual/current/installation/download-installation/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neo4j.com/graphgists/network-dependency-graph/" TargetMode="External"/><Relationship Id="rId4" Type="http://schemas.openxmlformats.org/officeDocument/2006/relationships/image" Target="../media/image14.png"/><Relationship Id="rId5" Type="http://schemas.openxmlformats.org/officeDocument/2006/relationships/hyperlink" Target="https://colab.research.google.com/drive/1gwoQRRI2BqcroW8_aPNEIKRuCnyFZ8H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11708" y="2192375"/>
            <a:ext cx="8520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Neo4j</a:t>
            </a:r>
            <a:endParaRPr/>
          </a:p>
        </p:txBody>
      </p:sp>
      <p:sp>
        <p:nvSpPr>
          <p:cNvPr id="68" name="Google Shape;68;p1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>
                <a:latin typeface="Open Sans"/>
                <a:ea typeface="Open Sans"/>
                <a:cs typeface="Open Sans"/>
                <a:sym typeface="Open Sans"/>
              </a:rPr>
              <a:t>‹#›</a:t>
            </a:fld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Embeddings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Vector search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Weaviate</a:t>
            </a:r>
            <a:endParaRPr/>
          </a:p>
        </p:txBody>
      </p:sp>
      <p:sp>
        <p:nvSpPr>
          <p:cNvPr id="74" name="Google Shape;74;p14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Last time on NoSQL</a:t>
            </a:r>
            <a:endParaRPr/>
          </a:p>
        </p:txBody>
      </p:sp>
      <p:sp>
        <p:nvSpPr>
          <p:cNvPr id="75" name="Google Shape;75;p14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266325"/>
            <a:ext cx="8520600" cy="26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Graph databases, Graph networks, Graph knowledge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 and benefits of graph databases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Cypher the query language of Neo4j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networks and graph data science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centrality measures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shortest path algorithms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community detection, anomalies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Knowledge graphs - LLMs</a:t>
            </a:r>
            <a:endParaRPr/>
          </a:p>
        </p:txBody>
      </p:sp>
      <p:sp>
        <p:nvSpPr>
          <p:cNvPr id="81" name="Google Shape;81;p15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1729200"/>
            <a:ext cx="8571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graph networks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refresh</a:t>
            </a:r>
            <a:endParaRPr/>
          </a:p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7" title="1_BsmA5DeGnkcsS_WkneSNmA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7713" y="795338"/>
            <a:ext cx="4600575" cy="3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266325"/>
            <a:ext cx="8520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 graph is a structure composed of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nodes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nodes are connected by </a:t>
            </a:r>
            <a:r>
              <a:rPr b="1" lang="en"/>
              <a:t>edges </a:t>
            </a:r>
            <a:r>
              <a:rPr lang="en"/>
              <a:t>or links.</a:t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Graphs</a:t>
            </a:r>
            <a:endParaRPr/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04800" y="2286000"/>
            <a:ext cx="59322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Which gives</a:t>
            </a:r>
            <a:endParaRPr sz="1600">
              <a:solidFill>
                <a:schemeClr val="dk2"/>
              </a:solidFill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b="1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Degree </a:t>
            </a:r>
            <a:r>
              <a:rPr b="0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Number of edges connected to a node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b="1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Path </a:t>
            </a:r>
            <a:r>
              <a:rPr b="0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Sequence of edges connecting two nodes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●"/>
            </a:pPr>
            <a:r>
              <a:rPr b="1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Cycle </a:t>
            </a:r>
            <a:r>
              <a:rPr b="0" i="0" lang="en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 Path that starts and ends at the same node</a:t>
            </a:r>
            <a:endParaRPr b="0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02775" y="899000"/>
            <a:ext cx="4718874" cy="265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8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acyclic, cyclic, directed graphs</a:t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5486400" y="3962400"/>
            <a:ext cx="328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https://youtu.be/anRVomtGXFc?t=204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304800" y="1066800"/>
            <a:ext cx="3932400" cy="23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●"/>
            </a:pPr>
            <a:r>
              <a:rPr b="1" i="0" lang="en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Oriented / Directed </a:t>
            </a:r>
            <a:r>
              <a:rPr b="0" i="0" lang="en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graph: explicit direction between nodes:</a:t>
            </a:r>
            <a:endParaRPr b="0" i="0" sz="16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</a:pPr>
            <a:r>
              <a:rPr b="0" i="0" lang="en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parent -&gt; child,</a:t>
            </a:r>
            <a:endParaRPr b="0" i="0" sz="14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●"/>
            </a:pPr>
            <a:r>
              <a:rPr b="1" i="0" lang="en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acyclic </a:t>
            </a:r>
            <a:r>
              <a:rPr b="0" i="0" lang="en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: cannot go back (DAG)</a:t>
            </a:r>
            <a:endParaRPr b="0" i="0" sz="16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</a:pPr>
            <a:r>
              <a:rPr b="0" i="0" lang="en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 -&gt; B -&gt; C</a:t>
            </a:r>
            <a:endParaRPr b="0" i="0" sz="14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"/>
              <a:buChar char="●"/>
            </a:pPr>
            <a:r>
              <a:rPr b="1" i="0" lang="en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cyclical </a:t>
            </a:r>
            <a:r>
              <a:rPr b="0" i="0" lang="en" sz="16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: there is at least one cycle that allows you to go back:</a:t>
            </a:r>
            <a:endParaRPr b="0" i="0" sz="16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</a:pPr>
            <a:r>
              <a:rPr b="0" i="0" lang="en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 -&gt; B -&gt; C -&gt;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Use cases</a:t>
            </a:r>
            <a:endParaRPr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311700" y="1266325"/>
            <a:ext cx="85206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Social network analysis</a:t>
            </a:r>
            <a:r>
              <a:rPr lang="en"/>
              <a:t>: Studying relationships between individuals.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Transportation networks</a:t>
            </a:r>
            <a:r>
              <a:rPr lang="en"/>
              <a:t>: Optimizing routes and traffic flows.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Biology</a:t>
            </a:r>
            <a:r>
              <a:rPr lang="en"/>
              <a:t>: Modeling interactions between proteins.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Computer science</a:t>
            </a:r>
            <a:r>
              <a:rPr lang="en"/>
              <a:t>: Representing dependencies between software components.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Digital sociology</a:t>
            </a:r>
            <a:r>
              <a:rPr lang="en"/>
              <a:t>: Behaviors, modeling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Scientometrics</a:t>
            </a:r>
            <a:r>
              <a:rPr lang="en"/>
              <a:t>: Evolution of Science, Cross-References</a:t>
            </a:r>
            <a:endParaRPr/>
          </a:p>
        </p:txBody>
      </p:sp>
      <p:sp>
        <p:nvSpPr>
          <p:cNvPr id="113" name="Google Shape;113;p19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Analysis tools: Gephi</a:t>
            </a:r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311700" y="809125"/>
            <a:ext cx="8520600" cy="7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Gephi: Interactive software for visualizing and exploring graphs.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Mathieu Jacomy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https://gephi.org/ </a:t>
            </a:r>
            <a:r>
              <a:rPr lang="en"/>
              <a:t>-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https://gephi.wordpress.com/</a:t>
            </a:r>
            <a:r>
              <a:rPr lang="en"/>
              <a:t> </a:t>
            </a:r>
            <a:endParaRPr/>
          </a:p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1" name="Google Shape;12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400" y="2212825"/>
            <a:ext cx="3718041" cy="247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022841" y="1880425"/>
            <a:ext cx="4887214" cy="2935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Analysis tools: networkx</a:t>
            </a:r>
            <a:endParaRPr/>
          </a:p>
        </p:txBody>
      </p:sp>
      <p:sp>
        <p:nvSpPr>
          <p:cNvPr id="128" name="Google Shape;128;p21"/>
          <p:cNvSpPr txBox="1"/>
          <p:nvPr>
            <p:ph idx="1" type="body"/>
          </p:nvPr>
        </p:nvSpPr>
        <p:spPr>
          <a:xfrm>
            <a:off x="311700" y="1266325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NetworkX </a:t>
            </a:r>
            <a:r>
              <a:rPr lang="en"/>
              <a:t>: Python library for creating, manipulating, and studying graphs.</a:t>
            </a:r>
            <a:endParaRPr/>
          </a:p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400" y="2122125"/>
            <a:ext cx="4282475" cy="125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1"/>
          <p:cNvSpPr txBox="1"/>
          <p:nvPr/>
        </p:nvSpPr>
        <p:spPr>
          <a:xfrm>
            <a:off x="685800" y="3657600"/>
            <a:ext cx="610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https://www.toptal.com/data-science/graph-data-science-python-networkx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700" y="961525"/>
            <a:ext cx="85206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Adjacency Matrix </a:t>
            </a:r>
            <a:r>
              <a:rPr lang="en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N×N matrix where element (i,j) indicates connection</a:t>
            </a:r>
            <a:endParaRPr sz="16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Adjacency List </a:t>
            </a:r>
            <a:r>
              <a:rPr lang="en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Each node stores a list of its connected neighbors</a:t>
            </a:r>
            <a:endParaRPr sz="16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Edge List </a:t>
            </a:r>
            <a:r>
              <a:rPr lang="en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Simple list of all node pairs that form edges</a:t>
            </a:r>
            <a:endParaRPr sz="16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Incidence Matrix </a:t>
            </a:r>
            <a:r>
              <a:rPr lang="en" sz="16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Rows represent nodes, columns represent edges</a:t>
            </a:r>
            <a:endParaRPr sz="16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2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Graph Data Representations</a:t>
            </a:r>
            <a:endParaRPr/>
          </a:p>
        </p:txBody>
      </p:sp>
      <p:sp>
        <p:nvSpPr>
          <p:cNvPr id="138" name="Google Shape;138;p22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9" name="Google Shape;1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2394625"/>
            <a:ext cx="4412151" cy="1910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2"/>
          <p:cNvSpPr txBox="1"/>
          <p:nvPr/>
        </p:nvSpPr>
        <p:spPr>
          <a:xfrm>
            <a:off x="685800" y="3048000"/>
            <a:ext cx="15426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Adjacency </a:t>
            </a:r>
            <a:br>
              <a:rPr b="1" i="0" lang="en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Matrix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Neo4j</a:t>
            </a:r>
            <a:endParaRPr/>
          </a:p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Neo4j is a native graph database designed to handle highly complex relational data. Learn the basics of graph data modeling and the Cypher Query Language https://bit.ly/3Jcl6bO&#10;&#10;#programming #database #100secondsofcode &#10;&#10;💬 Chat with Me on Discord&#10;&#10;https://discord.gg/fireship&#10;&#10;🔗 Resources&#10;&#10;Neo4j Aura https://bit.ly/3Jcl6bO&#10;Neo4j GitHub https://github.com/neo4j/neo4j&#10;SQL in 100 Seconds https://youtu.be/zsjvFFKOm3c&#10;7 Database Paradigms https://youtu.be/W2Z7fbCLSTw&#10;&#10;Sponsored by Neo4j Aura &#10;&#10;🔥 Get More Content - Upgrade to PRO&#10;&#10;Upgrade at https://fireship.io/pro&#10;Use code YT25 for 25% off PRO access &#10;&#10;🎨 My Editor Settings&#10;&#10;- Atom One Dark &#10;- vscode-icons&#10;- Fira Code Font&#10;&#10;🔖 Topics Covered&#10;&#10;- Neo4j vs SQL&#10;- What is Neo4j?&#10;- Graph Databases vs RDBMS&#10;- Cypher Query Language basics&#10;- Neo4j quickstart tutorial" id="152" name="Google Shape;152;p24" title="Neo4j in 100 Seconds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7879" y="1122125"/>
            <a:ext cx="6409546" cy="360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4"/>
          <p:cNvSpPr txBox="1"/>
          <p:nvPr/>
        </p:nvSpPr>
        <p:spPr>
          <a:xfrm>
            <a:off x="1647875" y="166150"/>
            <a:ext cx="43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Take a deep breath!</a:t>
            </a:r>
            <a:endParaRPr b="0" i="0" sz="18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/>
          <p:nvPr>
            <p:ph idx="1" type="body"/>
          </p:nvPr>
        </p:nvSpPr>
        <p:spPr>
          <a:xfrm>
            <a:off x="311700" y="961525"/>
            <a:ext cx="8520600" cy="28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Neo4j is above all a </a:t>
            </a:r>
            <a:r>
              <a:rPr b="1" lang="en"/>
              <a:t>Graph</a:t>
            </a:r>
            <a:r>
              <a:rPr lang="en"/>
              <a:t> </a:t>
            </a:r>
            <a:r>
              <a:rPr b="1" lang="en"/>
              <a:t>Database </a:t>
            </a:r>
            <a:r>
              <a:rPr lang="en"/>
              <a:t>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PostgreSQL </a:t>
            </a:r>
            <a:r>
              <a:rPr lang="en"/>
              <a:t>: performance, optimization and data normalization.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MongoDB </a:t>
            </a:r>
            <a:r>
              <a:rPr lang="en"/>
              <a:t>: Schema flexibility, aggregation pipelines, and performance for large volumes.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/>
              <a:t>Graph databases </a:t>
            </a:r>
            <a:r>
              <a:rPr lang="en"/>
              <a:t>like Neo4j bring a dimension of </a:t>
            </a:r>
            <a:r>
              <a:rPr lang="en">
                <a:highlight>
                  <a:schemeClr val="accent6"/>
                </a:highlight>
              </a:rPr>
              <a:t>data analysis</a:t>
            </a:r>
            <a:r>
              <a:rPr lang="en"/>
              <a:t> modeled in the form of graphs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graph data science &amp; knowledge graphs</a:t>
            </a:r>
            <a:endParaRPr/>
          </a:p>
        </p:txBody>
      </p:sp>
      <p:sp>
        <p:nvSpPr>
          <p:cNvPr id="159" name="Google Shape;159;p25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SQL vs MongoDB vs Neo4j</a:t>
            </a:r>
            <a:endParaRPr/>
          </a:p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idx="1" type="body"/>
          </p:nvPr>
        </p:nvSpPr>
        <p:spPr>
          <a:xfrm>
            <a:off x="311700" y="885325"/>
            <a:ext cx="8520600" cy="29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Analyze complex data modeled in the form of graphs.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algorithms </a:t>
            </a:r>
            <a:r>
              <a:rPr lang="en"/>
              <a:t>for identifying patterns, communities or anomalies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Study </a:t>
            </a:r>
            <a:r>
              <a:rPr lang="en"/>
              <a:t>of relationships between entities (nodes) and their connections (edges) to extract information.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analysis,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community detection,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link prediction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Applications </a:t>
            </a:r>
            <a:r>
              <a:rPr lang="en"/>
              <a:t>: social networks, bioinformatics, product recommendations, etc.</a:t>
            </a:r>
            <a:endParaRPr/>
          </a:p>
        </p:txBody>
      </p:sp>
      <p:sp>
        <p:nvSpPr>
          <p:cNvPr id="166" name="Google Shape;166;p26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Graph data science</a:t>
            </a:r>
            <a:endParaRPr/>
          </a:p>
        </p:txBody>
      </p:sp>
      <p:sp>
        <p:nvSpPr>
          <p:cNvPr id="167" name="Google Shape;167;p26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/>
        </p:nvSpPr>
        <p:spPr>
          <a:xfrm>
            <a:off x="67975" y="1045925"/>
            <a:ext cx="54987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>
              <a:rPr b="1" i="0" lang="en" sz="1200" u="none" cap="none" strike="noStrike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Centrality</a:t>
            </a:r>
            <a:r>
              <a:rPr b="0" i="0" lang="en" sz="1200" u="none" cap="none" strike="noStrike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Algorithms: Find important/influential nodes in network</a:t>
            </a:r>
            <a:endParaRPr b="0" i="0" sz="1200" u="none" cap="none" strike="noStrike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>
              <a:rPr b="1" i="0" lang="en" sz="1200" u="none" cap="none" strike="noStrike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Community Detection</a:t>
            </a:r>
            <a:r>
              <a:rPr b="0" i="0" lang="en" sz="1200" u="none" cap="none" strike="noStrike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: Identify groups of densely connected nodes</a:t>
            </a:r>
            <a:endParaRPr b="0" i="0" sz="1200" u="none" cap="none" strike="noStrike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>
              <a:rPr b="1" i="0" lang="en" sz="1200" u="none" cap="none" strike="noStrike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Path Finding</a:t>
            </a:r>
            <a:r>
              <a:rPr b="0" i="0" lang="en" sz="1200" u="none" cap="none" strike="noStrike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: Discover optimal routes between nodes</a:t>
            </a:r>
            <a:endParaRPr b="0" i="0" sz="1200" u="none" cap="none" strike="noStrike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>
              <a:rPr b="1" i="0" lang="en" sz="1200" u="none" cap="none" strike="noStrike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Similarity</a:t>
            </a:r>
            <a:r>
              <a:rPr b="0" i="0" lang="en" sz="1200" u="none" cap="none" strike="noStrike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 Algorithms: Calculate how similar nodes/communities are</a:t>
            </a:r>
            <a:endParaRPr b="0" i="0" sz="1200" u="none" cap="none" strike="noStrike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>
              <a:rPr b="1" i="0" lang="en" sz="1200" u="none" cap="none" strike="noStrike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Machine Learning</a:t>
            </a:r>
            <a:r>
              <a:rPr b="0" i="0" lang="en" sz="1200" u="none" cap="none" strike="noStrike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: Node embeddings and predictions</a:t>
            </a:r>
            <a:endParaRPr b="0" i="0" sz="1200" u="none" cap="none" strike="noStrike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>
              <a:rPr b="1" i="0" lang="en" sz="1200" u="none" cap="none" strike="noStrike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Node Embedding</a:t>
            </a:r>
            <a:r>
              <a:rPr b="0" i="0" lang="en" sz="1200" u="none" cap="none" strike="noStrike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: Convert graph structure to vector space</a:t>
            </a:r>
            <a:endParaRPr b="0" i="0" sz="1200" u="none" cap="none" strike="noStrike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1E29"/>
              </a:buClr>
              <a:buSzPts val="1200"/>
              <a:buFont typeface="Helvetica Neue"/>
              <a:buChar char="●"/>
            </a:pPr>
            <a:r>
              <a:rPr b="1" i="0" lang="en" sz="1200" u="none" cap="none" strike="noStrike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Link Prediction</a:t>
            </a:r>
            <a:r>
              <a:rPr b="0" i="0" lang="en" sz="1200" u="none" cap="none" strike="noStrike">
                <a:solidFill>
                  <a:srgbClr val="151E29"/>
                </a:solidFill>
                <a:highlight>
                  <a:srgbClr val="FFFCF4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: Predict future/missing relationships</a:t>
            </a:r>
            <a:endParaRPr b="0" i="0" sz="1200" u="none" cap="none" strike="noStrike">
              <a:solidFill>
                <a:srgbClr val="151E29"/>
              </a:solidFill>
              <a:highlight>
                <a:srgbClr val="FFFCF4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p27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Graph data science</a:t>
            </a:r>
            <a:endParaRPr/>
          </a:p>
        </p:txBody>
      </p:sp>
      <p:sp>
        <p:nvSpPr>
          <p:cNvPr id="174" name="Google Shape;174;p27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" name="Google Shape;175;p27"/>
          <p:cNvSpPr txBox="1"/>
          <p:nvPr/>
        </p:nvSpPr>
        <p:spPr>
          <a:xfrm>
            <a:off x="533400" y="3581400"/>
            <a:ext cx="546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https://neo4j.com/use-cases/knowledge-graph/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8700" y="817325"/>
            <a:ext cx="3372899" cy="3095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Analysis algorithms</a:t>
            </a:r>
            <a:endParaRPr/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311700" y="809125"/>
            <a:ext cx="85206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Traversal </a:t>
            </a:r>
            <a:r>
              <a:rPr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BFS (Breadth-First Search), DFS (Depth-First Search),</a:t>
            </a:r>
            <a:endParaRPr b="1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Shortest Path </a:t>
            </a:r>
            <a:r>
              <a:rPr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Dijkstra, Bellman-Ford, A*</a:t>
            </a:r>
            <a:endParaRPr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Minimum Spanning Tree </a:t>
            </a:r>
            <a:r>
              <a:rPr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Kruskal, Prim, 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link </a:t>
            </a:r>
            <a:r>
              <a:rPr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wikipedia</a:t>
            </a:r>
            <a:endParaRPr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Centrality Measures </a:t>
            </a:r>
            <a:r>
              <a:rPr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Degree, Betweenness, Closeness, Eigenvector</a:t>
            </a:r>
            <a:endParaRPr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Arial"/>
              <a:buChar char="●"/>
            </a:pPr>
            <a:r>
              <a:rPr b="1"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Community Detection </a:t>
            </a:r>
            <a:r>
              <a:rPr lang="en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: Search for clusters or groups of nodes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83" name="Google Shape;183;p28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" name="Google Shape;18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0700" y="2697625"/>
            <a:ext cx="3818788" cy="215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/>
        </p:nvSpPr>
        <p:spPr>
          <a:xfrm>
            <a:off x="129575" y="922575"/>
            <a:ext cx="38040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Structured representation of facts and relationships between entities.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800"/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Nodes (Entities): People, places, objects, concepts.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Edges (Relationships): How entities are connected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Paris is the capital of France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use knowledge graphs?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reasoning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inference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0" y="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7425" y="853500"/>
            <a:ext cx="5190374" cy="2919906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9"/>
          <p:cNvSpPr txBox="1"/>
          <p:nvPr/>
        </p:nvSpPr>
        <p:spPr>
          <a:xfrm>
            <a:off x="4252425" y="480480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https://zilliz.com/learn/what-is-knowledge-graph</a:t>
            </a:r>
            <a:r>
              <a:rPr b="0" i="0" lang="en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9"/>
          <p:cNvSpPr txBox="1"/>
          <p:nvPr>
            <p:ph type="title"/>
          </p:nvPr>
        </p:nvSpPr>
        <p:spPr>
          <a:xfrm>
            <a:off x="6900" y="-12175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Knowledge Graphs</a:t>
            </a:r>
            <a:endParaRPr/>
          </a:p>
        </p:txBody>
      </p:sp>
      <p:sp>
        <p:nvSpPr>
          <p:cNvPr id="194" name="Google Shape;194;p2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/>
          <p:nvPr/>
        </p:nvSpPr>
        <p:spPr>
          <a:xfrm>
            <a:off x="53375" y="922575"/>
            <a:ext cx="5356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 is an API!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https://developers.google.com/knowledge-graph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0"/>
          <p:cNvSpPr txBox="1"/>
          <p:nvPr/>
        </p:nvSpPr>
        <p:spPr>
          <a:xfrm>
            <a:off x="0" y="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0"/>
          <p:cNvSpPr txBox="1"/>
          <p:nvPr>
            <p:ph type="title"/>
          </p:nvPr>
        </p:nvSpPr>
        <p:spPr>
          <a:xfrm>
            <a:off x="6900" y="-12175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Google Knowledge Graphs</a:t>
            </a:r>
            <a:endParaRPr/>
          </a:p>
        </p:txBody>
      </p:sp>
      <p:sp>
        <p:nvSpPr>
          <p:cNvPr id="202" name="Google Shape;202;p30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3" name="Google Shape;20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81400" y="597675"/>
            <a:ext cx="5566802" cy="4118024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0"/>
          <p:cNvSpPr txBox="1"/>
          <p:nvPr/>
        </p:nvSpPr>
        <p:spPr>
          <a:xfrm>
            <a:off x="3505200" y="4648200"/>
            <a:ext cx="4363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https://www.google.com/search?q=Neo4j</a:t>
            </a:r>
            <a:r>
              <a:rPr b="0" i="0" lang="en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2"/>
          <p:cNvSpPr txBox="1"/>
          <p:nvPr/>
        </p:nvSpPr>
        <p:spPr>
          <a:xfrm>
            <a:off x="2052700" y="4427150"/>
            <a:ext cx="5696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from </a:t>
            </a:r>
            <a:r>
              <a:rPr b="0" i="0" lang="en" sz="1100" u="sng" cap="none" strike="noStrike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/>
              </a:rPr>
              <a:t>Algorithms and Software for the Analysis of Large Complex Networks</a:t>
            </a:r>
            <a:endParaRPr b="0" i="0" sz="11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" name="Google Shape;216;p32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Graph</a:t>
            </a:r>
            <a:endParaRPr/>
          </a:p>
        </p:txBody>
      </p:sp>
      <p:sp>
        <p:nvSpPr>
          <p:cNvPr id="217" name="Google Shape;217;p32"/>
          <p:cNvSpPr txBox="1"/>
          <p:nvPr>
            <p:ph idx="1" type="body"/>
          </p:nvPr>
        </p:nvSpPr>
        <p:spPr>
          <a:xfrm>
            <a:off x="311700" y="1266325"/>
            <a:ext cx="8520600" cy="140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Nodes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/>
              <a:t>&amp;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rPr lang="en"/>
              <a:t>Edges</a:t>
            </a:r>
            <a:endParaRPr/>
          </a:p>
        </p:txBody>
      </p:sp>
      <p:sp>
        <p:nvSpPr>
          <p:cNvPr id="218" name="Google Shape;218;p32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9" name="Google Shape;219;p32" title="A-node-edge-diagram-of-the-dolphin-social-network-Node-labels-are-the-names-researchers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6400" y="188149"/>
            <a:ext cx="6215200" cy="312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2"/>
          <p:cNvSpPr txBox="1"/>
          <p:nvPr/>
        </p:nvSpPr>
        <p:spPr>
          <a:xfrm>
            <a:off x="2061925" y="3524425"/>
            <a:ext cx="646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 node-edge diagram of the </a:t>
            </a:r>
            <a:r>
              <a:rPr b="1" i="0" lang="en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dolphin social network. </a:t>
            </a:r>
            <a:br>
              <a:rPr b="0" i="0" lang="en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Node labels are the names researchers assigned to the individual dolphins. </a:t>
            </a:r>
            <a:br>
              <a:rPr b="0" i="0" lang="en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400" u="none" cap="none" strike="noStrike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Node color indicates male (pink), female (blue) or unknown (gray).</a:t>
            </a:r>
            <a:endParaRPr b="0" i="0" sz="1400" u="none" cap="none" strike="noStrike">
              <a:solidFill>
                <a:srgbClr val="9999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3" title="le-malade-imaginair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00406" y="844425"/>
            <a:ext cx="3461769" cy="32322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3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Graphs in Neo4J: weights, properties, labels</a:t>
            </a:r>
            <a:endParaRPr/>
          </a:p>
        </p:txBody>
      </p:sp>
      <p:sp>
        <p:nvSpPr>
          <p:cNvPr id="227" name="Google Shape;227;p33"/>
          <p:cNvSpPr txBox="1"/>
          <p:nvPr>
            <p:ph idx="1" type="body"/>
          </p:nvPr>
        </p:nvSpPr>
        <p:spPr>
          <a:xfrm>
            <a:off x="311700" y="1266325"/>
            <a:ext cx="8520600" cy="1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600"/>
              <a:t>Nodes and relationships (edges) can have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weights according to their relative importance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properties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labels</a:t>
            </a:r>
            <a:endParaRPr sz="1600"/>
          </a:p>
        </p:txBody>
      </p:sp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3"/>
          <p:cNvSpPr txBox="1"/>
          <p:nvPr/>
        </p:nvSpPr>
        <p:spPr>
          <a:xfrm>
            <a:off x="152400" y="2743200"/>
            <a:ext cx="5895000" cy="1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Relations are </a:t>
            </a:r>
            <a:r>
              <a:rPr b="1" i="0" lang="en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verbs </a:t>
            </a:r>
            <a:r>
              <a:rPr b="0" i="0" lang="en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or </a:t>
            </a:r>
            <a:r>
              <a:rPr b="1" i="0" lang="en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verb phrases</a:t>
            </a:r>
            <a:r>
              <a:rPr b="0" i="0" lang="en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which describe the action, the connection between the nodes.</a:t>
            </a:r>
            <a:endParaRPr b="0" i="0" sz="16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They define the semantic meaning of how nodes interact. Like verbs in sentences, they must be clear and specific about the nature of the relationship.</a:t>
            </a:r>
            <a:endParaRPr b="0" i="0" sz="16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3"/>
          <p:cNvSpPr txBox="1"/>
          <p:nvPr/>
        </p:nvSpPr>
        <p:spPr>
          <a:xfrm>
            <a:off x="5820050" y="4239175"/>
            <a:ext cx="3130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Moliere.love</a:t>
            </a:r>
            <a:endParaRPr b="0" i="0" sz="18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9275" y="-53750"/>
            <a:ext cx="7261174" cy="541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5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Example of the Paris metro</a:t>
            </a:r>
            <a:endParaRPr/>
          </a:p>
        </p:txBody>
      </p:sp>
      <p:sp>
        <p:nvSpPr>
          <p:cNvPr id="241" name="Google Shape;241;p35"/>
          <p:cNvSpPr txBox="1"/>
          <p:nvPr>
            <p:ph idx="1" type="body"/>
          </p:nvPr>
        </p:nvSpPr>
        <p:spPr>
          <a:xfrm>
            <a:off x="311700" y="885325"/>
            <a:ext cx="8520600" cy="20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600">
                <a:latin typeface="Calibri"/>
                <a:ea typeface="Calibri"/>
                <a:cs typeface="Calibri"/>
                <a:sym typeface="Calibri"/>
              </a:rPr>
              <a:t>Knots</a:t>
            </a:r>
            <a:endParaRPr b="1" sz="16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labels: Metro / RER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n" sz="1400">
                <a:latin typeface="Calibri"/>
                <a:ea typeface="Calibri"/>
                <a:cs typeface="Calibri"/>
                <a:sym typeface="Calibri"/>
              </a:rPr>
              <a:t>properties: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name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accessibility,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overhead or underground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○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event properties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5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35"/>
          <p:cNvSpPr txBox="1"/>
          <p:nvPr/>
        </p:nvSpPr>
        <p:spPr>
          <a:xfrm>
            <a:off x="4876800" y="838200"/>
            <a:ext cx="4028100" cy="18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Relationships</a:t>
            </a:r>
            <a:endParaRPr b="1" i="0" sz="10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FF"/>
              </a:buClr>
              <a:buSzPts val="1050"/>
              <a:buFont typeface="Calibri"/>
              <a:buChar char="●"/>
            </a:pPr>
            <a:r>
              <a:rPr b="0" i="0" lang="en" sz="105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BELONGS_TO_LINE</a:t>
            </a:r>
            <a:endParaRPr b="0" i="0" sz="105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○"/>
            </a:pPr>
            <a:r>
              <a:rPr b="0" i="0" lang="en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properties: line number, maintenance time, distance</a:t>
            </a:r>
            <a:endParaRPr b="0" i="0" sz="10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50"/>
              <a:buFont typeface="Calibri"/>
              <a:buChar char="●"/>
            </a:pPr>
            <a:r>
              <a:rPr b="0" i="0" lang="en" sz="105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PASSENGER_CONNECTS_TO</a:t>
            </a:r>
            <a:endParaRPr b="0" i="0" sz="105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○"/>
            </a:pPr>
            <a:r>
              <a:rPr b="0" i="0" lang="en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can be unidirectional or both ways</a:t>
            </a:r>
            <a:endParaRPr b="0" i="0" sz="10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○"/>
            </a:pPr>
            <a:r>
              <a:rPr b="0" i="0" lang="en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properties: distance, stairs, ...</a:t>
            </a:r>
            <a:endParaRPr b="0" i="0" sz="10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050"/>
              <a:buFont typeface="Calibri"/>
              <a:buChar char="●"/>
            </a:pPr>
            <a:r>
              <a:rPr b="0" i="0" lang="en" sz="1050" u="none" cap="none" strike="noStrike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CONNECTS_TO_LINE</a:t>
            </a:r>
            <a:endParaRPr b="0" i="0" sz="1050" u="none" cap="none" strike="noStrike">
              <a:solidFill>
                <a:srgbClr val="0000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50"/>
              <a:buFont typeface="Calibri"/>
              <a:buChar char="○"/>
            </a:pPr>
            <a:r>
              <a:rPr b="0" i="0" lang="en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properties: line number, ...</a:t>
            </a:r>
            <a:endParaRPr b="0" i="0" sz="105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5"/>
          <p:cNvSpPr txBox="1"/>
          <p:nvPr/>
        </p:nvSpPr>
        <p:spPr>
          <a:xfrm>
            <a:off x="347275" y="3113800"/>
            <a:ext cx="8444400" cy="1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Relationship </a:t>
            </a:r>
            <a:r>
              <a:rPr b="1" i="0" lang="en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types </a:t>
            </a:r>
            <a:r>
              <a:rPr b="0" i="0" lang="en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(BELONGS_TO_LINE, PASSENGER_CONNECTS_TO, CONNECTS_TO_LINE) are </a:t>
            </a:r>
            <a:r>
              <a:rPr b="1" i="0" lang="en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verbs </a:t>
            </a:r>
            <a:r>
              <a:rPr b="0" i="0" lang="en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or </a:t>
            </a:r>
            <a:r>
              <a:rPr b="1" i="0" lang="en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verb phrases </a:t>
            </a:r>
            <a:r>
              <a:rPr b="0" i="0" lang="en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that describe the action, the connection between nodes.</a:t>
            </a:r>
            <a:endParaRPr b="0" i="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They define the semantic meaning of how nodes interact.</a:t>
            </a:r>
            <a:endParaRPr b="0" i="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Like verbs in sentences, they should be clear and specific about the nature of the relationship.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Theater</a:t>
            </a:r>
            <a:endParaRPr/>
          </a:p>
        </p:txBody>
      </p:sp>
      <p:sp>
        <p:nvSpPr>
          <p:cNvPr id="250" name="Google Shape;250;p36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36"/>
          <p:cNvSpPr txBox="1"/>
          <p:nvPr/>
        </p:nvSpPr>
        <p:spPr>
          <a:xfrm>
            <a:off x="2161450" y="4010575"/>
            <a:ext cx="435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from </a:t>
            </a:r>
            <a:r>
              <a:rPr b="0" i="0" lang="en" sz="18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3"/>
              </a:rPr>
              <a:t>Moliere.love</a:t>
            </a:r>
            <a:endParaRPr b="0" i="0" sz="18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52" name="Google Shape;25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817325"/>
            <a:ext cx="3124199" cy="265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48199" y="741125"/>
            <a:ext cx="4058681" cy="304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7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Neo4J: Property Graph Model or KG</a:t>
            </a:r>
            <a:endParaRPr/>
          </a:p>
        </p:txBody>
      </p:sp>
      <p:sp>
        <p:nvSpPr>
          <p:cNvPr id="259" name="Google Shape;259;p37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37"/>
          <p:cNvSpPr txBox="1"/>
          <p:nvPr>
            <p:ph idx="1" type="body"/>
          </p:nvPr>
        </p:nvSpPr>
        <p:spPr>
          <a:xfrm>
            <a:off x="311700" y="809125"/>
            <a:ext cx="8520600" cy="3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Makes a Graph in Neo4j a "Knowledge Graph" vs. Just a Graph?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Semantics &amp; Ontology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your Neo4j graph follows 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formal ontology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(eg, "Person" → "won" → "Award"), then it is a proper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knowledge graph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it's just a graph without clear entity relationships, it's 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graph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Querying for Facts &amp; Reasoning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use Neo4j to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infer new facts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(eg, "If Einstein won the Nobel Prize, he must have been a scientist"), it's closer to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knowledge graph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you use Neo4j for network analysis (eg, shortest path between nodes), it's just a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 database application 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So, Is Every Graph in Neo4j a Knowledge Graph?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Yes, if it represents structured knowledge and relationships. </a:t>
            </a:r>
            <a:b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No, if it's just a general graph for things like social networks, logistics, or recommendation systems.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short: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Neo4j CAN store and query knowledge graphs.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it can also be used for non-KG applications.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Use cases</a:t>
            </a:r>
            <a:endParaRPr/>
          </a:p>
        </p:txBody>
      </p:sp>
      <p:sp>
        <p:nvSpPr>
          <p:cNvPr id="266" name="Google Shape;266;p38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38"/>
          <p:cNvSpPr txBox="1"/>
          <p:nvPr/>
        </p:nvSpPr>
        <p:spPr>
          <a:xfrm>
            <a:off x="3352800" y="35814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https://neo4j.com/graphgists/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https://neo4j.com/use-cases/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9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Investigative journalism - </a:t>
            </a:r>
            <a:r>
              <a:rPr lang="en" sz="2300" u="sng">
                <a:solidFill>
                  <a:schemeClr val="hlink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The Panama Papers</a:t>
            </a:r>
            <a:endParaRPr/>
          </a:p>
        </p:txBody>
      </p:sp>
      <p:sp>
        <p:nvSpPr>
          <p:cNvPr id="273" name="Google Shape;273;p39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4" name="Google Shape;274;p39" title="panama-papers-graphgis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07250" y="983200"/>
            <a:ext cx="5001119" cy="303357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9"/>
          <p:cNvSpPr txBox="1"/>
          <p:nvPr/>
        </p:nvSpPr>
        <p:spPr>
          <a:xfrm>
            <a:off x="304800" y="990600"/>
            <a:ext cx="3758700" cy="3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Happened?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Leak: 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11.5 million documents (2.6 TB) from Mossack Fonseca.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Revealed: 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Offshore companies used for </a:t>
            </a: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tax evasion, money laundering, and corruption 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Investigated by: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ICIJ + 400+ journalists 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across </a:t>
            </a: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80+ countries 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Use Neo4j?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databases fail </a:t>
            </a: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due to complex relationships.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Graph database = better for uncovering hidden networks.</a:t>
            </a:r>
            <a:endParaRPr b="1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Panama Papers</a:t>
            </a:r>
            <a:endParaRPr/>
          </a:p>
        </p:txBody>
      </p:sp>
      <p:sp>
        <p:nvSpPr>
          <p:cNvPr id="281" name="Google Shape;281;p40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40"/>
          <p:cNvSpPr txBox="1"/>
          <p:nvPr/>
        </p:nvSpPr>
        <p:spPr>
          <a:xfrm>
            <a:off x="152400" y="914400"/>
            <a:ext cx="4498200" cy="26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Graph-Based Investigation</a:t>
            </a:r>
            <a:endParaRPr b="1" i="0" sz="13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●"/>
            </a:pPr>
            <a:r>
              <a:rPr b="1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Nodes: </a:t>
            </a: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People, companies, addresses, banks.</a:t>
            </a:r>
            <a:endParaRPr b="0" i="0" sz="13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●"/>
            </a:pPr>
            <a:r>
              <a:rPr b="1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Edges: </a:t>
            </a: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Relationships like </a:t>
            </a:r>
            <a:r>
              <a:rPr b="0" i="1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"owns" </a:t>
            </a: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"directs" </a:t>
            </a: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1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"registered at" </a:t>
            </a: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Key Techniques</a:t>
            </a:r>
            <a:endParaRPr b="1" i="0" sz="13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●"/>
            </a:pPr>
            <a:r>
              <a:rPr b="1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Pattern discovery: </a:t>
            </a: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Found secret owners of offshore firms.</a:t>
            </a:r>
            <a:endParaRPr b="0" i="0" sz="13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●"/>
            </a:pPr>
            <a:r>
              <a:rPr b="1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Cypher queries: </a:t>
            </a: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Traced hidden financial flows.</a:t>
            </a:r>
            <a:endParaRPr b="0" i="0" sz="13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Font typeface="Arial"/>
              <a:buChar char="●"/>
            </a:pPr>
            <a:r>
              <a:rPr b="1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Visualization: </a:t>
            </a: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Used </a:t>
            </a:r>
            <a:r>
              <a:rPr b="1" i="0" lang="en" sz="13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Linkurious </a:t>
            </a: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for easy exploration.</a:t>
            </a:r>
            <a:endParaRPr b="0" i="0" sz="13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40"/>
          <p:cNvSpPr txBox="1"/>
          <p:nvPr/>
        </p:nvSpPr>
        <p:spPr>
          <a:xfrm>
            <a:off x="5061425" y="982800"/>
            <a:ext cx="3714300" cy="26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Major Discoveries</a:t>
            </a:r>
            <a:endParaRPr b="1" i="0" sz="13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✔ </a:t>
            </a:r>
            <a:r>
              <a:rPr b="1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143 politicians </a:t>
            </a: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&amp; world leaders involved. </a:t>
            </a:r>
            <a:b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✔ </a:t>
            </a:r>
            <a:r>
              <a:rPr b="1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Banks &amp; law firms enabled </a:t>
            </a: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tax havens. </a:t>
            </a:r>
            <a:b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✔ </a:t>
            </a:r>
            <a:r>
              <a:rPr b="1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Complex money trails exposed </a:t>
            </a: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Global Impact</a:t>
            </a:r>
            <a:endParaRPr b="1" i="0" sz="13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🔥 </a:t>
            </a:r>
            <a:r>
              <a:rPr b="1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$1.36B recovered </a:t>
            </a: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in unpaid taxes. </a:t>
            </a:r>
            <a:b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🔥 </a:t>
            </a:r>
            <a:r>
              <a:rPr b="1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Iceland's PM resigned </a:t>
            </a: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, global investigations launched. </a:t>
            </a:r>
            <a:b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🔥 Led to </a:t>
            </a:r>
            <a:r>
              <a:rPr b="1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Paradise Papers &amp; Pandora Papers </a:t>
            </a:r>
            <a:r>
              <a:rPr b="0" i="0" lang="en" sz="13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Fraud detection</a:t>
            </a:r>
            <a:endParaRPr/>
          </a:p>
        </p:txBody>
      </p:sp>
      <p:sp>
        <p:nvSpPr>
          <p:cNvPr id="289" name="Google Shape;289;p41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Build Intelligent Fraud Detection Apps With Graph&#10;Fraudsters operate in rings, not in isolation. Build apps that uncover patterns in your data to identify sophisticated scams other tools miss.&#10;&#10;Learn more: https://bit.ly/3Zg3uU1" id="290" name="Google Shape;290;p41" title="Neo4j for Fraud Detection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3900" y="1038525"/>
            <a:ext cx="6212750" cy="349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Characteristics</a:t>
            </a:r>
            <a:endParaRPr/>
          </a:p>
        </p:txBody>
      </p:sp>
      <p:sp>
        <p:nvSpPr>
          <p:cNvPr id="296" name="Google Shape;296;p42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3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Property Graph Model</a:t>
            </a:r>
            <a:endParaRPr/>
          </a:p>
        </p:txBody>
      </p:sp>
      <p:sp>
        <p:nvSpPr>
          <p:cNvPr id="302" name="Google Shape;302;p43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3" name="Google Shape;303;p43"/>
          <p:cNvSpPr txBox="1"/>
          <p:nvPr/>
        </p:nvSpPr>
        <p:spPr>
          <a:xfrm>
            <a:off x="304800" y="3048000"/>
            <a:ext cx="546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https://neo4j.com/use-cases/knowledge-graph/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59750" y="501949"/>
            <a:ext cx="3731851" cy="327887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43"/>
          <p:cNvSpPr txBox="1"/>
          <p:nvPr/>
        </p:nvSpPr>
        <p:spPr>
          <a:xfrm>
            <a:off x="315175" y="1122125"/>
            <a:ext cx="417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No need to store </a:t>
            </a:r>
            <a:r>
              <a:rPr b="0" i="1" lang="e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natural </a:t>
            </a:r>
            <a:r>
              <a:rPr b="0" i="0" lang="e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objects into tables, foreign keys, etc.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Relationships express themselves naturally</a:t>
            </a:r>
            <a:endParaRPr b="0" i="0" sz="14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4"/>
          <p:cNvSpPr txBox="1"/>
          <p:nvPr/>
        </p:nvSpPr>
        <p:spPr>
          <a:xfrm>
            <a:off x="300475" y="1045925"/>
            <a:ext cx="42711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Same</a:t>
            </a:r>
            <a:r>
              <a:rPr b="0"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flexible schema notion</a:t>
            </a:r>
            <a:r>
              <a:rPr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we </a:t>
            </a:r>
            <a:r>
              <a:rPr lang="en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saw in </a:t>
            </a:r>
            <a:r>
              <a:rPr b="0"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dded ease of modifying relationships between objects.</a:t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In this example we transform a </a:t>
            </a:r>
            <a:r>
              <a:rPr b="1"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one to many relationship into a many to many </a:t>
            </a:r>
            <a:r>
              <a:rPr b="0"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relationship by creating only one additional relationship</a:t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Node and relationship attributes can also evolve without constraints</a:t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4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Flexible schema</a:t>
            </a:r>
            <a:endParaRPr/>
          </a:p>
        </p:txBody>
      </p:sp>
      <p:sp>
        <p:nvSpPr>
          <p:cNvPr id="312" name="Google Shape;312;p44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3" name="Google Shape;31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733025"/>
            <a:ext cx="4507251" cy="3347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15649" y="389050"/>
            <a:ext cx="4021200" cy="3975949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45"/>
          <p:cNvSpPr txBox="1"/>
          <p:nvPr/>
        </p:nvSpPr>
        <p:spPr>
          <a:xfrm>
            <a:off x="148075" y="1045925"/>
            <a:ext cx="52662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Nodes directly reference their relationships without using index lookups.</a:t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When a node needs to find its neighbors:</a:t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Calibri"/>
              <a:buChar char="●"/>
            </a:pPr>
            <a:r>
              <a:rPr b="0"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It directly follows physical </a:t>
            </a:r>
            <a:r>
              <a:rPr b="1"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pointers</a:t>
            </a:r>
            <a:r>
              <a:rPr b="0"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 to connected nodes</a:t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Calibri"/>
              <a:buChar char="●"/>
            </a:pPr>
            <a:r>
              <a:rPr b="0"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Avoids expensive index lookups required in relational databases</a:t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Constant travel time regardless of base size</a:t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5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The relationship is a kind of micro index</a:t>
            </a:r>
            <a:endParaRPr b="0" i="0" sz="15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45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Free Adjency Index</a:t>
            </a:r>
            <a:endParaRPr/>
          </a:p>
        </p:txBody>
      </p:sp>
      <p:sp>
        <p:nvSpPr>
          <p:cNvPr id="321" name="Google Shape;321;p45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Tools &amp; Ecosystem</a:t>
            </a:r>
            <a:endParaRPr/>
          </a:p>
        </p:txBody>
      </p:sp>
      <p:sp>
        <p:nvSpPr>
          <p:cNvPr id="327" name="Google Shape;327;p46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7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core platforms</a:t>
            </a:r>
            <a:endParaRPr/>
          </a:p>
        </p:txBody>
      </p:sp>
      <p:sp>
        <p:nvSpPr>
          <p:cNvPr id="333" name="Google Shape;333;p47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47"/>
          <p:cNvSpPr txBox="1"/>
          <p:nvPr/>
        </p:nvSpPr>
        <p:spPr>
          <a:xfrm>
            <a:off x="1066800" y="1219200"/>
            <a:ext cx="67587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0" i="0" lang="en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Neo4j </a:t>
            </a:r>
            <a:r>
              <a:rPr b="0" i="0" lang="e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Graph Database (Community &amp; Enterprise): a native graph database that stores and processes connected data</a:t>
            </a:r>
            <a:endParaRPr b="0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Char char="●"/>
            </a:pPr>
            <a:r>
              <a:rPr b="0" i="0" lang="en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GraphAcademy </a:t>
            </a:r>
            <a:r>
              <a:rPr b="0" i="0" lang="e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Free official learning platform with structured courses and certifications</a:t>
            </a:r>
            <a:endParaRPr b="0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0" i="0" lang="en" sz="16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Neo4j AuraDB </a:t>
            </a:r>
            <a:r>
              <a:rPr b="0" i="0" lang="e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Fully managed cloud service that handles infrastructure, updates, and scaling automatically</a:t>
            </a:r>
            <a:endParaRPr b="0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0" i="0" lang="en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Cypher </a:t>
            </a:r>
            <a:r>
              <a:rPr b="0" i="0" lang="e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Declarative graph query language designed to be visual and intuitive, like ASCII art for queries</a:t>
            </a:r>
            <a:endParaRPr b="0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8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Tools</a:t>
            </a:r>
            <a:endParaRPr/>
          </a:p>
        </p:txBody>
      </p:sp>
      <p:sp>
        <p:nvSpPr>
          <p:cNvPr id="340" name="Google Shape;340;p48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1" name="Google Shape;341;p48"/>
          <p:cNvSpPr txBox="1"/>
          <p:nvPr/>
        </p:nvSpPr>
        <p:spPr>
          <a:xfrm>
            <a:off x="1066800" y="762000"/>
            <a:ext cx="72054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0" i="0" lang="en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Neo4j Desktop </a:t>
            </a:r>
            <a:r>
              <a:rPr b="0" i="0" lang="e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All-in-one development environment for local database management and project organization</a:t>
            </a:r>
            <a:endParaRPr b="0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0" i="0" lang="en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Neo4j Browser </a:t>
            </a:r>
            <a:r>
              <a:rPr b="0" i="0" lang="e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Web-based interface for writing queries, visualizing results, and exploring your graph</a:t>
            </a:r>
            <a:endParaRPr b="0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Char char="●"/>
            </a:pPr>
            <a:r>
              <a:rPr b="0" i="0" lang="e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Neo4j Bloom: Business-friendly tool for visual graph exploration without writing queries</a:t>
            </a:r>
            <a:endParaRPr b="0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0" i="0" lang="en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APOC library </a:t>
            </a:r>
            <a:r>
              <a:rPr b="0" i="0" lang="e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Swiss army knife of useful functions that extend Neo4j's capabilities</a:t>
            </a:r>
            <a:endParaRPr b="0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b="0" i="0" lang="en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GDS (Graph Data Science) </a:t>
            </a:r>
            <a:r>
              <a:rPr b="0" i="0" lang="e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library: Machine learning and graph algorithms for advanced analytics</a:t>
            </a:r>
            <a:endParaRPr b="0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Char char="●"/>
            </a:pPr>
            <a:r>
              <a:rPr b="0" i="0" lang="e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Official drivers: Native connectivity for major programming languages like Python, Java, JavaScript</a:t>
            </a:r>
            <a:endParaRPr b="0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Calibri"/>
              <a:buChar char="●"/>
            </a:pPr>
            <a:r>
              <a:rPr b="0" i="0" lang="en" sz="16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Arrows.app </a:t>
            </a:r>
            <a:r>
              <a:rPr b="0" i="0" lang="en" sz="1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: Free web-based tool for creating and sharing graph data models visually</a:t>
            </a:r>
            <a:endParaRPr b="0" i="0" sz="1600" u="none" cap="none" strike="noStrike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9"/>
          <p:cNvSpPr txBox="1"/>
          <p:nvPr>
            <p:ph type="title"/>
          </p:nvPr>
        </p:nvSpPr>
        <p:spPr>
          <a:xfrm>
            <a:off x="311700" y="1957800"/>
            <a:ext cx="8571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Practice</a:t>
            </a:r>
            <a:endParaRPr/>
          </a:p>
        </p:txBody>
      </p:sp>
      <p:sp>
        <p:nvSpPr>
          <p:cNvPr id="347" name="Google Shape;347;p49"/>
          <p:cNvSpPr txBox="1"/>
          <p:nvPr>
            <p:ph idx="12" type="sldNum"/>
          </p:nvPr>
        </p:nvSpPr>
        <p:spPr>
          <a:xfrm>
            <a:off x="8472458" y="4663217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50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Neo4j desktop</a:t>
            </a:r>
            <a:endParaRPr/>
          </a:p>
        </p:txBody>
      </p:sp>
      <p:sp>
        <p:nvSpPr>
          <p:cNvPr id="353" name="Google Shape;353;p50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4" name="Google Shape;354;p50"/>
          <p:cNvSpPr txBox="1"/>
          <p:nvPr/>
        </p:nvSpPr>
        <p:spPr>
          <a:xfrm>
            <a:off x="914400" y="1828800"/>
            <a:ext cx="684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https://neo4j.com/docs/desktop-manual/current/installation/download-installation/</a:t>
            </a: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1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Neo4j desktop</a:t>
            </a:r>
            <a:endParaRPr/>
          </a:p>
        </p:txBody>
      </p:sp>
      <p:sp>
        <p:nvSpPr>
          <p:cNvPr id="360" name="Google Shape;360;p51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1" name="Google Shape;36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512525"/>
            <a:ext cx="6271064" cy="4173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52"/>
          <p:cNvSpPr txBox="1"/>
          <p:nvPr>
            <p:ph type="title"/>
          </p:nvPr>
        </p:nvSpPr>
        <p:spPr>
          <a:xfrm>
            <a:off x="6900" y="-12175"/>
            <a:ext cx="8520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Network Dependency Graph</a:t>
            </a:r>
            <a:endParaRPr/>
          </a:p>
        </p:txBody>
      </p:sp>
      <p:sp>
        <p:nvSpPr>
          <p:cNvPr id="367" name="Google Shape;367;p52"/>
          <p:cNvSpPr txBox="1"/>
          <p:nvPr>
            <p:ph idx="1" type="body"/>
          </p:nvPr>
        </p:nvSpPr>
        <p:spPr>
          <a:xfrm>
            <a:off x="311700" y="1266325"/>
            <a:ext cx="8520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2400"/>
              </a:spcBef>
              <a:spcAft>
                <a:spcPts val="600"/>
              </a:spcAft>
              <a:buSzPts val="1800"/>
              <a:buNone/>
            </a:pPr>
            <a:r>
              <a:rPr lang="en" sz="2300" u="sng">
                <a:solidFill>
                  <a:schemeClr val="hlink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Network Dependency Graph</a:t>
            </a:r>
            <a:endParaRPr/>
          </a:p>
        </p:txBody>
      </p:sp>
      <p:sp>
        <p:nvSpPr>
          <p:cNvPr id="368" name="Google Shape;368;p52"/>
          <p:cNvSpPr txBox="1"/>
          <p:nvPr>
            <p:ph idx="12" type="sldNum"/>
          </p:nvPr>
        </p:nvSpPr>
        <p:spPr>
          <a:xfrm>
            <a:off x="8472458" y="4876319"/>
            <a:ext cx="54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69" name="Google Shape;369;p52" title="network-graphgis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907675"/>
            <a:ext cx="4209188" cy="30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2"/>
          <p:cNvSpPr txBox="1"/>
          <p:nvPr/>
        </p:nvSpPr>
        <p:spPr>
          <a:xfrm>
            <a:off x="391400" y="2688825"/>
            <a:ext cx="435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As a </a:t>
            </a:r>
            <a:r>
              <a:rPr b="0" i="0" lang="en" sz="1800" u="sng" cap="none" strike="noStrike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5"/>
              </a:rPr>
              <a:t>Colab notebook </a:t>
            </a:r>
            <a:r>
              <a:rPr b="0" i="0" lang="en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using the icypher extension</a:t>
            </a:r>
            <a:endParaRPr b="0" i="0" sz="18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
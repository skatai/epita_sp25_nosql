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y="5143500" cx="9144000"/>
  <p:notesSz cx="6858000" cy="9144000"/>
  <p:embeddedFontLst>
    <p:embeddedFont>
      <p:font typeface="Roboto"/>
      <p:regular r:id="rId46"/>
      <p:bold r:id="rId47"/>
      <p:italic r:id="rId48"/>
      <p:boldItalic r:id="rId49"/>
    </p:embeddedFont>
    <p:embeddedFont>
      <p:font typeface="PT Sans Narrow"/>
      <p:regular r:id="rId50"/>
      <p:bold r:id="rId51"/>
    </p:embeddedFont>
    <p:embeddedFont>
      <p:font typeface="Helvetica Neue"/>
      <p:regular r:id="rId52"/>
      <p:bold r:id="rId53"/>
      <p:italic r:id="rId54"/>
      <p:boldItalic r:id="rId55"/>
    </p:embeddedFont>
    <p:embeddedFont>
      <p:font typeface="Helvetica Neue Light"/>
      <p:regular r:id="rId56"/>
      <p:bold r:id="rId57"/>
      <p:italic r:id="rId58"/>
      <p:boldItalic r:id="rId59"/>
    </p:embeddedFont>
    <p:embeddedFont>
      <p:font typeface="Open Sans"/>
      <p:regular r:id="rId60"/>
      <p:bold r:id="rId61"/>
      <p:italic r:id="rId62"/>
      <p:boldItalic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font" Target="fonts/Roboto-regular.fntdata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oboto-italic.fntdata"/><Relationship Id="rId47" Type="http://schemas.openxmlformats.org/officeDocument/2006/relationships/font" Target="fonts/Roboto-bold.fntdata"/><Relationship Id="rId49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OpenSans-italic.fntdata"/><Relationship Id="rId61" Type="http://schemas.openxmlformats.org/officeDocument/2006/relationships/font" Target="fonts/OpenSans-bold.fntdata"/><Relationship Id="rId20" Type="http://schemas.openxmlformats.org/officeDocument/2006/relationships/slide" Target="slides/slide15.xml"/><Relationship Id="rId63" Type="http://schemas.openxmlformats.org/officeDocument/2006/relationships/font" Target="fonts/OpenSans-bold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OpenSans-regular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PTSansNarrow-bold.fntdata"/><Relationship Id="rId50" Type="http://schemas.openxmlformats.org/officeDocument/2006/relationships/font" Target="fonts/PTSansNarrow-regular.fntdata"/><Relationship Id="rId53" Type="http://schemas.openxmlformats.org/officeDocument/2006/relationships/font" Target="fonts/HelveticaNeue-bold.fntdata"/><Relationship Id="rId52" Type="http://schemas.openxmlformats.org/officeDocument/2006/relationships/font" Target="fonts/HelveticaNeue-regular.fntdata"/><Relationship Id="rId11" Type="http://schemas.openxmlformats.org/officeDocument/2006/relationships/slide" Target="slides/slide6.xml"/><Relationship Id="rId55" Type="http://schemas.openxmlformats.org/officeDocument/2006/relationships/font" Target="fonts/HelveticaNeue-boldItalic.fntdata"/><Relationship Id="rId10" Type="http://schemas.openxmlformats.org/officeDocument/2006/relationships/slide" Target="slides/slide5.xml"/><Relationship Id="rId54" Type="http://schemas.openxmlformats.org/officeDocument/2006/relationships/font" Target="fonts/HelveticaNeue-italic.fntdata"/><Relationship Id="rId13" Type="http://schemas.openxmlformats.org/officeDocument/2006/relationships/slide" Target="slides/slide8.xml"/><Relationship Id="rId57" Type="http://schemas.openxmlformats.org/officeDocument/2006/relationships/font" Target="fonts/HelveticaNeueLight-bold.fntdata"/><Relationship Id="rId12" Type="http://schemas.openxmlformats.org/officeDocument/2006/relationships/slide" Target="slides/slide7.xml"/><Relationship Id="rId56" Type="http://schemas.openxmlformats.org/officeDocument/2006/relationships/font" Target="fonts/HelveticaNeueLight-regular.fntdata"/><Relationship Id="rId15" Type="http://schemas.openxmlformats.org/officeDocument/2006/relationships/slide" Target="slides/slide10.xml"/><Relationship Id="rId59" Type="http://schemas.openxmlformats.org/officeDocument/2006/relationships/font" Target="fonts/HelveticaNeueLight-boldItalic.fntdata"/><Relationship Id="rId14" Type="http://schemas.openxmlformats.org/officeDocument/2006/relationships/slide" Target="slides/slide9.xml"/><Relationship Id="rId58" Type="http://schemas.openxmlformats.org/officeDocument/2006/relationships/font" Target="fonts/HelveticaNeueLight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af6bce1fe7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af6bce1fe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26d23b24d5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26d23b24d5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37e3de1aa0_0_1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37e3de1aa0_0_1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af6bce1fe7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af6bce1fe7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37e3de1aa0_0_1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37e3de1aa0_0_1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37e3de1aa0_0_1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37e3de1aa0_0_1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e3e37c2098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e3e37c2098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e3e37c2098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e3e37c2098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e3e37c2098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e3e37c2098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e3e37c2098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e3e37c2098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e3e37c2098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e3e37c2098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e3e37c2098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e3e37c2098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e3e37c2098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e3e37c2098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37e3de1aa0_0_1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37e3de1aa0_0_1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37e3de1aa0_0_1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37e3de1aa0_0_1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e3e37c2098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e3e37c2098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37e3de1aa0_0_1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37e3de1aa0_0_1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e3e37c2098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e3e37c2098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e3e37c2098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e3e37c2098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37e3de1aa0_0_1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37e3de1aa0_0_1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37e3de1aa0_0_1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37e3de1aa0_0_1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e3e37c2098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2e3e37c209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37e3de1aa0_0_1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37e3de1aa0_0_1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37e3de1aa0_0_1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37e3de1aa0_0_1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e3e37c2098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e3e37c2098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37e3de1aa0_0_1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37e3de1aa0_0_1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37e3de1aa0_0_1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37e3de1aa0_0_1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e3e37c2098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2e3e37c2098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37e3de1aa0_0_1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37e3de1aa0_0_1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37e3de1aa0_0_1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37e3de1aa0_0_1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37e3de1aa0_0_1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37e3de1aa0_0_1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37e3de1aa0_0_1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37e3de1aa0_0_1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37e3de1aa0_0_1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37e3de1aa0_0_1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2e3e37c2098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2e3e37c2098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e3e37c2098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2e3e37c2098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2e3e37c2098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2e3e37c2098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2e3e37c2098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2e3e37c2098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2e3e37c2098_0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2e3e37c2098_0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2e3e37c2098_0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2e3e37c2098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37e3de1aa0_0_1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37e3de1aa0_0_1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ithub.com/SkatAI/IPSA-NoSQL" TargetMode="Externa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957600"/>
            <a:ext cx="9144000" cy="24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1957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Font typeface="Helvetica Neue"/>
              <a:buNone/>
              <a:defRPr b="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4949775"/>
            <a:ext cx="9144000" cy="193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6900" y="-1217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Calibri"/>
              <a:buNone/>
              <a:defRPr b="0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9" y="4870209"/>
            <a:ext cx="660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EFEFE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NoSQL - Alexis Perrier - IPSA - </a:t>
            </a:r>
            <a:r>
              <a:rPr lang="fr" sz="1000">
                <a:solidFill>
                  <a:srgbClr val="EFEFEF"/>
                </a:solidFill>
                <a:uFill>
                  <a:noFill/>
                </a:uFill>
                <a:latin typeface="Helvetica Neue Light"/>
                <a:ea typeface="Helvetica Neue Light"/>
                <a:cs typeface="Helvetica Neue Light"/>
                <a:sym typeface="Helvetica Neue Light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https://github.com/SkatAI/IPSA-NoSQL</a:t>
            </a:r>
            <a:r>
              <a:rPr lang="fr" sz="1000">
                <a:solidFill>
                  <a:srgbClr val="EFEFE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</a:t>
            </a:r>
            <a:endParaRPr sz="1000">
              <a:solidFill>
                <a:srgbClr val="EFEFEF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" name="Google Shape;4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5" name="Google Shape;45;p8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8" name="Google Shape;4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0" name="Google Shape;50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1" name="Google Shape;5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hyperlink" Target="https://youtu.be/anRVomtGXFc?t=204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gephi.org/" TargetMode="External"/><Relationship Id="rId4" Type="http://schemas.openxmlformats.org/officeDocument/2006/relationships/image" Target="../media/image4.png"/><Relationship Id="rId5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networkx.org/" TargetMode="External"/><Relationship Id="rId4" Type="http://schemas.openxmlformats.org/officeDocument/2006/relationships/image" Target="../media/image12.png"/><Relationship Id="rId5" Type="http://schemas.openxmlformats.org/officeDocument/2006/relationships/hyperlink" Target="https://www.toptal.com/data-science/graph-data-science-python-networkx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tarunjain07.medium.com/spanning-tree-minimum-spanning-tree-notes-6c3e54d8bdfc" TargetMode="External"/><Relationship Id="rId4" Type="http://schemas.openxmlformats.org/officeDocument/2006/relationships/hyperlink" Target="https://fr.wikipedia.org/wiki/Arbre_couvrant_de_poids_minimal" TargetMode="External"/><Relationship Id="rId5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://www.youtube.com/watch?v=T6L9EoBy8Zk" TargetMode="External"/><Relationship Id="rId4" Type="http://schemas.openxmlformats.org/officeDocument/2006/relationships/image" Target="../media/image3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neo4j.com/use-cases/knowledge-graph/" TargetMode="External"/><Relationship Id="rId4" Type="http://schemas.openxmlformats.org/officeDocument/2006/relationships/image" Target="../media/image2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developers.google.com/knowledge-graph" TargetMode="External"/><Relationship Id="rId4" Type="http://schemas.openxmlformats.org/officeDocument/2006/relationships/image" Target="../media/image13.png"/><Relationship Id="rId5" Type="http://schemas.openxmlformats.org/officeDocument/2006/relationships/hyperlink" Target="https://www.google.com/search?q=Neo4j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www.researchgate.net/publication/308197795_Algorithms_and_Software_for_the_Analysis_of_Large_Complex_Networks" TargetMode="External"/><Relationship Id="rId4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Relationship Id="rId4" Type="http://schemas.openxmlformats.org/officeDocument/2006/relationships/hyperlink" Target="https://moliere.love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moliere.love" TargetMode="External"/><Relationship Id="rId4" Type="http://schemas.openxmlformats.org/officeDocument/2006/relationships/image" Target="../media/image9.png"/><Relationship Id="rId5" Type="http://schemas.openxmlformats.org/officeDocument/2006/relationships/image" Target="../media/image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neo4j.com/graphgists/" TargetMode="External"/><Relationship Id="rId4" Type="http://schemas.openxmlformats.org/officeDocument/2006/relationships/hyperlink" Target="https://neo4j.com/use-cases/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neo4j.com/graphgists/the-panamapapers-example-dataset-president-of-azerbaijan/" TargetMode="External"/><Relationship Id="rId4" Type="http://schemas.openxmlformats.org/officeDocument/2006/relationships/image" Target="../media/image2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linkurious.com/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://www.youtube.com/watch?v=r5ghMhQOFh0" TargetMode="External"/><Relationship Id="rId4" Type="http://schemas.openxmlformats.org/officeDocument/2006/relationships/image" Target="../media/image14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neo4j.com/use-cases/knowledge-graph/" TargetMode="External"/><Relationship Id="rId4" Type="http://schemas.openxmlformats.org/officeDocument/2006/relationships/image" Target="../media/image2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s://neo4j.com/" TargetMode="External"/><Relationship Id="rId4" Type="http://schemas.openxmlformats.org/officeDocument/2006/relationships/hyperlink" Target="https://graphacademy.neo4j.com" TargetMode="External"/><Relationship Id="rId5" Type="http://schemas.openxmlformats.org/officeDocument/2006/relationships/hyperlink" Target="https://neo4j.com/product/auradb/" TargetMode="External"/><Relationship Id="rId6" Type="http://schemas.openxmlformats.org/officeDocument/2006/relationships/hyperlink" Target="https://neo4j.com/docs/cypher-manual/current/introduction/" TargetMode="Externa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neo4j.com/download/" TargetMode="External"/><Relationship Id="rId4" Type="http://schemas.openxmlformats.org/officeDocument/2006/relationships/hyperlink" Target="https://browser.neo4j.io/" TargetMode="External"/><Relationship Id="rId5" Type="http://schemas.openxmlformats.org/officeDocument/2006/relationships/hyperlink" Target="https://neo4j.com/labs/apoc/" TargetMode="External"/><Relationship Id="rId6" Type="http://schemas.openxmlformats.org/officeDocument/2006/relationships/hyperlink" Target="https://neo4j.com/docs/graph-data-science/current/" TargetMode="External"/><Relationship Id="rId7" Type="http://schemas.openxmlformats.org/officeDocument/2006/relationships/hyperlink" Target="https://arrows.app/" TargetMode="Externa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neo4j.com/docs/desktop-manual/current/installation/download-installation/" TargetMode="Externa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neo4j.com/graphgists/network-dependency-graph/" TargetMode="External"/><Relationship Id="rId4" Type="http://schemas.openxmlformats.org/officeDocument/2006/relationships/image" Target="../media/image23.png"/><Relationship Id="rId5" Type="http://schemas.openxmlformats.org/officeDocument/2006/relationships/hyperlink" Target="https://colab.research.google.com/drive/1gwoQRRI2BqcroW8_aPNEIKRuCnyFZ8H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11708" y="1430375"/>
            <a:ext cx="8520600" cy="101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Neo4j</a:t>
            </a:r>
            <a:endParaRPr xmlns:a="http://schemas.openxmlformats.org/drawingml/2006/main"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11700" y="2834125"/>
            <a:ext cx="85206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07: Intro Neo4j - IPSA - Winter 2025</a:t>
            </a:r>
            <a:endParaRPr xmlns:a="http://schemas.openxmlformats.org/drawingml/2006/main"/>
          </a:p>
          <a:p>
            <a:pPr xmlns:a="http://schemas.openxmlformats.org/drawingml/2006/main"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10/03/2025 - 2 a.m.</a:t>
            </a:r>
            <a:endParaRPr xmlns:a="http://schemas.openxmlformats.org/drawingml/2006/main"/>
          </a:p>
        </p:txBody>
      </p:sp>
      <p:sp>
        <p:nvSpPr>
          <p:cNvPr id="69" name="Google Shape;69;p13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1835700" y="1266325"/>
            <a:ext cx="4618800" cy="173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 xmlns:a="http://schemas.openxmlformats.org/drawingml/2006/main">
              <a:rPr lang="en"/>
              <a:t>Projects</a:t>
            </a:r>
            <a:endParaRPr xmlns:a="http://schemas.openxmlformats.org/drawingml/2006/main"/>
          </a:p>
          <a:p>
            <a:pPr xmlns:a="http://schemas.openxmlformats.org/drawingml/2006/main"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 xmlns:a="http://schemas.openxmlformats.org/drawingml/2006/main">
              <a:rPr lang="en"/>
              <a:t>Embeddings</a:t>
            </a:r>
            <a:endParaRPr xmlns:a="http://schemas.openxmlformats.org/drawingml/2006/main"/>
          </a:p>
          <a:p>
            <a:pPr xmlns:a="http://schemas.openxmlformats.org/drawingml/2006/main"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 xmlns:a="http://schemas.openxmlformats.org/drawingml/2006/main">
              <a:rPr lang="en"/>
              <a:t>Vector search</a:t>
            </a:r>
            <a:endParaRPr xmlns:a="http://schemas.openxmlformats.org/drawingml/2006/main"/>
          </a:p>
          <a:p>
            <a:pPr xmlns:a="http://schemas.openxmlformats.org/drawingml/2006/main"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 xmlns:a="http://schemas.openxmlformats.org/drawingml/2006/main">
              <a:rPr lang="en"/>
              <a:t>Weaviate</a:t>
            </a:r>
            <a:endParaRPr xmlns:a="http://schemas.openxmlformats.org/drawingml/2006/main"/>
          </a:p>
          <a:p>
            <a:pPr xmlns:a="http://schemas.openxmlformats.org/drawingml/2006/main"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 xmlns:a="http://schemas.openxmlformats.org/drawingml/2006/main">
              <a:rPr lang="en"/>
              <a:t>RAG</a:t>
            </a:r>
            <a:endParaRPr xmlns:a="http://schemas.openxmlformats.org/drawingml/2006/main"/>
          </a:p>
        </p:txBody>
      </p:sp>
      <p:sp>
        <p:nvSpPr>
          <p:cNvPr id="75" name="Google Shape;75;p14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Last time on NoSQL</a:t>
            </a:r>
            <a:endParaRPr xmlns:a="http://schemas.openxmlformats.org/drawingml/2006/main"/>
          </a:p>
        </p:txBody>
      </p:sp>
      <p:sp>
        <p:nvSpPr>
          <p:cNvPr id="76" name="Google Shape;76;p14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idx="1" type="body"/>
          </p:nvPr>
        </p:nvSpPr>
        <p:spPr>
          <a:xfrm>
            <a:off x="311700" y="885325"/>
            <a:ext cx="8520600" cy="26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Graph databases, Graph networks, Graph knowledge</a:t>
            </a:r>
            <a:endParaRPr xmlns:a="http://schemas.openxmlformats.org/drawingml/2006/main"/>
          </a:p>
          <a:p>
            <a:pPr xmlns:a="http://schemas.openxmlformats.org/drawingml/2006/main"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 xmlns:a="http://schemas.openxmlformats.org/drawingml/2006/main">
              <a:rPr lang="en"/>
              <a:t>Uses and benefits of graph databases</a:t>
            </a:r>
            <a:endParaRPr xmlns:a="http://schemas.openxmlformats.org/drawingml/2006/main"/>
          </a:p>
          <a:p>
            <a:pPr xmlns:a="http://schemas.openxmlformats.org/drawingml/2006/main"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 xmlns:a="http://schemas.openxmlformats.org/drawingml/2006/main">
              <a:rPr lang="en"/>
              <a:t>Cypher the query language of Neo4j</a:t>
            </a:r>
            <a:endParaRPr xmlns:a="http://schemas.openxmlformats.org/drawingml/2006/main"/>
          </a:p>
          <a:p>
            <a:pPr xmlns:a="http://schemas.openxmlformats.org/drawingml/2006/main"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 xmlns:a="http://schemas.openxmlformats.org/drawingml/2006/main">
              <a:rPr lang="en"/>
              <a:t>Graph networks and graph data science</a:t>
            </a:r>
            <a:endParaRPr xmlns:a="http://schemas.openxmlformats.org/drawingml/2006/main"/>
          </a:p>
          <a:p>
            <a:pPr xmlns:a="http://schemas.openxmlformats.org/drawingml/2006/main"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 xmlns:a="http://schemas.openxmlformats.org/drawingml/2006/main">
              <a:rPr lang="en"/>
              <a:t>centrality measures</a:t>
            </a:r>
            <a:endParaRPr xmlns:a="http://schemas.openxmlformats.org/drawingml/2006/main"/>
          </a:p>
          <a:p>
            <a:pPr xmlns:a="http://schemas.openxmlformats.org/drawingml/2006/main"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 xmlns:a="http://schemas.openxmlformats.org/drawingml/2006/main">
              <a:rPr lang="en"/>
              <a:t>shortest path algorithms</a:t>
            </a:r>
            <a:endParaRPr xmlns:a="http://schemas.openxmlformats.org/drawingml/2006/main"/>
          </a:p>
          <a:p>
            <a:pPr xmlns:a="http://schemas.openxmlformats.org/drawingml/2006/main"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 xmlns:a="http://schemas.openxmlformats.org/drawingml/2006/main">
              <a:rPr lang="en"/>
              <a:t>community detection, anomalies</a:t>
            </a:r>
            <a:endParaRPr xmlns:a="http://schemas.openxmlformats.org/drawingml/2006/main"/>
          </a:p>
          <a:p>
            <a:pPr xmlns:a="http://schemas.openxmlformats.org/drawingml/2006/main"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 xmlns:a="http://schemas.openxmlformats.org/drawingml/2006/main">
              <a:rPr lang="en"/>
              <a:t>Knowledge graphs - LLMs</a:t>
            </a:r>
            <a:endParaRPr xmlns:a="http://schemas.openxmlformats.org/drawingml/2006/main"/>
          </a:p>
        </p:txBody>
      </p:sp>
      <p:sp>
        <p:nvSpPr>
          <p:cNvPr id="82" name="Google Shape;82;p15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This week</a:t>
            </a:r>
            <a:endParaRPr xmlns:a="http://schemas.openxmlformats.org/drawingml/2006/main"/>
          </a:p>
        </p:txBody>
      </p:sp>
      <p:sp>
        <p:nvSpPr>
          <p:cNvPr id="83" name="Google Shape;83;p15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This week: Neo4j</a:t>
            </a:r>
            <a:endParaRPr xmlns:a="http://schemas.openxmlformats.org/drawingml/2006/main"/>
          </a:p>
        </p:txBody>
      </p:sp>
      <p:sp>
        <p:nvSpPr>
          <p:cNvPr id="89" name="Google Shape;89;p16"/>
          <p:cNvSpPr txBox="1"/>
          <p:nvPr>
            <p:ph idx="1" type="body"/>
          </p:nvPr>
        </p:nvSpPr>
        <p:spPr>
          <a:xfrm>
            <a:off x="1683300" y="732925"/>
            <a:ext cx="4590900" cy="3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Today Monday</a:t>
            </a:r>
            <a:endParaRPr xmlns:a="http://schemas.openxmlformats.org/drawingml/2006/main"/>
          </a:p>
          <a:p>
            <a:pPr xmlns:a="http://schemas.openxmlformats.org/drawingml/2006/main"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 xmlns:a="http://schemas.openxmlformats.org/drawingml/2006/main">
              <a:rPr lang="en"/>
              <a:t>Intro graph database</a:t>
            </a:r>
            <a:endParaRPr xmlns:a="http://schemas.openxmlformats.org/drawingml/2006/main"/>
          </a:p>
          <a:p>
            <a:pPr xmlns:a="http://schemas.openxmlformats.org/drawingml/2006/main"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 xmlns:a="http://schemas.openxmlformats.org/drawingml/2006/main">
              <a:rPr lang="en"/>
              <a:t>Practice on Aura</a:t>
            </a:r>
            <a:endParaRPr xmlns:a="http://schemas.openxmlformats.org/drawingml/2006/main"/>
          </a:p>
          <a:p>
            <a:pPr xmlns:a="http://schemas.openxmlformats.org/drawingml/2006/main"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And Thursday</a:t>
            </a:r>
            <a:endParaRPr xmlns:a="http://schemas.openxmlformats.org/drawingml/2006/main"/>
          </a:p>
          <a:p>
            <a:pPr xmlns:a="http://schemas.openxmlformats.org/drawingml/2006/main"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 xmlns:a="http://schemas.openxmlformats.org/drawingml/2006/main">
              <a:rPr lang="en"/>
              <a:t>Intro graph database</a:t>
            </a:r>
            <a:endParaRPr xmlns:a="http://schemas.openxmlformats.org/drawingml/2006/main"/>
          </a:p>
          <a:p>
            <a:pPr xmlns:a="http://schemas.openxmlformats.org/drawingml/2006/main"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 xmlns:a="http://schemas.openxmlformats.org/drawingml/2006/main">
              <a:rPr lang="en"/>
              <a:t>Practice on Aura</a:t>
            </a:r>
            <a:endParaRPr xmlns:a="http://schemas.openxmlformats.org/drawingml/2006/main"/>
          </a:p>
          <a:p>
            <a:pPr xmlns:a="http://schemas.openxmlformats.org/drawingml/2006/main"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And Friday</a:t>
            </a:r>
            <a:endParaRPr xmlns:a="http://schemas.openxmlformats.org/drawingml/2006/main"/>
          </a:p>
          <a:p>
            <a:pPr xmlns:a="http://schemas.openxmlformats.org/drawingml/2006/main"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 xmlns:a="http://schemas.openxmlformats.org/drawingml/2006/main">
              <a:rPr lang="en"/>
              <a:t>Graph data science</a:t>
            </a:r>
            <a:endParaRPr xmlns:a="http://schemas.openxmlformats.org/drawingml/2006/main"/>
          </a:p>
        </p:txBody>
      </p:sp>
      <p:sp>
        <p:nvSpPr>
          <p:cNvPr id="90" name="Google Shape;90;p16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type="title"/>
          </p:nvPr>
        </p:nvSpPr>
        <p:spPr>
          <a:xfrm>
            <a:off x="311700" y="1957800"/>
            <a:ext cx="8571300" cy="73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graph networks</a:t>
            </a:r>
            <a:endParaRPr xmlns:a="http://schemas.openxmlformats.org/drawingml/2006/main"/>
          </a:p>
        </p:txBody>
      </p:sp>
      <p:sp>
        <p:nvSpPr>
          <p:cNvPr id="96" name="Google Shape;96;p17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8" title="1_BsmA5DeGnkcsS_WkneSNm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7713" y="795338"/>
            <a:ext cx="4600575" cy="3705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8"/>
          <p:cNvSpPr txBox="1"/>
          <p:nvPr>
            <p:ph idx="1" type="body"/>
          </p:nvPr>
        </p:nvSpPr>
        <p:spPr>
          <a:xfrm>
            <a:off x="311700" y="809125"/>
            <a:ext cx="8520600" cy="175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 graph is a structure composed of</a:t>
            </a:r>
            <a:endParaRPr xmlns:a="http://schemas.openxmlformats.org/drawingml/2006/main"/>
          </a:p>
          <a:p>
            <a:pPr xmlns:a="http://schemas.openxmlformats.org/drawingml/2006/main"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 xmlns:a="http://schemas.openxmlformats.org/drawingml/2006/main">
              <a:rPr b="1" lang="en"/>
              <a:t>nodes </a:t>
            </a:r>
            <a:r xmlns:a="http://schemas.openxmlformats.org/drawingml/2006/main">
              <a:rPr lang="en"/>
              <a:t>or vertices.</a:t>
            </a:r>
            <a:endParaRPr xmlns:a="http://schemas.openxmlformats.org/drawingml/2006/main"/>
          </a:p>
          <a:p>
            <a:pPr xmlns:a="http://schemas.openxmlformats.org/drawingml/2006/main"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 xmlns:a="http://schemas.openxmlformats.org/drawingml/2006/main">
              <a:rPr lang="en"/>
              <a:t>Nodes</a:t>
            </a:r>
            <a:endParaRPr xmlns:a="http://schemas.openxmlformats.org/drawingml/2006/main"/>
          </a:p>
          <a:p>
            <a:pPr xmlns:a="http://schemas.openxmlformats.org/drawingml/2006/main"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 xmlns:a="http://schemas.openxmlformats.org/drawingml/2006/main">
              <a:rPr lang="en"/>
              <a:t>nodes are connected by </a:t>
            </a:r>
            <a:r xmlns:a="http://schemas.openxmlformats.org/drawingml/2006/main">
              <a:rPr b="1" lang="en"/>
              <a:t>edges </a:t>
            </a:r>
            <a:r xmlns:a="http://schemas.openxmlformats.org/drawingml/2006/main">
              <a:rPr lang="en"/>
              <a:t>or links.</a:t>
            </a:r>
            <a:endParaRPr xmlns:a="http://schemas.openxmlformats.org/drawingml/2006/main"/>
          </a:p>
          <a:p>
            <a:pPr xmlns:a="http://schemas.openxmlformats.org/drawingml/2006/main"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 xmlns:a="http://schemas.openxmlformats.org/drawingml/2006/main">
              <a:rPr lang="en"/>
              <a:t>Edges, vertices</a:t>
            </a:r>
            <a:endParaRPr xmlns:a="http://schemas.openxmlformats.org/drawingml/2006/main"/>
          </a:p>
        </p:txBody>
      </p:sp>
      <p:sp>
        <p:nvSpPr>
          <p:cNvPr id="103" name="Google Shape;103;p18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Graphs</a:t>
            </a:r>
            <a:endParaRPr xmlns:a="http://schemas.openxmlformats.org/drawingml/2006/main"/>
          </a:p>
        </p:txBody>
      </p:sp>
      <p:sp>
        <p:nvSpPr>
          <p:cNvPr id="104" name="Google Shape;104;p18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05" name="Google Shape;105;p18"/>
          <p:cNvSpPr txBox="1"/>
          <p:nvPr/>
        </p:nvSpPr>
        <p:spPr>
          <a:xfrm>
            <a:off x="304800" y="2743200"/>
            <a:ext cx="5932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 xmlns:a="http://schemas.openxmlformats.org/drawingml/2006/main">
              <a:rPr b="1" lang="en" sz="1600">
                <a:solidFill>
                  <a:schemeClr val="dk2"/>
                </a:solidFill>
              </a:rPr>
              <a:t>Degree </a:t>
            </a:r>
            <a:r xmlns:a="http://schemas.openxmlformats.org/drawingml/2006/main">
              <a:rPr lang="en" sz="1600">
                <a:solidFill>
                  <a:schemeClr val="dk2"/>
                </a:solidFill>
              </a:rPr>
              <a:t>: Number of edges connected to a node</a:t>
            </a:r>
            <a:endParaRPr xmlns:a="http://schemas.openxmlformats.org/drawingml/2006/main" sz="1600">
              <a:solidFill>
                <a:schemeClr val="dk2"/>
              </a:solidFill>
            </a:endParaRPr>
          </a:p>
          <a:p>
            <a:pPr xmlns:a="http://schemas.openxmlformats.org/drawingml/2006/main"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 xmlns:a="http://schemas.openxmlformats.org/drawingml/2006/main">
              <a:rPr b="1" lang="en" sz="1600">
                <a:solidFill>
                  <a:schemeClr val="dk2"/>
                </a:solidFill>
              </a:rPr>
              <a:t>Path </a:t>
            </a:r>
            <a:r xmlns:a="http://schemas.openxmlformats.org/drawingml/2006/main">
              <a:rPr lang="en" sz="1600">
                <a:solidFill>
                  <a:schemeClr val="dk2"/>
                </a:solidFill>
              </a:rPr>
              <a:t>: Sequence of edges connecting two nodes</a:t>
            </a:r>
            <a:endParaRPr xmlns:a="http://schemas.openxmlformats.org/drawingml/2006/main" sz="1600">
              <a:solidFill>
                <a:schemeClr val="dk2"/>
              </a:solidFill>
            </a:endParaRPr>
          </a:p>
          <a:p>
            <a:pPr xmlns:a="http://schemas.openxmlformats.org/drawingml/2006/main"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 xmlns:a="http://schemas.openxmlformats.org/drawingml/2006/main">
              <a:rPr b="1" lang="en" sz="1600">
                <a:solidFill>
                  <a:schemeClr val="dk2"/>
                </a:solidFill>
              </a:rPr>
              <a:t>Cycle </a:t>
            </a:r>
            <a:r xmlns:a="http://schemas.openxmlformats.org/drawingml/2006/main">
              <a:rPr lang="en" sz="1600">
                <a:solidFill>
                  <a:schemeClr val="dk2"/>
                </a:solidFill>
              </a:rPr>
              <a:t>: Path that starts and ends at the same node</a:t>
            </a:r>
            <a:endParaRPr xmlns:a="http://schemas.openxmlformats.org/drawingml/2006/main"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2775" y="899000"/>
            <a:ext cx="4718874" cy="265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9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acyclic, cyclic, directed graphs</a:t>
            </a:r>
            <a:endParaRPr xmlns:a="http://schemas.openxmlformats.org/drawingml/2006/main"/>
          </a:p>
        </p:txBody>
      </p:sp>
      <p:sp>
        <p:nvSpPr>
          <p:cNvPr id="112" name="Google Shape;112;p19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13" name="Google Shape;113;p19"/>
          <p:cNvSpPr txBox="1"/>
          <p:nvPr/>
        </p:nvSpPr>
        <p:spPr>
          <a:xfrm>
            <a:off x="5867400" y="3962400"/>
            <a:ext cx="328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 xmlns:r="http://schemas.openxmlformats.org/officeDocument/2006/relationships">
              <a:rPr lang="en" u="sng">
                <a:solidFill>
                  <a:schemeClr val="hlink"/>
                </a:solidFill>
                <a:hlinkClick r:id="rId4"/>
              </a:rPr>
              <a:t>https://youtu.be/anRVomtGXFc?t=204</a:t>
            </a:r>
            <a:r xmlns:a="http://schemas.openxmlformats.org/drawingml/2006/main">
              <a:rPr lang="en"/>
              <a:t> </a:t>
            </a:r>
            <a:endParaRPr xmlns:a="http://schemas.openxmlformats.org/drawingml/2006/main"/>
          </a:p>
        </p:txBody>
      </p:sp>
      <p:sp>
        <p:nvSpPr>
          <p:cNvPr id="114" name="Google Shape;114;p19"/>
          <p:cNvSpPr txBox="1"/>
          <p:nvPr/>
        </p:nvSpPr>
        <p:spPr>
          <a:xfrm>
            <a:off x="304800" y="914400"/>
            <a:ext cx="3932400" cy="3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"/>
              <a:buChar char="●"/>
            </a:pPr>
            <a:r xmlns:a="http://schemas.openxmlformats.org/drawingml/2006/main">
              <a:rPr b="1" lang="en" sz="16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Oriented / Directed </a:t>
            </a:r>
            <a:r xmlns:a="http://schemas.openxmlformats.org/drawingml/2006/main">
              <a:rPr lang="en" sz="16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graph: explicit direction between nodes:</a:t>
            </a:r>
            <a:endParaRPr xmlns:a="http://schemas.openxmlformats.org/drawingml/2006/main" sz="16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xmlns:a="http://schemas.openxmlformats.org/drawingml/2006/main"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</a:pPr>
            <a:r xmlns:a="http://schemas.openxmlformats.org/drawingml/2006/main">
              <a:rPr lang="en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parent -&gt; child,</a:t>
            </a:r>
            <a:endParaRPr xmlns:a="http://schemas.openxmlformats.org/drawingml/2006/main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xmlns:a="http://schemas.openxmlformats.org/drawingml/2006/main"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"/>
              <a:buChar char="●"/>
            </a:pPr>
            <a:r xmlns:a="http://schemas.openxmlformats.org/drawingml/2006/main">
              <a:rPr b="1" lang="en" sz="16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acyclic </a:t>
            </a:r>
            <a:r xmlns:a="http://schemas.openxmlformats.org/drawingml/2006/main">
              <a:rPr lang="en" sz="16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: cannot go back (DAG)</a:t>
            </a:r>
            <a:endParaRPr xmlns:a="http://schemas.openxmlformats.org/drawingml/2006/main" sz="16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xmlns:a="http://schemas.openxmlformats.org/drawingml/2006/main"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</a:pPr>
            <a:r xmlns:a="http://schemas.openxmlformats.org/drawingml/2006/main">
              <a:rPr lang="en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A -&gt; B -&gt; C</a:t>
            </a:r>
            <a:endParaRPr xmlns:a="http://schemas.openxmlformats.org/drawingml/2006/main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xmlns:a="http://schemas.openxmlformats.org/drawingml/2006/main"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"/>
              <a:buChar char="●"/>
            </a:pPr>
            <a:r xmlns:a="http://schemas.openxmlformats.org/drawingml/2006/main">
              <a:rPr b="1" lang="en" sz="16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cyclical </a:t>
            </a:r>
            <a:r xmlns:a="http://schemas.openxmlformats.org/drawingml/2006/main">
              <a:rPr lang="en" sz="16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: there is at least one cycle that allows you to go back:</a:t>
            </a:r>
            <a:endParaRPr xmlns:a="http://schemas.openxmlformats.org/drawingml/2006/main" sz="16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xmlns:a="http://schemas.openxmlformats.org/drawingml/2006/main"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</a:pPr>
            <a:r xmlns:a="http://schemas.openxmlformats.org/drawingml/2006/main">
              <a:rPr lang="en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A -&gt; B -&gt; C -&gt; A</a:t>
            </a:r>
            <a:endParaRPr xmlns:a="http://schemas.openxmlformats.org/drawingml/2006/ma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Use cases</a:t>
            </a:r>
            <a:endParaRPr xmlns:a="http://schemas.openxmlformats.org/drawingml/2006/main"/>
          </a:p>
        </p:txBody>
      </p:sp>
      <p:sp>
        <p:nvSpPr>
          <p:cNvPr id="120" name="Google Shape;120;p20"/>
          <p:cNvSpPr txBox="1"/>
          <p:nvPr>
            <p:ph idx="1" type="body"/>
          </p:nvPr>
        </p:nvSpPr>
        <p:spPr>
          <a:xfrm>
            <a:off x="311700" y="1266325"/>
            <a:ext cx="8520600" cy="19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 xmlns:a="http://schemas.openxmlformats.org/drawingml/2006/main">
              <a:rPr lang="en"/>
              <a:t>Social network analysis: Studying relationships between individuals.</a:t>
            </a:r>
            <a:endParaRPr xmlns:a="http://schemas.openxmlformats.org/drawingml/2006/main"/>
          </a:p>
          <a:p>
            <a:pPr xmlns:a="http://schemas.openxmlformats.org/drawingml/2006/main"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 xmlns:a="http://schemas.openxmlformats.org/drawingml/2006/main">
              <a:rPr lang="en"/>
              <a:t>Transportation networks: Optimizing routes and traffic flows.</a:t>
            </a:r>
            <a:endParaRPr xmlns:a="http://schemas.openxmlformats.org/drawingml/2006/main"/>
          </a:p>
          <a:p>
            <a:pPr xmlns:a="http://schemas.openxmlformats.org/drawingml/2006/main"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 xmlns:a="http://schemas.openxmlformats.org/drawingml/2006/main">
              <a:rPr lang="en"/>
              <a:t>Biology: Modeling interactions between proteins.</a:t>
            </a:r>
            <a:endParaRPr xmlns:a="http://schemas.openxmlformats.org/drawingml/2006/main"/>
          </a:p>
          <a:p>
            <a:pPr xmlns:a="http://schemas.openxmlformats.org/drawingml/2006/main"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 xmlns:a="http://schemas.openxmlformats.org/drawingml/2006/main">
              <a:rPr lang="en"/>
              <a:t>Computer science: Representing dependencies between software components.</a:t>
            </a:r>
            <a:endParaRPr xmlns:a="http://schemas.openxmlformats.org/drawingml/2006/main"/>
          </a:p>
          <a:p>
            <a:pPr xmlns:a="http://schemas.openxmlformats.org/drawingml/2006/main"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 xmlns:a="http://schemas.openxmlformats.org/drawingml/2006/main">
              <a:rPr lang="en"/>
              <a:t>Digital sociology: Behaviors, modeling</a:t>
            </a:r>
            <a:endParaRPr xmlns:a="http://schemas.openxmlformats.org/drawingml/2006/main"/>
          </a:p>
          <a:p>
            <a:pPr xmlns:a="http://schemas.openxmlformats.org/drawingml/2006/main"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 xmlns:a="http://schemas.openxmlformats.org/drawingml/2006/main">
              <a:rPr lang="en"/>
              <a:t>Scientometrics: Evolution of Science, Cross-References</a:t>
            </a:r>
            <a:endParaRPr xmlns:a="http://schemas.openxmlformats.org/drawingml/2006/main"/>
          </a:p>
        </p:txBody>
      </p:sp>
      <p:sp>
        <p:nvSpPr>
          <p:cNvPr id="121" name="Google Shape;121;p20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1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Analysis tools: Gephi</a:t>
            </a:r>
            <a:endParaRPr xmlns:a="http://schemas.openxmlformats.org/drawingml/2006/main"/>
          </a:p>
        </p:txBody>
      </p:sp>
      <p:sp>
        <p:nvSpPr>
          <p:cNvPr id="127" name="Google Shape;127;p21"/>
          <p:cNvSpPr txBox="1"/>
          <p:nvPr>
            <p:ph idx="1" type="body"/>
          </p:nvPr>
        </p:nvSpPr>
        <p:spPr>
          <a:xfrm>
            <a:off x="311700" y="809125"/>
            <a:ext cx="8520600" cy="7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 xmlns:a="http://schemas.openxmlformats.org/drawingml/2006/main">
              <a:rPr lang="en"/>
              <a:t>Gephi: Interactive software for visualizing and exploring graphs.</a:t>
            </a:r>
            <a:endParaRPr xmlns:a="http://schemas.openxmlformats.org/drawingml/2006/main"/>
          </a:p>
          <a:p>
            <a:pPr xmlns:a="http://schemas.openxmlformats.org/drawingml/2006/main"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 xmlns:a="http://schemas.openxmlformats.org/drawingml/2006/main">
              <a:rPr lang="en"/>
              <a:t>Mathieu Jacomy - </a:t>
            </a:r>
            <a:r xmlns:a="http://schemas.openxmlformats.org/drawingml/2006/main" xmlns:r="http://schemas.openxmlformats.org/officeDocument/2006/relationships">
              <a:rPr lang="en" u="sng">
                <a:solidFill>
                  <a:schemeClr val="hlink"/>
                </a:solidFill>
                <a:hlinkClick r:id="rId3"/>
              </a:rPr>
              <a:t>https://gephi.org/ </a:t>
            </a:r>
            <a:r xmlns:a="http://schemas.openxmlformats.org/drawingml/2006/main">
              <a:rPr lang="en"/>
              <a:t>- https://gephi.wordpress.com/</a:t>
            </a:r>
            <a:endParaRPr xmlns:a="http://schemas.openxmlformats.org/drawingml/2006/main"/>
          </a:p>
        </p:txBody>
      </p:sp>
      <p:sp>
        <p:nvSpPr>
          <p:cNvPr id="128" name="Google Shape;128;p21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29" name="Google Shape;12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908025"/>
            <a:ext cx="3718041" cy="247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22841" y="1575625"/>
            <a:ext cx="4887214" cy="2935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Analysis tools: networkx</a:t>
            </a:r>
            <a:endParaRPr xmlns:a="http://schemas.openxmlformats.org/drawingml/2006/main"/>
          </a:p>
        </p:txBody>
      </p:sp>
      <p:sp>
        <p:nvSpPr>
          <p:cNvPr id="136" name="Google Shape;136;p22"/>
          <p:cNvSpPr txBox="1"/>
          <p:nvPr>
            <p:ph idx="1" type="body"/>
          </p:nvPr>
        </p:nvSpPr>
        <p:spPr>
          <a:xfrm>
            <a:off x="311700" y="961525"/>
            <a:ext cx="8520600" cy="7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 xmlns:a="http://schemas.openxmlformats.org/drawingml/2006/main" xmlns:r="http://schemas.openxmlformats.org/officeDocument/2006/relationships">
              <a:rPr lang="en" u="sng">
                <a:solidFill>
                  <a:schemeClr val="hlink"/>
                </a:solidFill>
                <a:hlinkClick r:id="rId3"/>
              </a:rPr>
              <a:t>NetworkX </a:t>
            </a:r>
            <a:r xmlns:a="http://schemas.openxmlformats.org/drawingml/2006/main">
              <a:rPr lang="en"/>
              <a:t>: Python library for creating, manipulating, and studying graphs.</a:t>
            </a:r>
            <a:endParaRPr xmlns:a="http://schemas.openxmlformats.org/drawingml/2006/main"/>
          </a:p>
        </p:txBody>
      </p:sp>
      <p:sp>
        <p:nvSpPr>
          <p:cNvPr id="137" name="Google Shape;137;p22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38" name="Google Shape;13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7400" y="2122125"/>
            <a:ext cx="4282475" cy="1253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2"/>
          <p:cNvSpPr txBox="1"/>
          <p:nvPr/>
        </p:nvSpPr>
        <p:spPr>
          <a:xfrm>
            <a:off x="685800" y="3657600"/>
            <a:ext cx="610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 xmlns:r="http://schemas.openxmlformats.org/officeDocument/2006/relationships">
              <a:rPr lang="en" u="sng">
                <a:solidFill>
                  <a:schemeClr val="hlink"/>
                </a:solidFill>
                <a:hlinkClick r:id="rId5"/>
              </a:rPr>
              <a:t>https://www.toptal.com/data-science/graph-data-science-python-networkx</a:t>
            </a:r>
            <a:r xmlns:a="http://schemas.openxmlformats.org/drawingml/2006/main">
              <a:rPr lang="en"/>
              <a:t> </a:t>
            </a:r>
            <a:endParaRPr xmlns:a="http://schemas.openxmlformats.org/drawingml/2006/ma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idx="1" type="body"/>
          </p:nvPr>
        </p:nvSpPr>
        <p:spPr>
          <a:xfrm>
            <a:off x="311700" y="809125"/>
            <a:ext cx="8520600" cy="12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Arial"/>
              <a:buChar char="●"/>
            </a:pPr>
            <a:r xmlns:a="http://schemas.openxmlformats.org/drawingml/2006/main">
              <a:rPr b="1" lang="en" sz="1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Adjacency Matrix </a:t>
            </a:r>
            <a:r xmlns:a="http://schemas.openxmlformats.org/drawingml/2006/main">
              <a:rPr lang="en" sz="1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: N×N matrix where element (i,j) indicates connection</a:t>
            </a:r>
            <a:endParaRPr xmlns:a="http://schemas.openxmlformats.org/drawingml/2006/main" sz="16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Arial"/>
              <a:buChar char="●"/>
            </a:pPr>
            <a:r xmlns:a="http://schemas.openxmlformats.org/drawingml/2006/main">
              <a:rPr b="1" lang="en" sz="1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Adjacency List </a:t>
            </a:r>
            <a:r xmlns:a="http://schemas.openxmlformats.org/drawingml/2006/main">
              <a:rPr lang="en" sz="1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: Each node stores a list of its connected neighbors</a:t>
            </a:r>
            <a:endParaRPr xmlns:a="http://schemas.openxmlformats.org/drawingml/2006/main" sz="16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Arial"/>
              <a:buChar char="●"/>
            </a:pPr>
            <a:r xmlns:a="http://schemas.openxmlformats.org/drawingml/2006/main">
              <a:rPr b="1" lang="en" sz="1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Edge List </a:t>
            </a:r>
            <a:r xmlns:a="http://schemas.openxmlformats.org/drawingml/2006/main">
              <a:rPr lang="en" sz="1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: Simple list of all node pairs that form edges</a:t>
            </a:r>
            <a:endParaRPr xmlns:a="http://schemas.openxmlformats.org/drawingml/2006/main" sz="16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Arial"/>
              <a:buChar char="●"/>
            </a:pPr>
            <a:r xmlns:a="http://schemas.openxmlformats.org/drawingml/2006/main">
              <a:rPr b="1" lang="en" sz="1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Incidence Matrix </a:t>
            </a:r>
            <a:r xmlns:a="http://schemas.openxmlformats.org/drawingml/2006/main">
              <a:rPr lang="en" sz="1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: Rows represent nodes, columns represent edges</a:t>
            </a:r>
            <a:endParaRPr xmlns:a="http://schemas.openxmlformats.org/drawingml/2006/main" sz="16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3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Data representations</a:t>
            </a:r>
            <a:endParaRPr xmlns:a="http://schemas.openxmlformats.org/drawingml/2006/main"/>
          </a:p>
        </p:txBody>
      </p:sp>
      <p:sp>
        <p:nvSpPr>
          <p:cNvPr id="146" name="Google Shape;146;p23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47" name="Google Shape;14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4600" y="2394625"/>
            <a:ext cx="4412151" cy="191067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3"/>
          <p:cNvSpPr txBox="1"/>
          <p:nvPr/>
        </p:nvSpPr>
        <p:spPr>
          <a:xfrm>
            <a:off x="685800" y="3048000"/>
            <a:ext cx="15426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 xmlns:a="http://schemas.openxmlformats.org/drawingml/2006/main">
              <a:rPr b="1" lang="en" sz="1600">
                <a:solidFill>
                  <a:srgbClr val="666666"/>
                </a:solidFill>
              </a:rPr>
              <a:t>Adjacency </a:t>
            </a:r>
            <a:br xmlns:a="http://schemas.openxmlformats.org/drawingml/2006/main">
              <a:rPr b="1" lang="fr" sz="1600">
                <a:solidFill>
                  <a:srgbClr val="666666"/>
                </a:solidFill>
              </a:rPr>
            </a:br>
            <a:r xmlns:a="http://schemas.openxmlformats.org/drawingml/2006/main">
              <a:rPr b="1" lang="en" sz="1600">
                <a:solidFill>
                  <a:srgbClr val="666666"/>
                </a:solidFill>
              </a:rPr>
              <a:t>Matrix</a:t>
            </a:r>
            <a:endParaRPr xmlns:a="http://schemas.openxmlformats.org/drawingml/2006/ma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Analysis algorithms</a:t>
            </a:r>
            <a:endParaRPr xmlns:a="http://schemas.openxmlformats.org/drawingml/2006/main"/>
          </a:p>
        </p:txBody>
      </p:sp>
      <p:sp>
        <p:nvSpPr>
          <p:cNvPr id="154" name="Google Shape;154;p24"/>
          <p:cNvSpPr txBox="1"/>
          <p:nvPr>
            <p:ph idx="1" type="body"/>
          </p:nvPr>
        </p:nvSpPr>
        <p:spPr>
          <a:xfrm>
            <a:off x="311700" y="1037725"/>
            <a:ext cx="8520600" cy="173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Arial"/>
              <a:buChar char="●"/>
            </a:pPr>
            <a:r xmlns:a="http://schemas.openxmlformats.org/drawingml/2006/main">
              <a:rPr b="1" lang="en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Traversal </a:t>
            </a:r>
            <a:r xmlns:a="http://schemas.openxmlformats.org/drawingml/2006/main">
              <a:rPr lang="en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: BFS (Breadth-First Search), DFS (Depth-First Search),</a:t>
            </a:r>
            <a:endParaRPr xmlns:a="http://schemas.openxmlformats.org/drawingml/2006/main" b="1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Arial"/>
              <a:buChar char="●"/>
            </a:pPr>
            <a:r xmlns:a="http://schemas.openxmlformats.org/drawingml/2006/main">
              <a:rPr b="1" lang="en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Shortest Path </a:t>
            </a:r>
            <a:r xmlns:a="http://schemas.openxmlformats.org/drawingml/2006/main">
              <a:rPr lang="en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: Dijkstra, Bellman-Ford, A*</a:t>
            </a:r>
            <a:endParaRPr xmlns:a="http://schemas.openxmlformats.org/drawingml/2006/main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Arial"/>
              <a:buChar char="●"/>
            </a:pPr>
            <a:r xmlns:a="http://schemas.openxmlformats.org/drawingml/2006/main">
              <a:rPr b="1" lang="en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Minimum Spanning Tree </a:t>
            </a:r>
            <a:r xmlns:a="http://schemas.openxmlformats.org/drawingml/2006/main">
              <a:rPr lang="en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: Kruskal, Prim, </a:t>
            </a:r>
            <a:r xmlns:a="http://schemas.openxmlformats.org/drawingml/2006/main" xmlns:r="http://schemas.openxmlformats.org/officeDocument/2006/relationships" xmlns:ahyp="http://schemas.microsoft.com/office/drawing/2018/hyperlinkcolor">
              <a:rPr lang="en" u="sng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</a:t>
            </a:r>
            <a:r xmlns:a="http://schemas.openxmlformats.org/drawingml/2006/main">
              <a:rPr lang="en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 xmlns:a="http://schemas.openxmlformats.org/drawingml/2006/main" xmlns:r="http://schemas.openxmlformats.org/officeDocument/2006/relationships">
              <a:rPr lang="en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wikipedia</a:t>
            </a:r>
            <a:endParaRPr xmlns:a="http://schemas.openxmlformats.org/drawingml/2006/main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Arial"/>
              <a:buChar char="●"/>
            </a:pPr>
            <a:r xmlns:a="http://schemas.openxmlformats.org/drawingml/2006/main">
              <a:rPr b="1" lang="en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Centrality Measures </a:t>
            </a:r>
            <a:r xmlns:a="http://schemas.openxmlformats.org/drawingml/2006/main">
              <a:rPr lang="en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: Degree, Betweenness, Closeness, Eigenvector</a:t>
            </a:r>
            <a:endParaRPr xmlns:a="http://schemas.openxmlformats.org/drawingml/2006/main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Arial"/>
              <a:buChar char="●"/>
            </a:pPr>
            <a:r xmlns:a="http://schemas.openxmlformats.org/drawingml/2006/main">
              <a:rPr b="1" lang="en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Community Detection </a:t>
            </a:r>
            <a:r xmlns:a="http://schemas.openxmlformats.org/drawingml/2006/main">
              <a:rPr lang="en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: Search for clusters or groups of nodes</a:t>
            </a:r>
            <a:endParaRPr xmlns:a="http://schemas.openxmlformats.org/drawingml/2006/main">
              <a:solidFill>
                <a:srgbClr val="666666"/>
              </a:solidFill>
            </a:endParaRPr>
          </a:p>
        </p:txBody>
      </p:sp>
      <p:sp>
        <p:nvSpPr>
          <p:cNvPr id="155" name="Google Shape;155;p24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56" name="Google Shape;156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50700" y="2697625"/>
            <a:ext cx="3818788" cy="2151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"/>
          <p:cNvSpPr txBox="1"/>
          <p:nvPr>
            <p:ph type="title"/>
          </p:nvPr>
        </p:nvSpPr>
        <p:spPr>
          <a:xfrm>
            <a:off x="311700" y="1957800"/>
            <a:ext cx="8571300" cy="73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Neo4j</a:t>
            </a:r>
            <a:endParaRPr xmlns:a="http://schemas.openxmlformats.org/drawingml/2006/main"/>
          </a:p>
        </p:txBody>
      </p:sp>
      <p:sp>
        <p:nvSpPr>
          <p:cNvPr id="162" name="Google Shape;162;p25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6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chemeClr val="dk2"/>
                </a:solidFill>
              </a:rPr>
              <a:t>‹#›</a:t>
            </a:fld>
            <a:endParaRPr>
              <a:solidFill>
                <a:schemeClr val="dk2"/>
              </a:solidFill>
            </a:endParaRPr>
          </a:p>
        </p:txBody>
      </p:sp>
      <p:pic>
        <p:nvPicPr>
          <p:cNvPr descr="Neo4j is a native graph database designed to handle highly complex relational data. Learn the basics of graph data modeling and the Cypher Query Language https://bit.ly/3Jcl6bO&#10;&#10;#programming #database #100secondsofcode &#10;&#10;💬 Chat with Me on Discord&#10;&#10;https://discord.gg/fireship&#10;&#10;🔗 Resources&#10;&#10;Neo4j Aura https://bit.ly/3Jcl6bO&#10;Neo4j GitHub https://github.com/neo4j/neo4j&#10;SQL in 100 Seconds https://youtu.be/zsjvFFKOm3c&#10;7 Database Paradigms https://youtu.be/W2Z7fbCLSTw&#10;&#10;Sponsored by Neo4j Aura &#10;&#10;🔥 Get More Content - Upgrade to PRO&#10;&#10;Upgrade at https://fireship.io/pro&#10;Use code YT25 for 25% off PRO access &#10;&#10;🎨 My Editor Settings&#10;&#10;- Atom One Dark &#10;- vscode-icons&#10;- Fira Code Font&#10;&#10;🔖 Topics Covered&#10;&#10;- Neo4j vs SQL&#10;- What is Neo4j?&#10;- Graph Databases vs RDBMS&#10;- Cypher Query Language basics&#10;- Neo4j quickstart tutorial" id="168" name="Google Shape;168;p26" title="Neo4j in 100 Seconds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47879" y="664925"/>
            <a:ext cx="6409546" cy="360537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6"/>
          <p:cNvSpPr txBox="1"/>
          <p:nvPr/>
        </p:nvSpPr>
        <p:spPr>
          <a:xfrm>
            <a:off x="1647875" y="166150"/>
            <a:ext cx="435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Take a deep breath!</a:t>
            </a:r>
            <a:endParaRPr xmlns:a="http://schemas.openxmlformats.org/drawingml/2006/main"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7"/>
          <p:cNvSpPr txBox="1"/>
          <p:nvPr>
            <p:ph idx="1" type="body"/>
          </p:nvPr>
        </p:nvSpPr>
        <p:spPr>
          <a:xfrm>
            <a:off x="311700" y="961525"/>
            <a:ext cx="8520600" cy="283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Neo4j is above all a </a:t>
            </a:r>
            <a:r xmlns:a="http://schemas.openxmlformats.org/drawingml/2006/main">
              <a:rPr b="1" lang="en"/>
              <a:t>Graph</a:t>
            </a:r>
            <a:r xmlns:a="http://schemas.openxmlformats.org/drawingml/2006/main">
              <a:rPr lang="en"/>
              <a:t> </a:t>
            </a:r>
            <a:r xmlns:a="http://schemas.openxmlformats.org/drawingml/2006/main">
              <a:rPr b="1" lang="en"/>
              <a:t>Database </a:t>
            </a:r>
            <a:r xmlns:a="http://schemas.openxmlformats.org/drawingml/2006/main">
              <a:rPr lang="en"/>
              <a:t>.</a:t>
            </a:r>
            <a:endParaRPr xmlns:a="http://schemas.openxmlformats.org/drawingml/2006/main"/>
          </a:p>
          <a:p>
            <a:pPr xmlns:a="http://schemas.openxmlformats.org/drawingml/2006/main"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 xmlns:a="http://schemas.openxmlformats.org/drawingml/2006/main">
              <a:rPr b="1" lang="en"/>
              <a:t>PostgreSQL </a:t>
            </a:r>
            <a:r xmlns:a="http://schemas.openxmlformats.org/drawingml/2006/main">
              <a:rPr lang="en"/>
              <a:t>: performance, optimization and data normalization.</a:t>
            </a:r>
            <a:endParaRPr xmlns:a="http://schemas.openxmlformats.org/drawingml/2006/main"/>
          </a:p>
          <a:p>
            <a:pPr xmlns:a="http://schemas.openxmlformats.org/drawingml/2006/main"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 xmlns:a="http://schemas.openxmlformats.org/drawingml/2006/main">
              <a:rPr b="1" lang="en"/>
              <a:t>MongoDB </a:t>
            </a:r>
            <a:r xmlns:a="http://schemas.openxmlformats.org/drawingml/2006/main">
              <a:rPr lang="en"/>
              <a:t>: Schema flexibility, aggregation pipelines, and performance for large volumes.</a:t>
            </a:r>
            <a:endParaRPr xmlns:a="http://schemas.openxmlformats.org/drawingml/2006/main"/>
          </a:p>
          <a:p>
            <a:pPr xmlns:a="http://schemas.openxmlformats.org/drawingml/2006/main"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 xmlns:a="http://schemas.openxmlformats.org/drawingml/2006/main">
              <a:rPr b="1" lang="en"/>
              <a:t>Graph databases </a:t>
            </a:r>
            <a:r xmlns:a="http://schemas.openxmlformats.org/drawingml/2006/main">
              <a:rPr lang="en"/>
              <a:t>like </a:t>
            </a:r>
            <a:r xmlns:a="http://schemas.openxmlformats.org/drawingml/2006/main">
              <a:rPr lang="en"/>
              <a:t>Neo4j bring a dimension of analysis of data modeled in the form of graphs</a:t>
            </a:r>
            <a:endParaRPr xmlns:a="http://schemas.openxmlformats.org/drawingml/2006/main"/>
          </a:p>
          <a:p>
            <a:pPr xmlns:a="http://schemas.openxmlformats.org/drawingml/2006/main"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 xmlns:a="http://schemas.openxmlformats.org/drawingml/2006/main">
              <a:rPr lang="en"/>
              <a:t>graph datascience &amp; knowledge graphs</a:t>
            </a:r>
            <a:endParaRPr xmlns:a="http://schemas.openxmlformats.org/drawingml/2006/main"/>
          </a:p>
        </p:txBody>
      </p:sp>
      <p:sp>
        <p:nvSpPr>
          <p:cNvPr id="175" name="Google Shape;175;p27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SQL vs MongoDB vs Neo4j</a:t>
            </a:r>
            <a:endParaRPr xmlns:a="http://schemas.openxmlformats.org/drawingml/2006/main"/>
          </a:p>
        </p:txBody>
      </p:sp>
      <p:sp>
        <p:nvSpPr>
          <p:cNvPr id="176" name="Google Shape;176;p27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8"/>
          <p:cNvSpPr txBox="1"/>
          <p:nvPr>
            <p:ph idx="1" type="body"/>
          </p:nvPr>
        </p:nvSpPr>
        <p:spPr>
          <a:xfrm>
            <a:off x="311700" y="732925"/>
            <a:ext cx="8520600" cy="32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Analyze complex data modeled in the form of graphs.</a:t>
            </a:r>
            <a:endParaRPr xmlns:a="http://schemas.openxmlformats.org/drawingml/2006/main"/>
          </a:p>
          <a:p>
            <a:pPr xmlns:a="http://schemas.openxmlformats.org/drawingml/2006/main"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 xmlns:a="http://schemas.openxmlformats.org/drawingml/2006/main">
              <a:rPr b="1" lang="en"/>
              <a:t>algorithms </a:t>
            </a:r>
            <a:r xmlns:a="http://schemas.openxmlformats.org/drawingml/2006/main">
              <a:rPr lang="en"/>
              <a:t>for identifying patterns, communities or anomalies</a:t>
            </a:r>
            <a:endParaRPr xmlns:a="http://schemas.openxmlformats.org/drawingml/2006/main"/>
          </a:p>
          <a:p>
            <a:pPr xmlns:a="http://schemas.openxmlformats.org/drawingml/2006/main"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 xmlns:a="http://schemas.openxmlformats.org/drawingml/2006/main">
              <a:rPr b="1" lang="en"/>
              <a:t>Study </a:t>
            </a:r>
            <a:r xmlns:a="http://schemas.openxmlformats.org/drawingml/2006/main">
              <a:rPr lang="en"/>
              <a:t>of relationships between entities (nodes) and their connections (edges) to extract information.</a:t>
            </a:r>
            <a:endParaRPr xmlns:a="http://schemas.openxmlformats.org/drawingml/2006/main"/>
          </a:p>
          <a:p>
            <a:pPr xmlns:a="http://schemas.openxmlformats.org/drawingml/2006/main"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 xmlns:a="http://schemas.openxmlformats.org/drawingml/2006/main">
              <a:rPr lang="en"/>
              <a:t>network analysis,</a:t>
            </a:r>
            <a:endParaRPr xmlns:a="http://schemas.openxmlformats.org/drawingml/2006/main"/>
          </a:p>
          <a:p>
            <a:pPr xmlns:a="http://schemas.openxmlformats.org/drawingml/2006/main"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 xmlns:a="http://schemas.openxmlformats.org/drawingml/2006/main">
              <a:rPr lang="en"/>
              <a:t>community detection,</a:t>
            </a:r>
            <a:endParaRPr xmlns:a="http://schemas.openxmlformats.org/drawingml/2006/main"/>
          </a:p>
          <a:p>
            <a:pPr xmlns:a="http://schemas.openxmlformats.org/drawingml/2006/main"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 xmlns:a="http://schemas.openxmlformats.org/drawingml/2006/main">
              <a:rPr lang="en"/>
              <a:t>link prediction</a:t>
            </a:r>
            <a:endParaRPr xmlns:a="http://schemas.openxmlformats.org/drawingml/2006/main"/>
          </a:p>
          <a:p>
            <a:pPr xmlns:a="http://schemas.openxmlformats.org/drawingml/2006/main"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 xmlns:a="http://schemas.openxmlformats.org/drawingml/2006/main">
              <a:rPr b="1" lang="en"/>
              <a:t>Applications </a:t>
            </a:r>
            <a:r xmlns:a="http://schemas.openxmlformats.org/drawingml/2006/main">
              <a:rPr lang="en"/>
              <a:t>: social networks, bioinformatics, product recommendations, etc.</a:t>
            </a:r>
            <a:endParaRPr xmlns:a="http://schemas.openxmlformats.org/drawingml/2006/main"/>
          </a:p>
        </p:txBody>
      </p:sp>
      <p:sp>
        <p:nvSpPr>
          <p:cNvPr id="182" name="Google Shape;182;p28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Graph data science</a:t>
            </a:r>
            <a:endParaRPr xmlns:a="http://schemas.openxmlformats.org/drawingml/2006/main"/>
          </a:p>
        </p:txBody>
      </p:sp>
      <p:sp>
        <p:nvSpPr>
          <p:cNvPr id="183" name="Google Shape;183;p28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9"/>
          <p:cNvSpPr txBox="1"/>
          <p:nvPr/>
        </p:nvSpPr>
        <p:spPr>
          <a:xfrm>
            <a:off x="300475" y="1045925"/>
            <a:ext cx="5266200" cy="20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51E29"/>
              </a:buClr>
              <a:buSzPts val="1200"/>
              <a:buFont typeface="Helvetica Neue"/>
              <a:buChar char="●"/>
            </a:pPr>
            <a:r xmlns:a="http://schemas.openxmlformats.org/drawingml/2006/main">
              <a:rPr lang="en" sz="1200">
                <a:solidFill>
                  <a:srgbClr val="151E29"/>
                </a:solidFill>
                <a:highlight>
                  <a:srgbClr val="FFFCF4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Centrality Algorithms: Find important/influential nodes in network</a:t>
            </a:r>
            <a:endParaRPr xmlns:a="http://schemas.openxmlformats.org/drawingml/2006/main" sz="1200">
              <a:solidFill>
                <a:srgbClr val="151E29"/>
              </a:solidFill>
              <a:highlight>
                <a:srgbClr val="FFFCF4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xmlns:a="http://schemas.openxmlformats.org/drawingml/2006/main"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E29"/>
              </a:buClr>
              <a:buSzPts val="1200"/>
              <a:buFont typeface="Helvetica Neue"/>
              <a:buChar char="●"/>
            </a:pPr>
            <a:r xmlns:a="http://schemas.openxmlformats.org/drawingml/2006/main">
              <a:rPr lang="en" sz="1200">
                <a:solidFill>
                  <a:srgbClr val="151E29"/>
                </a:solidFill>
                <a:highlight>
                  <a:srgbClr val="FFFCF4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Community Detection: Identify groups of densely connected nodes</a:t>
            </a:r>
            <a:endParaRPr xmlns:a="http://schemas.openxmlformats.org/drawingml/2006/main" sz="1200">
              <a:solidFill>
                <a:srgbClr val="151E29"/>
              </a:solidFill>
              <a:highlight>
                <a:srgbClr val="FFFCF4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xmlns:a="http://schemas.openxmlformats.org/drawingml/2006/main"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E29"/>
              </a:buClr>
              <a:buSzPts val="1200"/>
              <a:buFont typeface="Helvetica Neue"/>
              <a:buChar char="●"/>
            </a:pPr>
            <a:r xmlns:a="http://schemas.openxmlformats.org/drawingml/2006/main">
              <a:rPr lang="en" sz="1200">
                <a:solidFill>
                  <a:srgbClr val="151E29"/>
                </a:solidFill>
                <a:highlight>
                  <a:srgbClr val="FFFCF4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Path Finding: Discover optimal routes between nodes</a:t>
            </a:r>
            <a:endParaRPr xmlns:a="http://schemas.openxmlformats.org/drawingml/2006/main" sz="1200">
              <a:solidFill>
                <a:srgbClr val="151E29"/>
              </a:solidFill>
              <a:highlight>
                <a:srgbClr val="FFFCF4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xmlns:a="http://schemas.openxmlformats.org/drawingml/2006/main"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E29"/>
              </a:buClr>
              <a:buSzPts val="1200"/>
              <a:buFont typeface="Helvetica Neue"/>
              <a:buChar char="●"/>
            </a:pPr>
            <a:r xmlns:a="http://schemas.openxmlformats.org/drawingml/2006/main">
              <a:rPr lang="en" sz="1200">
                <a:solidFill>
                  <a:srgbClr val="151E29"/>
                </a:solidFill>
                <a:highlight>
                  <a:srgbClr val="FFFCF4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Similarity Algorithms: Calculate how similar nodes/communities are</a:t>
            </a:r>
            <a:endParaRPr xmlns:a="http://schemas.openxmlformats.org/drawingml/2006/main" sz="1200">
              <a:solidFill>
                <a:srgbClr val="151E29"/>
              </a:solidFill>
              <a:highlight>
                <a:srgbClr val="FFFCF4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xmlns:a="http://schemas.openxmlformats.org/drawingml/2006/main"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E29"/>
              </a:buClr>
              <a:buSzPts val="1200"/>
              <a:buFont typeface="Helvetica Neue"/>
              <a:buChar char="●"/>
            </a:pPr>
            <a:r xmlns:a="http://schemas.openxmlformats.org/drawingml/2006/main">
              <a:rPr lang="en" sz="1200">
                <a:solidFill>
                  <a:srgbClr val="151E29"/>
                </a:solidFill>
                <a:highlight>
                  <a:srgbClr val="FFFCF4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Machine Learning: Node embeddings and predictions</a:t>
            </a:r>
            <a:endParaRPr xmlns:a="http://schemas.openxmlformats.org/drawingml/2006/main" sz="1200">
              <a:solidFill>
                <a:srgbClr val="151E29"/>
              </a:solidFill>
              <a:highlight>
                <a:srgbClr val="FFFCF4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xmlns:a="http://schemas.openxmlformats.org/drawingml/2006/main"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E29"/>
              </a:buClr>
              <a:buSzPts val="1200"/>
              <a:buFont typeface="Helvetica Neue"/>
              <a:buChar char="●"/>
            </a:pPr>
            <a:r xmlns:a="http://schemas.openxmlformats.org/drawingml/2006/main">
              <a:rPr lang="en" sz="1200">
                <a:solidFill>
                  <a:srgbClr val="151E29"/>
                </a:solidFill>
                <a:highlight>
                  <a:srgbClr val="FFFCF4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Node Embedding: Convert graph structure to vector space</a:t>
            </a:r>
            <a:endParaRPr xmlns:a="http://schemas.openxmlformats.org/drawingml/2006/main" sz="1200">
              <a:solidFill>
                <a:srgbClr val="151E29"/>
              </a:solidFill>
              <a:highlight>
                <a:srgbClr val="FFFCF4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xmlns:a="http://schemas.openxmlformats.org/drawingml/2006/main"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E29"/>
              </a:buClr>
              <a:buSzPts val="1200"/>
              <a:buFont typeface="Helvetica Neue"/>
              <a:buChar char="●"/>
            </a:pPr>
            <a:r xmlns:a="http://schemas.openxmlformats.org/drawingml/2006/main">
              <a:rPr lang="en" sz="1200">
                <a:solidFill>
                  <a:srgbClr val="151E29"/>
                </a:solidFill>
                <a:highlight>
                  <a:srgbClr val="FFFCF4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Link Prediction: Predict future/missing relationships</a:t>
            </a:r>
            <a:endParaRPr xmlns:a="http://schemas.openxmlformats.org/drawingml/2006/main" sz="1200">
              <a:solidFill>
                <a:srgbClr val="151E29"/>
              </a:solidFill>
              <a:highlight>
                <a:srgbClr val="FFFCF4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xmlns:a="http://schemas.openxmlformats.org/drawingml/2006/main"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 sz="1200">
              <a:solidFill>
                <a:srgbClr val="151E29"/>
              </a:solidFill>
              <a:highlight>
                <a:srgbClr val="FFFCF4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9" name="Google Shape;189;p29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Graph data science</a:t>
            </a:r>
            <a:endParaRPr xmlns:a="http://schemas.openxmlformats.org/drawingml/2006/main"/>
          </a:p>
        </p:txBody>
      </p:sp>
      <p:sp>
        <p:nvSpPr>
          <p:cNvPr id="190" name="Google Shape;190;p29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91" name="Google Shape;191;p29"/>
          <p:cNvSpPr txBox="1"/>
          <p:nvPr/>
        </p:nvSpPr>
        <p:spPr>
          <a:xfrm>
            <a:off x="533400" y="3581400"/>
            <a:ext cx="546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 xmlns:r="http://schemas.openxmlformats.org/officeDocument/2006/relationships">
              <a:rPr lang="en" u="sng">
                <a:solidFill>
                  <a:schemeClr val="hlink"/>
                </a:solidFill>
                <a:hlinkClick r:id="rId3"/>
              </a:rPr>
              <a:t>https://neo4j.com/use-cases/knowledge-graph/</a:t>
            </a:r>
            <a:r xmlns:a="http://schemas.openxmlformats.org/drawingml/2006/main">
              <a:rPr lang="en"/>
              <a:t> </a:t>
            </a:r>
            <a:endParaRPr xmlns:a="http://schemas.openxmlformats.org/drawingml/2006/main"/>
          </a:p>
        </p:txBody>
      </p:sp>
      <p:pic>
        <p:nvPicPr>
          <p:cNvPr id="192" name="Google Shape;192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18700" y="817325"/>
            <a:ext cx="3372899" cy="3095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0"/>
          <p:cNvSpPr txBox="1"/>
          <p:nvPr/>
        </p:nvSpPr>
        <p:spPr>
          <a:xfrm>
            <a:off x="129575" y="922575"/>
            <a:ext cx="38040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Structured representation of facts and relationships between entities.</a:t>
            </a:r>
            <a:endParaRPr xmlns:a="http://schemas.openxmlformats.org/drawingml/2006/main"/>
          </a:p>
          <a:p>
            <a:pPr xmlns:a="http://schemas.openxmlformats.org/drawingml/2006/main"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 xmlns:a="http://schemas.openxmlformats.org/drawingml/2006/main">
              <a:rPr lang="en"/>
              <a:t>Nodes (Entities): People, places, objects, concepts.</a:t>
            </a:r>
            <a:endParaRPr xmlns:a="http://schemas.openxmlformats.org/drawingml/2006/main"/>
          </a:p>
          <a:p>
            <a:pPr xmlns:a="http://schemas.openxmlformats.org/drawingml/2006/main"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 xmlns:a="http://schemas.openxmlformats.org/drawingml/2006/main">
              <a:rPr lang="en"/>
              <a:t>Edges (Relationships): How entities are connected</a:t>
            </a:r>
            <a:endParaRPr xmlns:a="http://schemas.openxmlformats.org/drawingml/2006/main"/>
          </a:p>
          <a:p>
            <a:pPr xmlns:a="http://schemas.openxmlformats.org/drawingml/2006/main"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 xmlns:a="http://schemas.openxmlformats.org/drawingml/2006/main">
              <a:rPr lang="en"/>
              <a:t>Paris is the capital of France</a:t>
            </a:r>
            <a:endParaRPr xmlns:a="http://schemas.openxmlformats.org/drawingml/2006/main"/>
          </a:p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Why use knowledge graphs?</a:t>
            </a:r>
            <a:endParaRPr xmlns:a="http://schemas.openxmlformats.org/drawingml/2006/main"/>
          </a:p>
          <a:p>
            <a:pPr xmlns:a="http://schemas.openxmlformats.org/drawingml/2006/main"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 xmlns:a="http://schemas.openxmlformats.org/drawingml/2006/main">
              <a:rPr lang="en"/>
              <a:t>research</a:t>
            </a:r>
            <a:endParaRPr xmlns:a="http://schemas.openxmlformats.org/drawingml/2006/main"/>
          </a:p>
          <a:p>
            <a:pPr xmlns:a="http://schemas.openxmlformats.org/drawingml/2006/main"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 xmlns:a="http://schemas.openxmlformats.org/drawingml/2006/main">
              <a:rPr lang="en"/>
              <a:t>reasoning</a:t>
            </a:r>
            <a:endParaRPr xmlns:a="http://schemas.openxmlformats.org/drawingml/2006/main"/>
          </a:p>
          <a:p>
            <a:pPr xmlns:a="http://schemas.openxmlformats.org/drawingml/2006/main"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 xmlns:a="http://schemas.openxmlformats.org/drawingml/2006/main">
              <a:rPr lang="en"/>
              <a:t>inference</a:t>
            </a:r>
            <a:endParaRPr xmlns:a="http://schemas.openxmlformats.org/drawingml/2006/main"/>
          </a:p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</p:txBody>
      </p:sp>
      <p:sp>
        <p:nvSpPr>
          <p:cNvPr id="198" name="Google Shape;198;p30"/>
          <p:cNvSpPr txBox="1"/>
          <p:nvPr/>
        </p:nvSpPr>
        <p:spPr>
          <a:xfrm>
            <a:off x="0" y="0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 sz="2400"/>
          </a:p>
        </p:txBody>
      </p:sp>
      <p:pic>
        <p:nvPicPr>
          <p:cNvPr id="199" name="Google Shape;19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7425" y="853500"/>
            <a:ext cx="5190374" cy="2919906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30"/>
          <p:cNvSpPr txBox="1"/>
          <p:nvPr/>
        </p:nvSpPr>
        <p:spPr>
          <a:xfrm>
            <a:off x="4252425" y="48048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 sz="1000"/>
              <a:t>https://zilliz.com/learn/what-is-knowledge-graph</a:t>
            </a:r>
            <a:endParaRPr xmlns:a="http://schemas.openxmlformats.org/drawingml/2006/main" sz="1000"/>
          </a:p>
        </p:txBody>
      </p:sp>
      <p:sp>
        <p:nvSpPr>
          <p:cNvPr id="201" name="Google Shape;201;p30"/>
          <p:cNvSpPr txBox="1"/>
          <p:nvPr>
            <p:ph type="title"/>
          </p:nvPr>
        </p:nvSpPr>
        <p:spPr>
          <a:xfrm>
            <a:off x="6900" y="-12175"/>
            <a:ext cx="85206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Knowledge Graphs</a:t>
            </a:r>
            <a:endParaRPr xmlns:a="http://schemas.openxmlformats.org/drawingml/2006/main"/>
          </a:p>
        </p:txBody>
      </p:sp>
      <p:sp>
        <p:nvSpPr>
          <p:cNvPr id="202" name="Google Shape;202;p30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1"/>
          <p:cNvSpPr txBox="1"/>
          <p:nvPr/>
        </p:nvSpPr>
        <p:spPr>
          <a:xfrm>
            <a:off x="53375" y="922575"/>
            <a:ext cx="53565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/>
          </a:p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There is an API!</a:t>
            </a:r>
            <a:endParaRPr xmlns:a="http://schemas.openxmlformats.org/drawingml/2006/main"/>
          </a:p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 xmlns:r="http://schemas.openxmlformats.org/officeDocument/2006/relationships">
              <a:rPr lang="en" sz="1100" u="sng">
                <a:solidFill>
                  <a:schemeClr val="hlink"/>
                </a:solidFill>
                <a:hlinkClick r:id="rId3"/>
              </a:rPr>
              <a:t>https://developers.google.com/knowledge-graph</a:t>
            </a:r>
            <a:r xmlns:a="http://schemas.openxmlformats.org/drawingml/2006/main">
              <a:rPr lang="en" sz="1100"/>
              <a:t> </a:t>
            </a:r>
            <a:endParaRPr xmlns:a="http://schemas.openxmlformats.org/drawingml/2006/main" sz="1100"/>
          </a:p>
        </p:txBody>
      </p:sp>
      <p:sp>
        <p:nvSpPr>
          <p:cNvPr id="208" name="Google Shape;208;p31"/>
          <p:cNvSpPr txBox="1"/>
          <p:nvPr/>
        </p:nvSpPr>
        <p:spPr>
          <a:xfrm>
            <a:off x="0" y="0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 sz="2400"/>
          </a:p>
        </p:txBody>
      </p:sp>
      <p:sp>
        <p:nvSpPr>
          <p:cNvPr id="209" name="Google Shape;209;p31"/>
          <p:cNvSpPr txBox="1"/>
          <p:nvPr>
            <p:ph type="title"/>
          </p:nvPr>
        </p:nvSpPr>
        <p:spPr>
          <a:xfrm>
            <a:off x="6900" y="-12175"/>
            <a:ext cx="85206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Google Knowledge Graphs</a:t>
            </a:r>
            <a:endParaRPr xmlns:a="http://schemas.openxmlformats.org/drawingml/2006/main"/>
          </a:p>
        </p:txBody>
      </p:sp>
      <p:sp>
        <p:nvSpPr>
          <p:cNvPr id="210" name="Google Shape;210;p31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211" name="Google Shape;21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81400" y="597675"/>
            <a:ext cx="5566802" cy="4118024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1"/>
          <p:cNvSpPr txBox="1"/>
          <p:nvPr/>
        </p:nvSpPr>
        <p:spPr>
          <a:xfrm>
            <a:off x="3505200" y="4648200"/>
            <a:ext cx="4363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 xmlns:r="http://schemas.openxmlformats.org/officeDocument/2006/relationships">
              <a:rPr lang="en" sz="1100" u="sng">
                <a:solidFill>
                  <a:schemeClr val="hlink"/>
                </a:solidFill>
                <a:hlinkClick r:id="rId5"/>
              </a:rPr>
              <a:t>https://www.google.com/search?q=Neo4j</a:t>
            </a:r>
            <a:r xmlns:a="http://schemas.openxmlformats.org/drawingml/2006/main">
              <a:rPr lang="en" sz="1100"/>
              <a:t> </a:t>
            </a:r>
            <a:endParaRPr xmlns:a="http://schemas.openxmlformats.org/drawingml/2006/main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2"/>
          <p:cNvSpPr txBox="1"/>
          <p:nvPr/>
        </p:nvSpPr>
        <p:spPr>
          <a:xfrm>
            <a:off x="2052700" y="4427150"/>
            <a:ext cx="5696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 sz="11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from </a:t>
            </a:r>
            <a:r xmlns:a="http://schemas.openxmlformats.org/drawingml/2006/main" xmlns:r="http://schemas.openxmlformats.org/officeDocument/2006/relationships">
              <a:rPr lang="en" sz="1100" u="sng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Algorithms and Software for the Analysis of Large Complex Networks</a:t>
            </a:r>
            <a:endParaRPr xmlns:a="http://schemas.openxmlformats.org/drawingml/2006/main" sz="11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8" name="Google Shape;218;p32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Graph</a:t>
            </a:r>
            <a:endParaRPr xmlns:a="http://schemas.openxmlformats.org/drawingml/2006/main"/>
          </a:p>
        </p:txBody>
      </p:sp>
      <p:sp>
        <p:nvSpPr>
          <p:cNvPr id="219" name="Google Shape;219;p32"/>
          <p:cNvSpPr txBox="1"/>
          <p:nvPr>
            <p:ph idx="1" type="body"/>
          </p:nvPr>
        </p:nvSpPr>
        <p:spPr>
          <a:xfrm>
            <a:off x="311700" y="1266325"/>
            <a:ext cx="2956500" cy="140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Nodes</a:t>
            </a:r>
            <a:endParaRPr xmlns:a="http://schemas.openxmlformats.org/drawingml/2006/main"/>
          </a:p>
          <a:p>
            <a:pPr xmlns:a="http://schemas.openxmlformats.org/drawingml/2006/main"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&amp;</a:t>
            </a:r>
            <a:endParaRPr xmlns:a="http://schemas.openxmlformats.org/drawingml/2006/main"/>
          </a:p>
          <a:p>
            <a:pPr xmlns:a="http://schemas.openxmlformats.org/drawingml/2006/main"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 xmlns:a="http://schemas.openxmlformats.org/drawingml/2006/main">
              <a:rPr lang="en"/>
              <a:t>Edges</a:t>
            </a:r>
            <a:endParaRPr xmlns:a="http://schemas.openxmlformats.org/drawingml/2006/main"/>
          </a:p>
        </p:txBody>
      </p:sp>
      <p:sp>
        <p:nvSpPr>
          <p:cNvPr id="220" name="Google Shape;220;p32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221" name="Google Shape;221;p32" title="A-node-edge-diagram-of-the-dolphin-social-network-Node-labels-are-the-names-researcher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76400" y="188149"/>
            <a:ext cx="6215200" cy="312952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2"/>
          <p:cNvSpPr txBox="1"/>
          <p:nvPr/>
        </p:nvSpPr>
        <p:spPr>
          <a:xfrm>
            <a:off x="2061925" y="3524425"/>
            <a:ext cx="6465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>
                <a:solidFill>
                  <a:srgbClr val="999999"/>
                </a:solidFill>
              </a:rPr>
              <a:t>A node-edge diagram of the </a:t>
            </a:r>
            <a:r xmlns:a="http://schemas.openxmlformats.org/drawingml/2006/main">
              <a:rPr b="1" lang="en">
                <a:solidFill>
                  <a:srgbClr val="999999"/>
                </a:solidFill>
              </a:rPr>
              <a:t>dolphin social network. </a:t>
            </a:r>
            <a:br xmlns:a="http://schemas.openxmlformats.org/drawingml/2006/main">
              <a:rPr lang="fr">
                <a:solidFill>
                  <a:srgbClr val="999999"/>
                </a:solidFill>
              </a:rPr>
            </a:br>
            <a:r xmlns:a="http://schemas.openxmlformats.org/drawingml/2006/main">
              <a:rPr lang="en">
                <a:solidFill>
                  <a:srgbClr val="999999"/>
                </a:solidFill>
              </a:rPr>
              <a:t>Node labels are the names researchers assigned to the individual dolphins. </a:t>
            </a:r>
            <a:br xmlns:a="http://schemas.openxmlformats.org/drawingml/2006/main">
              <a:rPr lang="fr">
                <a:solidFill>
                  <a:srgbClr val="999999"/>
                </a:solidFill>
              </a:rPr>
            </a:br>
            <a:r xmlns:a="http://schemas.openxmlformats.org/drawingml/2006/main">
              <a:rPr lang="en">
                <a:solidFill>
                  <a:srgbClr val="999999"/>
                </a:solidFill>
              </a:rPr>
              <a:t>Node color indicates male (pink), female (blue) or unknown (gray).</a:t>
            </a:r>
            <a:endParaRPr xmlns:a="http://schemas.openxmlformats.org/drawingml/2006/main">
              <a:solidFill>
                <a:srgbClr val="999999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33" title="le-malade-imaginai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0406" y="844425"/>
            <a:ext cx="3461769" cy="323227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33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Graphs in Neo4J: weights, properties, labels</a:t>
            </a:r>
            <a:endParaRPr xmlns:a="http://schemas.openxmlformats.org/drawingml/2006/main"/>
          </a:p>
        </p:txBody>
      </p:sp>
      <p:sp>
        <p:nvSpPr>
          <p:cNvPr id="229" name="Google Shape;229;p33"/>
          <p:cNvSpPr txBox="1"/>
          <p:nvPr>
            <p:ph idx="1" type="body"/>
          </p:nvPr>
        </p:nvSpPr>
        <p:spPr>
          <a:xfrm>
            <a:off x="83100" y="961525"/>
            <a:ext cx="8447700" cy="14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 sz="1600"/>
              <a:t>Nodes and relationships (Aretes) can have</a:t>
            </a:r>
            <a:endParaRPr xmlns:a="http://schemas.openxmlformats.org/drawingml/2006/main" sz="1600"/>
          </a:p>
          <a:p>
            <a:pPr xmlns:a="http://schemas.openxmlformats.org/drawingml/2006/main"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 xmlns:a="http://schemas.openxmlformats.org/drawingml/2006/main">
              <a:rPr lang="en" sz="1600"/>
              <a:t>weights according to their relative importance</a:t>
            </a:r>
            <a:endParaRPr xmlns:a="http://schemas.openxmlformats.org/drawingml/2006/main" sz="1600"/>
          </a:p>
          <a:p>
            <a:pPr xmlns:a="http://schemas.openxmlformats.org/drawingml/2006/main"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 xmlns:a="http://schemas.openxmlformats.org/drawingml/2006/main">
              <a:rPr lang="en" sz="1600"/>
              <a:t>properties</a:t>
            </a:r>
            <a:endParaRPr xmlns:a="http://schemas.openxmlformats.org/drawingml/2006/main" sz="1600"/>
          </a:p>
          <a:p>
            <a:pPr xmlns:a="http://schemas.openxmlformats.org/drawingml/2006/main"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 xmlns:a="http://schemas.openxmlformats.org/drawingml/2006/main">
              <a:rPr lang="en" sz="1600"/>
              <a:t>labels</a:t>
            </a:r>
            <a:endParaRPr xmlns:a="http://schemas.openxmlformats.org/drawingml/2006/main" sz="1600"/>
          </a:p>
        </p:txBody>
      </p:sp>
      <p:sp>
        <p:nvSpPr>
          <p:cNvPr id="230" name="Google Shape;230;p33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31" name="Google Shape;231;p33"/>
          <p:cNvSpPr txBox="1"/>
          <p:nvPr/>
        </p:nvSpPr>
        <p:spPr>
          <a:xfrm>
            <a:off x="152400" y="2743200"/>
            <a:ext cx="5895000" cy="17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 xmlns:a="http://schemas.openxmlformats.org/drawingml/2006/main">
              <a:rPr lang="en" sz="1600">
                <a:solidFill>
                  <a:srgbClr val="666666"/>
                </a:solidFill>
              </a:rPr>
              <a:t>Relations are </a:t>
            </a:r>
            <a:r xmlns:a="http://schemas.openxmlformats.org/drawingml/2006/main">
              <a:rPr b="1" lang="en" sz="1600">
                <a:solidFill>
                  <a:srgbClr val="666666"/>
                </a:solidFill>
              </a:rPr>
              <a:t>verbs </a:t>
            </a:r>
            <a:r xmlns:a="http://schemas.openxmlformats.org/drawingml/2006/main">
              <a:rPr lang="en" sz="1600">
                <a:solidFill>
                  <a:srgbClr val="666666"/>
                </a:solidFill>
              </a:rPr>
              <a:t>or </a:t>
            </a:r>
            <a:r xmlns:a="http://schemas.openxmlformats.org/drawingml/2006/main">
              <a:rPr b="1" lang="en" sz="1600">
                <a:solidFill>
                  <a:srgbClr val="666666"/>
                </a:solidFill>
              </a:rPr>
              <a:t>verb phrases</a:t>
            </a:r>
            <a:r xmlns:a="http://schemas.openxmlformats.org/drawingml/2006/main">
              <a:rPr lang="en" sz="1600">
                <a:solidFill>
                  <a:srgbClr val="666666"/>
                </a:solidFill>
              </a:rPr>
              <a:t> </a:t>
            </a:r>
            <a:br xmlns:a="http://schemas.openxmlformats.org/drawingml/2006/main">
              <a:rPr lang="fr" sz="1600">
                <a:solidFill>
                  <a:srgbClr val="666666"/>
                </a:solidFill>
              </a:rPr>
            </a:br>
            <a:r xmlns:a="http://schemas.openxmlformats.org/drawingml/2006/main">
              <a:rPr lang="en" sz="1600">
                <a:solidFill>
                  <a:srgbClr val="666666"/>
                </a:solidFill>
              </a:rPr>
              <a:t>which describe the action, the connection between the nodes.</a:t>
            </a:r>
            <a:endParaRPr xmlns:a="http://schemas.openxmlformats.org/drawingml/2006/main" sz="1600">
              <a:solidFill>
                <a:srgbClr val="666666"/>
              </a:solidFill>
            </a:endParaRPr>
          </a:p>
          <a:p>
            <a:pPr xmlns:a="http://schemas.openxmlformats.org/drawingml/2006/main"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 xmlns:a="http://schemas.openxmlformats.org/drawingml/2006/main">
              <a:rPr lang="en" sz="1600">
                <a:solidFill>
                  <a:srgbClr val="666666"/>
                </a:solidFill>
              </a:rPr>
              <a:t>They define the semantic meaning of how nodes interact. Like verbs in sentences, they must be clear and specific about the nature of the relationship.</a:t>
            </a:r>
            <a:endParaRPr xmlns:a="http://schemas.openxmlformats.org/drawingml/2006/main" sz="1600">
              <a:solidFill>
                <a:srgbClr val="666666"/>
              </a:solidFill>
            </a:endParaRPr>
          </a:p>
        </p:txBody>
      </p:sp>
      <p:sp>
        <p:nvSpPr>
          <p:cNvPr id="232" name="Google Shape;232;p33"/>
          <p:cNvSpPr txBox="1"/>
          <p:nvPr/>
        </p:nvSpPr>
        <p:spPr>
          <a:xfrm>
            <a:off x="5820050" y="4239175"/>
            <a:ext cx="313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 xmlns:r="http://schemas.openxmlformats.org/officeDocument/2006/relationships">
              <a:rPr lang="en" sz="18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4"/>
              </a:rPr>
              <a:t>Moliere.love</a:t>
            </a:r>
            <a:endParaRPr xmlns:a="http://schemas.openxmlformats.org/drawingml/2006/main"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275" y="-53750"/>
            <a:ext cx="7261174" cy="5417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5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Example of the Paris metro</a:t>
            </a:r>
            <a:endParaRPr xmlns:a="http://schemas.openxmlformats.org/drawingml/2006/main"/>
          </a:p>
        </p:txBody>
      </p:sp>
      <p:sp>
        <p:nvSpPr>
          <p:cNvPr id="243" name="Google Shape;243;p35"/>
          <p:cNvSpPr txBox="1"/>
          <p:nvPr>
            <p:ph idx="1" type="body"/>
          </p:nvPr>
        </p:nvSpPr>
        <p:spPr>
          <a:xfrm>
            <a:off x="311700" y="885325"/>
            <a:ext cx="3562800" cy="20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b="1" lang="en" sz="1600">
                <a:latin typeface="Calibri"/>
                <a:ea typeface="Calibri"/>
                <a:cs typeface="Calibri"/>
                <a:sym typeface="Calibri"/>
              </a:rPr>
              <a:t>Knots</a:t>
            </a:r>
            <a:endParaRPr xmlns:a="http://schemas.openxmlformats.org/drawingml/2006/main" b="1" sz="1600">
              <a:latin typeface="Calibri"/>
              <a:ea typeface="Calibri"/>
              <a:cs typeface="Calibri"/>
              <a:sym typeface="Calibri"/>
            </a:endParaRPr>
          </a:p>
          <a:p>
            <a:pPr xmlns:a="http://schemas.openxmlformats.org/drawingml/2006/main" indent="-317500" lvl="0" marL="457200" rtl="0" algn="l"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 xmlns:a="http://schemas.openxmlformats.org/drawingml/2006/main">
              <a:rPr lang="en" sz="1400">
                <a:latin typeface="Calibri"/>
                <a:ea typeface="Calibri"/>
                <a:cs typeface="Calibri"/>
                <a:sym typeface="Calibri"/>
              </a:rPr>
              <a:t>labels: Metro / RER</a:t>
            </a:r>
            <a:endParaRPr xmlns:a="http://schemas.openxmlformats.org/drawingml/2006/main" sz="1400">
              <a:latin typeface="Calibri"/>
              <a:ea typeface="Calibri"/>
              <a:cs typeface="Calibri"/>
              <a:sym typeface="Calibri"/>
            </a:endParaRPr>
          </a:p>
          <a:p>
            <a:pPr xmlns:a="http://schemas.openxmlformats.org/drawingml/2006/main"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 xmlns:a="http://schemas.openxmlformats.org/drawingml/2006/main">
              <a:rPr lang="en" sz="1400">
                <a:latin typeface="Calibri"/>
                <a:ea typeface="Calibri"/>
                <a:cs typeface="Calibri"/>
                <a:sym typeface="Calibri"/>
              </a:rPr>
              <a:t>properties:</a:t>
            </a:r>
            <a:endParaRPr xmlns:a="http://schemas.openxmlformats.org/drawingml/2006/main" sz="1400">
              <a:latin typeface="Calibri"/>
              <a:ea typeface="Calibri"/>
              <a:cs typeface="Calibri"/>
              <a:sym typeface="Calibri"/>
            </a:endParaRPr>
          </a:p>
          <a:p>
            <a:pPr xmlns:a="http://schemas.openxmlformats.org/drawingml/2006/main"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</a:pPr>
            <a:r xmlns:a="http://schemas.openxmlformats.org/drawingml/2006/main">
              <a:rPr lang="en">
                <a:latin typeface="Calibri"/>
                <a:ea typeface="Calibri"/>
                <a:cs typeface="Calibri"/>
                <a:sym typeface="Calibri"/>
              </a:rPr>
              <a:t>name</a:t>
            </a:r>
            <a:endParaRPr xmlns:a="http://schemas.openxmlformats.org/drawingml/2006/main">
              <a:latin typeface="Calibri"/>
              <a:ea typeface="Calibri"/>
              <a:cs typeface="Calibri"/>
              <a:sym typeface="Calibri"/>
            </a:endParaRPr>
          </a:p>
          <a:p>
            <a:pPr xmlns:a="http://schemas.openxmlformats.org/drawingml/2006/main"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</a:pPr>
            <a:r xmlns:a="http://schemas.openxmlformats.org/drawingml/2006/main">
              <a:rPr lang="en">
                <a:latin typeface="Calibri"/>
                <a:ea typeface="Calibri"/>
                <a:cs typeface="Calibri"/>
                <a:sym typeface="Calibri"/>
              </a:rPr>
              <a:t>accessibility,</a:t>
            </a:r>
            <a:endParaRPr xmlns:a="http://schemas.openxmlformats.org/drawingml/2006/main">
              <a:latin typeface="Calibri"/>
              <a:ea typeface="Calibri"/>
              <a:cs typeface="Calibri"/>
              <a:sym typeface="Calibri"/>
            </a:endParaRPr>
          </a:p>
          <a:p>
            <a:pPr xmlns:a="http://schemas.openxmlformats.org/drawingml/2006/main"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</a:pPr>
            <a:r xmlns:a="http://schemas.openxmlformats.org/drawingml/2006/main">
              <a:rPr lang="en">
                <a:latin typeface="Calibri"/>
                <a:ea typeface="Calibri"/>
                <a:cs typeface="Calibri"/>
                <a:sym typeface="Calibri"/>
              </a:rPr>
              <a:t>overhead or underground</a:t>
            </a:r>
            <a:endParaRPr xmlns:a="http://schemas.openxmlformats.org/drawingml/2006/main">
              <a:latin typeface="Calibri"/>
              <a:ea typeface="Calibri"/>
              <a:cs typeface="Calibri"/>
              <a:sym typeface="Calibri"/>
            </a:endParaRPr>
          </a:p>
          <a:p>
            <a:pPr xmlns:a="http://schemas.openxmlformats.org/drawingml/2006/main"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</a:pPr>
            <a:r xmlns:a="http://schemas.openxmlformats.org/drawingml/2006/main">
              <a:rPr lang="en">
                <a:latin typeface="Calibri"/>
                <a:ea typeface="Calibri"/>
                <a:cs typeface="Calibri"/>
                <a:sym typeface="Calibri"/>
              </a:rPr>
              <a:t>event properties</a:t>
            </a:r>
            <a:endParaRPr xmlns:a="http://schemas.openxmlformats.org/drawingml/2006/main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35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45" name="Google Shape;245;p35"/>
          <p:cNvSpPr txBox="1"/>
          <p:nvPr/>
        </p:nvSpPr>
        <p:spPr>
          <a:xfrm>
            <a:off x="4876800" y="838200"/>
            <a:ext cx="4028100" cy="18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b="1" lang="en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Relationships</a:t>
            </a:r>
            <a:endParaRPr xmlns:a="http://schemas.openxmlformats.org/drawingml/2006/main" b="1" sz="105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xmlns:a="http://schemas.openxmlformats.org/drawingml/2006/main" indent="-295275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Char char="●"/>
            </a:pPr>
            <a:r xmlns:a="http://schemas.openxmlformats.org/drawingml/2006/main">
              <a:rPr lang="en"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BELONGS_TO_LINE</a:t>
            </a:r>
            <a:endParaRPr xmlns:a="http://schemas.openxmlformats.org/drawingml/2006/main" sz="105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xmlns:a="http://schemas.openxmlformats.org/drawingml/2006/main" indent="-2952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Char char="○"/>
            </a:pPr>
            <a:r xmlns:a="http://schemas.openxmlformats.org/drawingml/2006/main">
              <a:rPr lang="en"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properties: line number, maintenance time, distance</a:t>
            </a:r>
            <a:endParaRPr xmlns:a="http://schemas.openxmlformats.org/drawingml/2006/main" sz="105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xmlns:a="http://schemas.openxmlformats.org/drawingml/2006/main"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Char char="●"/>
            </a:pPr>
            <a:r xmlns:a="http://schemas.openxmlformats.org/drawingml/2006/main">
              <a:rPr lang="en"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PASSENGER_CONNECTS_TO</a:t>
            </a:r>
            <a:endParaRPr xmlns:a="http://schemas.openxmlformats.org/drawingml/2006/main" sz="105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xmlns:a="http://schemas.openxmlformats.org/drawingml/2006/main" indent="-2952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Char char="○"/>
            </a:pPr>
            <a:r xmlns:a="http://schemas.openxmlformats.org/drawingml/2006/main">
              <a:rPr lang="en"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can be unidirectional or both ways</a:t>
            </a:r>
            <a:endParaRPr xmlns:a="http://schemas.openxmlformats.org/drawingml/2006/main" sz="105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xmlns:a="http://schemas.openxmlformats.org/drawingml/2006/main" indent="-2952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Char char="○"/>
            </a:pPr>
            <a:r xmlns:a="http://schemas.openxmlformats.org/drawingml/2006/main">
              <a:rPr lang="en"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properties: distance, stairs, ...</a:t>
            </a:r>
            <a:endParaRPr xmlns:a="http://schemas.openxmlformats.org/drawingml/2006/main" sz="105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xmlns:a="http://schemas.openxmlformats.org/drawingml/2006/main"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Char char="●"/>
            </a:pPr>
            <a:r xmlns:a="http://schemas.openxmlformats.org/drawingml/2006/main">
              <a:rPr lang="en"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CONNECTS_TO_LINE</a:t>
            </a:r>
            <a:endParaRPr xmlns:a="http://schemas.openxmlformats.org/drawingml/2006/main" sz="105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xmlns:a="http://schemas.openxmlformats.org/drawingml/2006/main" indent="-2952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Char char="○"/>
            </a:pPr>
            <a:r xmlns:a="http://schemas.openxmlformats.org/drawingml/2006/main">
              <a:rPr lang="en"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properties: line number, ...</a:t>
            </a:r>
            <a:endParaRPr xmlns:a="http://schemas.openxmlformats.org/drawingml/2006/main" sz="105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35"/>
          <p:cNvSpPr txBox="1"/>
          <p:nvPr/>
        </p:nvSpPr>
        <p:spPr>
          <a:xfrm>
            <a:off x="956875" y="3266200"/>
            <a:ext cx="59139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Relationship </a:t>
            </a:r>
            <a:r xmlns:a="http://schemas.openxmlformats.org/drawingml/2006/main">
              <a:rPr b="1" lang="en"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types </a:t>
            </a:r>
            <a:r xmlns:a="http://schemas.openxmlformats.org/drawingml/2006/main">
              <a:rPr lang="en"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(BELONGS_TO_LINE, PASSENGER_CONNECTS_TO, CONNECTS_TO_LINE) are </a:t>
            </a:r>
            <a:r xmlns:a="http://schemas.openxmlformats.org/drawingml/2006/main">
              <a:rPr b="1" lang="en"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verbs </a:t>
            </a:r>
            <a:r xmlns:a="http://schemas.openxmlformats.org/drawingml/2006/main">
              <a:rPr lang="en"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or </a:t>
            </a:r>
            <a:r xmlns:a="http://schemas.openxmlformats.org/drawingml/2006/main">
              <a:rPr b="1" lang="en"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verb phrases </a:t>
            </a:r>
            <a:r xmlns:a="http://schemas.openxmlformats.org/drawingml/2006/main">
              <a:rPr lang="en"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that describe the action, the connection between nodes.</a:t>
            </a:r>
            <a:endParaRPr xmlns:a="http://schemas.openxmlformats.org/drawingml/2006/main" sz="105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xmlns:a="http://schemas.openxmlformats.org/drawingml/2006/main"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 xmlns:a="http://schemas.openxmlformats.org/drawingml/2006/main">
              <a:rPr lang="en"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They define the semantic meaning of how nodes interact.</a:t>
            </a:r>
            <a:endParaRPr xmlns:a="http://schemas.openxmlformats.org/drawingml/2006/main" sz="105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xmlns:a="http://schemas.openxmlformats.org/drawingml/2006/main"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 xmlns:a="http://schemas.openxmlformats.org/drawingml/2006/main">
              <a:rPr lang="en"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Like verbs in sentences, they should be clear and specific about the nature of the relationship.</a:t>
            </a:r>
            <a:endParaRPr xmlns:a="http://schemas.openxmlformats.org/drawingml/2006/main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6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Theater</a:t>
            </a:r>
            <a:endParaRPr xmlns:a="http://schemas.openxmlformats.org/drawingml/2006/main"/>
          </a:p>
        </p:txBody>
      </p:sp>
      <p:sp>
        <p:nvSpPr>
          <p:cNvPr id="252" name="Google Shape;252;p36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53" name="Google Shape;253;p36"/>
          <p:cNvSpPr txBox="1"/>
          <p:nvPr/>
        </p:nvSpPr>
        <p:spPr>
          <a:xfrm>
            <a:off x="2161450" y="4010575"/>
            <a:ext cx="435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from </a:t>
            </a:r>
            <a:r xmlns:a="http://schemas.openxmlformats.org/drawingml/2006/main" xmlns:r="http://schemas.openxmlformats.org/officeDocument/2006/relationships">
              <a:rPr lang="en" sz="18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3"/>
              </a:rPr>
              <a:t>Moliere.love</a:t>
            </a:r>
            <a:endParaRPr xmlns:a="http://schemas.openxmlformats.org/drawingml/2006/main"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54" name="Google Shape;254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817325"/>
            <a:ext cx="3124199" cy="2657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48199" y="741125"/>
            <a:ext cx="4058681" cy="304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7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Neo4J: Property Graph Model or KG</a:t>
            </a:r>
            <a:endParaRPr xmlns:a="http://schemas.openxmlformats.org/drawingml/2006/main"/>
          </a:p>
        </p:txBody>
      </p:sp>
      <p:sp>
        <p:nvSpPr>
          <p:cNvPr id="261" name="Google Shape;261;p37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62" name="Google Shape;262;p37"/>
          <p:cNvSpPr txBox="1"/>
          <p:nvPr>
            <p:ph idx="1" type="body"/>
          </p:nvPr>
        </p:nvSpPr>
        <p:spPr>
          <a:xfrm>
            <a:off x="311700" y="809125"/>
            <a:ext cx="8520600" cy="3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 xmlns:a="http://schemas.openxmlformats.org/drawingml/2006/main"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Makes a Graph in Neo4j a "Knowledge Graph" vs. Just a Graph?</a:t>
            </a:r>
            <a:endParaRPr xmlns:a="http://schemas.openxmlformats.org/drawingml/2006/main"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 xmlns:a="http://schemas.openxmlformats.org/drawingml/2006/main"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Semantics &amp; Ontology</a:t>
            </a:r>
            <a:endParaRPr xmlns:a="http://schemas.openxmlformats.org/drawingml/2006/main"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 xmlns:a="http://schemas.openxmlformats.org/drawingml/2006/main"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your Neo4j graph follows a </a:t>
            </a:r>
            <a:r xmlns:a="http://schemas.openxmlformats.org/drawingml/2006/main"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formal ontology </a:t>
            </a:r>
            <a:r xmlns:a="http://schemas.openxmlformats.org/drawingml/2006/main"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(eg, "Person" → "won" → "Award"), then it is a proper </a:t>
            </a:r>
            <a:r xmlns:a="http://schemas.openxmlformats.org/drawingml/2006/main"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knowledge graph </a:t>
            </a:r>
            <a:r xmlns:a="http://schemas.openxmlformats.org/drawingml/2006/main"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xmlns:a="http://schemas.openxmlformats.org/drawingml/2006/main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 xmlns:a="http://schemas.openxmlformats.org/drawingml/2006/main"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it's just a graph without clear entity relationships, it's a </a:t>
            </a:r>
            <a:r xmlns:a="http://schemas.openxmlformats.org/drawingml/2006/main"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graph </a:t>
            </a:r>
            <a:r xmlns:a="http://schemas.openxmlformats.org/drawingml/2006/main"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xmlns:a="http://schemas.openxmlformats.org/drawingml/2006/main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 xmlns:a="http://schemas.openxmlformats.org/drawingml/2006/main"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Querying for Facts &amp; Reasoning</a:t>
            </a:r>
            <a:endParaRPr xmlns:a="http://schemas.openxmlformats.org/drawingml/2006/main"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 xmlns:a="http://schemas.openxmlformats.org/drawingml/2006/main"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you use Neo4j to </a:t>
            </a:r>
            <a:r xmlns:a="http://schemas.openxmlformats.org/drawingml/2006/main"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infer new facts </a:t>
            </a:r>
            <a:r xmlns:a="http://schemas.openxmlformats.org/drawingml/2006/main"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(eg, "If Einstein won the Nobel Prize, he must have been a scientist"), it's closer to </a:t>
            </a:r>
            <a:r xmlns:a="http://schemas.openxmlformats.org/drawingml/2006/main"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knowledge graph </a:t>
            </a:r>
            <a:r xmlns:a="http://schemas.openxmlformats.org/drawingml/2006/main"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xmlns:a="http://schemas.openxmlformats.org/drawingml/2006/main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 xmlns:a="http://schemas.openxmlformats.org/drawingml/2006/main"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you use Neo4j for network analysis (eg, shortest path between nodes), it's just a </a:t>
            </a:r>
            <a:r xmlns:a="http://schemas.openxmlformats.org/drawingml/2006/main"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graph database application </a:t>
            </a:r>
            <a:r xmlns:a="http://schemas.openxmlformats.org/drawingml/2006/main"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xmlns:a="http://schemas.openxmlformats.org/drawingml/2006/main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 xmlns:a="http://schemas.openxmlformats.org/drawingml/2006/main"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So, Is Every Graph in Neo4j a Knowledge Graph?</a:t>
            </a:r>
            <a:endParaRPr xmlns:a="http://schemas.openxmlformats.org/drawingml/2006/main"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 xmlns:a="http://schemas.openxmlformats.org/drawingml/2006/main"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👉 </a:t>
            </a:r>
            <a:r xmlns:a="http://schemas.openxmlformats.org/drawingml/2006/main"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Yes, if it represents structured knowledge and relationships. </a:t>
            </a:r>
            <a:br xmlns:a="http://schemas.openxmlformats.org/drawingml/2006/main"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 xmlns:a="http://schemas.openxmlformats.org/drawingml/2006/main"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👉 </a:t>
            </a:r>
            <a:r xmlns:a="http://schemas.openxmlformats.org/drawingml/2006/main"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No, if it's just a general graph for things like social networks, logistics, or recommendation systems.</a:t>
            </a:r>
            <a:endParaRPr xmlns:a="http://schemas.openxmlformats.org/drawingml/2006/main"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 xmlns:a="http://schemas.openxmlformats.org/drawingml/2006/main"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short:</a:t>
            </a:r>
            <a:endParaRPr xmlns:a="http://schemas.openxmlformats.org/drawingml/2006/main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 xmlns:a="http://schemas.openxmlformats.org/drawingml/2006/main"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Neo4j CAN store and query knowledge graphs.</a:t>
            </a:r>
            <a:endParaRPr xmlns:a="http://schemas.openxmlformats.org/drawingml/2006/main"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xmlns:a="http://schemas.openxmlformats.org/drawingml/2006/main"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 xmlns:a="http://schemas.openxmlformats.org/drawingml/2006/main"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But it can also be used for non-KG applications.</a:t>
            </a:r>
            <a:endParaRPr xmlns:a="http://schemas.openxmlformats.org/drawingml/2006/main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8"/>
          <p:cNvSpPr txBox="1"/>
          <p:nvPr>
            <p:ph type="title"/>
          </p:nvPr>
        </p:nvSpPr>
        <p:spPr>
          <a:xfrm>
            <a:off x="311700" y="1957800"/>
            <a:ext cx="8571300" cy="73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Use cases</a:t>
            </a:r>
            <a:endParaRPr xmlns:a="http://schemas.openxmlformats.org/drawingml/2006/main"/>
          </a:p>
        </p:txBody>
      </p:sp>
      <p:sp>
        <p:nvSpPr>
          <p:cNvPr id="268" name="Google Shape;268;p38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69" name="Google Shape;269;p38"/>
          <p:cNvSpPr txBox="1"/>
          <p:nvPr/>
        </p:nvSpPr>
        <p:spPr>
          <a:xfrm>
            <a:off x="3352800" y="358140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 xmlns:r="http://schemas.openxmlformats.org/officeDocument/2006/relationships">
              <a:rPr lang="en" u="sng">
                <a:solidFill>
                  <a:schemeClr val="hlink"/>
                </a:solidFill>
                <a:hlinkClick r:id="rId3"/>
              </a:rPr>
              <a:t>https://neo4j.com/graphgists/</a:t>
            </a:r>
            <a:r xmlns:a="http://schemas.openxmlformats.org/drawingml/2006/main">
              <a:rPr lang="en"/>
              <a:t> </a:t>
            </a:r>
            <a:endParaRPr xmlns:a="http://schemas.openxmlformats.org/drawingml/2006/main"/>
          </a:p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 xmlns:r="http://schemas.openxmlformats.org/officeDocument/2006/relationships">
              <a:rPr lang="en" u="sng">
                <a:solidFill>
                  <a:schemeClr val="hlink"/>
                </a:solidFill>
                <a:hlinkClick r:id="rId4"/>
              </a:rPr>
              <a:t>https://neo4j.com/use-cases/</a:t>
            </a:r>
            <a:r xmlns:a="http://schemas.openxmlformats.org/drawingml/2006/main">
              <a:rPr lang="en"/>
              <a:t> </a:t>
            </a:r>
            <a:endParaRPr xmlns:a="http://schemas.openxmlformats.org/drawingml/2006/main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9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Investigative journalism - </a:t>
            </a:r>
            <a:r xmlns:a="http://schemas.openxmlformats.org/drawingml/2006/main" xmlns:r="http://schemas.openxmlformats.org/officeDocument/2006/relationships" xmlns:ahyp="http://schemas.microsoft.com/office/drawing/2018/hyperlinkcolor">
              <a:rPr lang="en" sz="2300" u="sng">
                <a:solidFill>
                  <a:schemeClr val="accent5"/>
                </a:solidFill>
                <a:highlight>
                  <a:schemeClr val="lt1"/>
                </a:highlight>
                <a:latin typeface="Helvetica Neue"/>
                <a:ea typeface="Helvetica Neue"/>
                <a:cs typeface="Helvetica Neue"/>
                <a:sym typeface="Helvetica Neu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The Panama Papers</a:t>
            </a:r>
            <a:endParaRPr xmlns:a="http://schemas.openxmlformats.org/drawingml/2006/main"/>
          </a:p>
        </p:txBody>
      </p:sp>
      <p:sp>
        <p:nvSpPr>
          <p:cNvPr id="275" name="Google Shape;275;p39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276" name="Google Shape;276;p39" title="panama-papers-graphgis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73850" y="983200"/>
            <a:ext cx="5001119" cy="3033574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9"/>
          <p:cNvSpPr txBox="1"/>
          <p:nvPr/>
        </p:nvSpPr>
        <p:spPr>
          <a:xfrm>
            <a:off x="304800" y="990600"/>
            <a:ext cx="3000000" cy="3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 xmlns:a="http://schemas.openxmlformats.org/drawingml/2006/main">
              <a:rPr b="1" lang="en" sz="1100"/>
              <a:t>What Happened?</a:t>
            </a:r>
            <a:endParaRPr xmlns:a="http://schemas.openxmlformats.org/drawingml/2006/main" b="1" sz="1100"/>
          </a:p>
          <a:p>
            <a:pPr xmlns:a="http://schemas.openxmlformats.org/drawingml/2006/main"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 xmlns:a="http://schemas.openxmlformats.org/drawingml/2006/main">
              <a:rPr b="1" lang="en" sz="1100"/>
              <a:t>Leak: </a:t>
            </a:r>
            <a:r xmlns:a="http://schemas.openxmlformats.org/drawingml/2006/main">
              <a:rPr lang="en" sz="1100"/>
              <a:t>11.5 million documents (2.6 TB) from Mossack Fonseca.</a:t>
            </a:r>
            <a:endParaRPr xmlns:a="http://schemas.openxmlformats.org/drawingml/2006/main" sz="1100"/>
          </a:p>
          <a:p>
            <a:pPr xmlns:a="http://schemas.openxmlformats.org/drawingml/2006/main"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 xmlns:a="http://schemas.openxmlformats.org/drawingml/2006/main">
              <a:rPr b="1" lang="en" sz="1100"/>
              <a:t>Revealed: </a:t>
            </a:r>
            <a:r xmlns:a="http://schemas.openxmlformats.org/drawingml/2006/main">
              <a:rPr lang="en" sz="1100"/>
              <a:t>Offshore companies used for </a:t>
            </a:r>
            <a:r xmlns:a="http://schemas.openxmlformats.org/drawingml/2006/main">
              <a:rPr b="1" lang="en" sz="1100"/>
              <a:t>tax evasion, money laundering, and corruption </a:t>
            </a:r>
            <a:r xmlns:a="http://schemas.openxmlformats.org/drawingml/2006/main">
              <a:rPr lang="en" sz="1100"/>
              <a:t>.</a:t>
            </a:r>
            <a:endParaRPr xmlns:a="http://schemas.openxmlformats.org/drawingml/2006/main" sz="1100"/>
          </a:p>
          <a:p>
            <a:pPr xmlns:a="http://schemas.openxmlformats.org/drawingml/2006/main"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 xmlns:a="http://schemas.openxmlformats.org/drawingml/2006/main">
              <a:rPr b="1" lang="en" sz="1100"/>
              <a:t>Investigated by:</a:t>
            </a:r>
            <a:r xmlns:a="http://schemas.openxmlformats.org/drawingml/2006/main">
              <a:rPr lang="en" sz="1100"/>
              <a:t> </a:t>
            </a:r>
            <a:r xmlns:a="http://schemas.openxmlformats.org/drawingml/2006/main">
              <a:rPr b="1" lang="en" sz="1100"/>
              <a:t>ICIJ + 400+ journalists </a:t>
            </a:r>
            <a:r xmlns:a="http://schemas.openxmlformats.org/drawingml/2006/main">
              <a:rPr lang="en" sz="1100"/>
              <a:t>across </a:t>
            </a:r>
            <a:r xmlns:a="http://schemas.openxmlformats.org/drawingml/2006/main">
              <a:rPr b="1" lang="en" sz="1100"/>
              <a:t>80+ countries </a:t>
            </a:r>
            <a:r xmlns:a="http://schemas.openxmlformats.org/drawingml/2006/main">
              <a:rPr lang="en" sz="1100"/>
              <a:t>.</a:t>
            </a:r>
            <a:endParaRPr xmlns:a="http://schemas.openxmlformats.org/drawingml/2006/main" sz="1100"/>
          </a:p>
          <a:p>
            <a:pPr xmlns:a="http://schemas.openxmlformats.org/drawingml/2006/main"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 xmlns:a="http://schemas.openxmlformats.org/drawingml/2006/main">
              <a:rPr b="1" lang="en" sz="1100"/>
              <a:t>Why Use Neo4j?</a:t>
            </a:r>
            <a:endParaRPr xmlns:a="http://schemas.openxmlformats.org/drawingml/2006/main" b="1" sz="1100"/>
          </a:p>
          <a:p>
            <a:pPr xmlns:a="http://schemas.openxmlformats.org/drawingml/2006/main"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 xmlns:a="http://schemas.openxmlformats.org/drawingml/2006/main">
              <a:rPr b="1" lang="en" sz="1100"/>
              <a:t>Traditional databases fail </a:t>
            </a:r>
            <a:r xmlns:a="http://schemas.openxmlformats.org/drawingml/2006/main">
              <a:rPr lang="en" sz="1100"/>
              <a:t>due to complex relationships.</a:t>
            </a:r>
            <a:endParaRPr xmlns:a="http://schemas.openxmlformats.org/drawingml/2006/main" sz="1100"/>
          </a:p>
          <a:p>
            <a:pPr xmlns:a="http://schemas.openxmlformats.org/drawingml/2006/main"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 xmlns:a="http://schemas.openxmlformats.org/drawingml/2006/main">
              <a:rPr b="1" lang="en" sz="1100"/>
              <a:t>Graph database = better for uncovering hidden networks.</a:t>
            </a:r>
            <a:endParaRPr xmlns:a="http://schemas.openxmlformats.org/drawingml/2006/main" b="1" sz="11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0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Panama Papers</a:t>
            </a:r>
            <a:endParaRPr xmlns:a="http://schemas.openxmlformats.org/drawingml/2006/main"/>
          </a:p>
        </p:txBody>
      </p:sp>
      <p:sp>
        <p:nvSpPr>
          <p:cNvPr id="283" name="Google Shape;283;p40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84" name="Google Shape;284;p40"/>
          <p:cNvSpPr txBox="1"/>
          <p:nvPr/>
        </p:nvSpPr>
        <p:spPr>
          <a:xfrm>
            <a:off x="152400" y="1066800"/>
            <a:ext cx="4498200" cy="26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 xmlns:a="http://schemas.openxmlformats.org/drawingml/2006/main">
              <a:rPr b="1" lang="en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Graph-Based Investigation</a:t>
            </a:r>
            <a:endParaRPr xmlns:a="http://schemas.openxmlformats.org/drawingml/2006/main" b="1" sz="13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xmlns:a="http://schemas.openxmlformats.org/drawingml/2006/main"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666666"/>
              </a:buClr>
              <a:buSzPts val="1300"/>
              <a:buChar char="●"/>
            </a:pPr>
            <a:r xmlns:a="http://schemas.openxmlformats.org/drawingml/2006/main">
              <a:rPr b="1" lang="en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Nodes: </a:t>
            </a:r>
            <a:r xmlns:a="http://schemas.openxmlformats.org/drawingml/2006/main">
              <a:rPr lang="en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People, companies, addresses, banks.</a:t>
            </a:r>
            <a:endParaRPr xmlns:a="http://schemas.openxmlformats.org/drawingml/2006/main" sz="13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xmlns:a="http://schemas.openxmlformats.org/drawingml/2006/main"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Char char="●"/>
            </a:pPr>
            <a:r xmlns:a="http://schemas.openxmlformats.org/drawingml/2006/main">
              <a:rPr b="1" lang="en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Edges: </a:t>
            </a:r>
            <a:r xmlns:a="http://schemas.openxmlformats.org/drawingml/2006/main">
              <a:rPr lang="en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Relationships like </a:t>
            </a:r>
            <a:r xmlns:a="http://schemas.openxmlformats.org/drawingml/2006/main">
              <a:rPr i="1" lang="en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"owns" </a:t>
            </a:r>
            <a:r xmlns:a="http://schemas.openxmlformats.org/drawingml/2006/main">
              <a:rPr lang="en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 xmlns:a="http://schemas.openxmlformats.org/drawingml/2006/main">
              <a:rPr i="1" lang="en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"directs" </a:t>
            </a:r>
            <a:r xmlns:a="http://schemas.openxmlformats.org/drawingml/2006/main">
              <a:rPr lang="en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 xmlns:a="http://schemas.openxmlformats.org/drawingml/2006/main">
              <a:rPr i="1" lang="en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"registered at" </a:t>
            </a:r>
            <a:r xmlns:a="http://schemas.openxmlformats.org/drawingml/2006/main">
              <a:rPr lang="en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xmlns:a="http://schemas.openxmlformats.org/drawingml/2006/main" sz="13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xmlns:a="http://schemas.openxmlformats.org/drawingml/2006/main"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 xmlns:a="http://schemas.openxmlformats.org/drawingml/2006/main">
              <a:rPr b="1" lang="en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Key Techniques</a:t>
            </a:r>
            <a:endParaRPr xmlns:a="http://schemas.openxmlformats.org/drawingml/2006/main" b="1" sz="13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xmlns:a="http://schemas.openxmlformats.org/drawingml/2006/main"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666666"/>
              </a:buClr>
              <a:buSzPts val="1300"/>
              <a:buChar char="●"/>
            </a:pPr>
            <a:r xmlns:a="http://schemas.openxmlformats.org/drawingml/2006/main">
              <a:rPr b="1" lang="en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Pattern discovery: </a:t>
            </a:r>
            <a:r xmlns:a="http://schemas.openxmlformats.org/drawingml/2006/main">
              <a:rPr lang="en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Found secret owners of offshore firms.</a:t>
            </a:r>
            <a:endParaRPr xmlns:a="http://schemas.openxmlformats.org/drawingml/2006/main" sz="13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xmlns:a="http://schemas.openxmlformats.org/drawingml/2006/main"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Char char="●"/>
            </a:pPr>
            <a:r xmlns:a="http://schemas.openxmlformats.org/drawingml/2006/main">
              <a:rPr b="1" lang="en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Cypher queries: </a:t>
            </a:r>
            <a:r xmlns:a="http://schemas.openxmlformats.org/drawingml/2006/main">
              <a:rPr lang="en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Traced hidden financial flows.</a:t>
            </a:r>
            <a:endParaRPr xmlns:a="http://schemas.openxmlformats.org/drawingml/2006/main" sz="13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xmlns:a="http://schemas.openxmlformats.org/drawingml/2006/main"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Char char="●"/>
            </a:pPr>
            <a:r xmlns:a="http://schemas.openxmlformats.org/drawingml/2006/main">
              <a:rPr b="1" lang="en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Visualization: </a:t>
            </a:r>
            <a:r xmlns:a="http://schemas.openxmlformats.org/drawingml/2006/main">
              <a:rPr lang="en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Used </a:t>
            </a:r>
            <a:r xmlns:a="http://schemas.openxmlformats.org/drawingml/2006/main" xmlns:r="http://schemas.openxmlformats.org/officeDocument/2006/relationships" xmlns:ahyp="http://schemas.microsoft.com/office/drawing/2018/hyperlinkcolor">
              <a:rPr b="1" lang="en" sz="1300" u="sng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Linkurious </a:t>
            </a:r>
            <a:r xmlns:a="http://schemas.openxmlformats.org/drawingml/2006/main">
              <a:rPr lang="en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for easy exploration.</a:t>
            </a:r>
            <a:endParaRPr xmlns:a="http://schemas.openxmlformats.org/drawingml/2006/main" sz="13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40"/>
          <p:cNvSpPr txBox="1"/>
          <p:nvPr/>
        </p:nvSpPr>
        <p:spPr>
          <a:xfrm>
            <a:off x="5061425" y="1059000"/>
            <a:ext cx="3714300" cy="26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 xmlns:a="http://schemas.openxmlformats.org/drawingml/2006/main">
              <a:rPr b="1" lang="en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Major Discoveries</a:t>
            </a:r>
            <a:endParaRPr xmlns:a="http://schemas.openxmlformats.org/drawingml/2006/main" b="1" sz="13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xmlns:a="http://schemas.openxmlformats.org/drawingml/2006/main"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 xmlns:a="http://schemas.openxmlformats.org/drawingml/2006/main">
              <a:rPr lang="en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✔ </a:t>
            </a:r>
            <a:r xmlns:a="http://schemas.openxmlformats.org/drawingml/2006/main">
              <a:rPr b="1" lang="en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143 politicians </a:t>
            </a:r>
            <a:r xmlns:a="http://schemas.openxmlformats.org/drawingml/2006/main">
              <a:rPr lang="en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&amp; world leaders involved. </a:t>
            </a:r>
            <a:br xmlns:a="http://schemas.openxmlformats.org/drawingml/2006/main">
              <a:rPr lang="fr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</a:br>
            <a:r xmlns:a="http://schemas.openxmlformats.org/drawingml/2006/main">
              <a:rPr lang="en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✔ </a:t>
            </a:r>
            <a:r xmlns:a="http://schemas.openxmlformats.org/drawingml/2006/main">
              <a:rPr b="1" lang="en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Banks &amp; law firms enabled </a:t>
            </a:r>
            <a:r xmlns:a="http://schemas.openxmlformats.org/drawingml/2006/main">
              <a:rPr lang="en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tax havens. </a:t>
            </a:r>
            <a:br xmlns:a="http://schemas.openxmlformats.org/drawingml/2006/main">
              <a:rPr lang="fr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</a:br>
            <a:r xmlns:a="http://schemas.openxmlformats.org/drawingml/2006/main">
              <a:rPr lang="en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✔ </a:t>
            </a:r>
            <a:r xmlns:a="http://schemas.openxmlformats.org/drawingml/2006/main">
              <a:rPr b="1" lang="en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Complex money trails exposed </a:t>
            </a:r>
            <a:r xmlns:a="http://schemas.openxmlformats.org/drawingml/2006/main">
              <a:rPr lang="en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xmlns:a="http://schemas.openxmlformats.org/drawingml/2006/main" sz="13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xmlns:a="http://schemas.openxmlformats.org/drawingml/2006/main"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 xmlns:a="http://schemas.openxmlformats.org/drawingml/2006/main">
              <a:rPr b="1" lang="en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Global Impact</a:t>
            </a:r>
            <a:endParaRPr xmlns:a="http://schemas.openxmlformats.org/drawingml/2006/main" b="1" sz="13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xmlns:a="http://schemas.openxmlformats.org/drawingml/2006/main"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 xmlns:a="http://schemas.openxmlformats.org/drawingml/2006/main">
              <a:rPr lang="en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🔥 </a:t>
            </a:r>
            <a:r xmlns:a="http://schemas.openxmlformats.org/drawingml/2006/main">
              <a:rPr b="1" lang="en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$1.36B recovered </a:t>
            </a:r>
            <a:r xmlns:a="http://schemas.openxmlformats.org/drawingml/2006/main">
              <a:rPr lang="en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in unpaid taxes. </a:t>
            </a:r>
            <a:br xmlns:a="http://schemas.openxmlformats.org/drawingml/2006/main">
              <a:rPr lang="fr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</a:br>
            <a:r xmlns:a="http://schemas.openxmlformats.org/drawingml/2006/main">
              <a:rPr lang="en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🔥 </a:t>
            </a:r>
            <a:r xmlns:a="http://schemas.openxmlformats.org/drawingml/2006/main">
              <a:rPr b="1" lang="en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Iceland's PM resigned </a:t>
            </a:r>
            <a:r xmlns:a="http://schemas.openxmlformats.org/drawingml/2006/main">
              <a:rPr lang="en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, global investigations launched. </a:t>
            </a:r>
            <a:br xmlns:a="http://schemas.openxmlformats.org/drawingml/2006/main">
              <a:rPr lang="fr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</a:br>
            <a:r xmlns:a="http://schemas.openxmlformats.org/drawingml/2006/main">
              <a:rPr lang="en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🔥 Led to </a:t>
            </a:r>
            <a:r xmlns:a="http://schemas.openxmlformats.org/drawingml/2006/main">
              <a:rPr b="1" lang="en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Paradise Papers &amp; Pandora Papers </a:t>
            </a:r>
            <a:r xmlns:a="http://schemas.openxmlformats.org/drawingml/2006/main">
              <a:rPr lang="en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xmlns:a="http://schemas.openxmlformats.org/drawingml/2006/main" sz="13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1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Fraud detection</a:t>
            </a:r>
            <a:endParaRPr xmlns:a="http://schemas.openxmlformats.org/drawingml/2006/main"/>
          </a:p>
        </p:txBody>
      </p:sp>
      <p:sp>
        <p:nvSpPr>
          <p:cNvPr id="291" name="Google Shape;291;p41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descr="Build Intelligent Fraud Detection Apps With Graph&#10;Fraudsters operate in rings, not in isolation. Build apps that uncover patterns in your data to identify sophisticated scams other tools miss.&#10;&#10;Learn more: https://bit.ly/3Zg3uU1" id="292" name="Google Shape;292;p41" title="Neo4j for Fraud Detection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3900" y="733725"/>
            <a:ext cx="6212750" cy="349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2"/>
          <p:cNvSpPr txBox="1"/>
          <p:nvPr>
            <p:ph type="title"/>
          </p:nvPr>
        </p:nvSpPr>
        <p:spPr>
          <a:xfrm>
            <a:off x="311700" y="1957800"/>
            <a:ext cx="8571300" cy="73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Characteristics</a:t>
            </a:r>
            <a:endParaRPr xmlns:a="http://schemas.openxmlformats.org/drawingml/2006/main"/>
          </a:p>
        </p:txBody>
      </p:sp>
      <p:sp>
        <p:nvSpPr>
          <p:cNvPr id="298" name="Google Shape;298;p42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3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Property Graph Model</a:t>
            </a:r>
            <a:endParaRPr xmlns:a="http://schemas.openxmlformats.org/drawingml/2006/main"/>
          </a:p>
        </p:txBody>
      </p:sp>
      <p:sp>
        <p:nvSpPr>
          <p:cNvPr id="304" name="Google Shape;304;p43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305" name="Google Shape;305;p43"/>
          <p:cNvSpPr txBox="1"/>
          <p:nvPr/>
        </p:nvSpPr>
        <p:spPr>
          <a:xfrm>
            <a:off x="304800" y="3048000"/>
            <a:ext cx="546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 xmlns:r="http://schemas.openxmlformats.org/officeDocument/2006/relationships">
              <a:rPr lang="en" u="sng">
                <a:solidFill>
                  <a:schemeClr val="hlink"/>
                </a:solidFill>
                <a:hlinkClick r:id="rId3"/>
              </a:rPr>
              <a:t>https://neo4j.com/use-cases/knowledge-graph/</a:t>
            </a:r>
            <a:r xmlns:a="http://schemas.openxmlformats.org/drawingml/2006/main">
              <a:rPr lang="en"/>
              <a:t> </a:t>
            </a:r>
            <a:endParaRPr xmlns:a="http://schemas.openxmlformats.org/drawingml/2006/main"/>
          </a:p>
        </p:txBody>
      </p:sp>
      <p:pic>
        <p:nvPicPr>
          <p:cNvPr id="306" name="Google Shape;306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59750" y="501949"/>
            <a:ext cx="3731851" cy="3278874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43"/>
          <p:cNvSpPr txBox="1"/>
          <p:nvPr/>
        </p:nvSpPr>
        <p:spPr>
          <a:xfrm>
            <a:off x="315175" y="1122125"/>
            <a:ext cx="4174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i="1" lang="en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natural </a:t>
            </a:r>
            <a:r xmlns:a="http://schemas.openxmlformats.org/drawingml/2006/main">
              <a:rPr lang="en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objects </a:t>
            </a:r>
            <a:r xmlns:a="http://schemas.openxmlformats.org/drawingml/2006/main">
              <a:rPr lang="en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into tables, foreign keys, etc.</a:t>
            </a:r>
            <a:endParaRPr xmlns:a="http://schemas.openxmlformats.org/drawingml/2006/main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Relationships express themselves naturally</a:t>
            </a:r>
            <a:endParaRPr xmlns:a="http://schemas.openxmlformats.org/drawingml/2006/main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4"/>
          <p:cNvSpPr txBox="1"/>
          <p:nvPr/>
        </p:nvSpPr>
        <p:spPr>
          <a:xfrm>
            <a:off x="300475" y="1045925"/>
            <a:ext cx="4271100" cy="27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 sz="15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We find the </a:t>
            </a:r>
            <a:r xmlns:a="http://schemas.openxmlformats.org/drawingml/2006/main">
              <a:rPr b="1" lang="en" sz="15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flexible schema </a:t>
            </a:r>
            <a:r xmlns:a="http://schemas.openxmlformats.org/drawingml/2006/main">
              <a:rPr lang="en" sz="15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of MongoDB</a:t>
            </a:r>
            <a:endParaRPr xmlns:a="http://schemas.openxmlformats.org/drawingml/2006/main" sz="15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 sz="15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 sz="15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with the added ease of modifying relationships between objects.</a:t>
            </a:r>
            <a:endParaRPr xmlns:a="http://schemas.openxmlformats.org/drawingml/2006/main" sz="15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 sz="15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 sz="15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In this example we transform a </a:t>
            </a:r>
            <a:r xmlns:a="http://schemas.openxmlformats.org/drawingml/2006/main">
              <a:rPr b="1" lang="en" sz="15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one to many relationship into a </a:t>
            </a:r>
            <a:r xmlns:a="http://schemas.openxmlformats.org/drawingml/2006/main">
              <a:rPr b="1" lang="en" sz="15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many to many </a:t>
            </a:r>
            <a:r xmlns:a="http://schemas.openxmlformats.org/drawingml/2006/main">
              <a:rPr lang="en" sz="15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relationship </a:t>
            </a:r>
            <a:r xmlns:a="http://schemas.openxmlformats.org/drawingml/2006/main">
              <a:rPr lang="en" sz="15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by creating only one additional relationship</a:t>
            </a:r>
            <a:endParaRPr xmlns:a="http://schemas.openxmlformats.org/drawingml/2006/main" sz="15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 sz="15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 sz="15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Node and relationship attributes can also evolve without constraints</a:t>
            </a:r>
            <a:endParaRPr xmlns:a="http://schemas.openxmlformats.org/drawingml/2006/main" sz="15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44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Flexible schema</a:t>
            </a:r>
            <a:endParaRPr xmlns:a="http://schemas.openxmlformats.org/drawingml/2006/main"/>
          </a:p>
        </p:txBody>
      </p:sp>
      <p:sp>
        <p:nvSpPr>
          <p:cNvPr id="314" name="Google Shape;314;p44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315" name="Google Shape;31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733025"/>
            <a:ext cx="4507251" cy="33477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3249" y="236650"/>
            <a:ext cx="4021200" cy="3975949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45"/>
          <p:cNvSpPr txBox="1"/>
          <p:nvPr/>
        </p:nvSpPr>
        <p:spPr>
          <a:xfrm>
            <a:off x="300475" y="1045925"/>
            <a:ext cx="5266200" cy="3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Nodes directly reference their relationships without using index lookups.</a:t>
            </a:r>
            <a:endParaRPr xmlns:a="http://schemas.openxmlformats.org/drawingml/2006/main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When a node needs to find its neighbors:</a:t>
            </a:r>
            <a:endParaRPr xmlns:a="http://schemas.openxmlformats.org/drawingml/2006/main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xmlns:a="http://schemas.openxmlformats.org/drawingml/2006/main"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Calibri"/>
              <a:buChar char="●"/>
            </a:pPr>
            <a:r xmlns:a="http://schemas.openxmlformats.org/drawingml/2006/main">
              <a:rPr lang="en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It directly follows physical pointers to connected nodes</a:t>
            </a:r>
            <a:endParaRPr xmlns:a="http://schemas.openxmlformats.org/drawingml/2006/main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xmlns:a="http://schemas.openxmlformats.org/drawingml/2006/main"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Calibri"/>
              <a:buChar char="●"/>
            </a:pPr>
            <a:r xmlns:a="http://schemas.openxmlformats.org/drawingml/2006/main">
              <a:rPr lang="en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Avoids expensive index lookups required in relational databases</a:t>
            </a:r>
            <a:endParaRPr xmlns:a="http://schemas.openxmlformats.org/drawingml/2006/main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b="1" lang="en" sz="16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Constant travel time regardless of base size</a:t>
            </a:r>
            <a:endParaRPr xmlns:a="http://schemas.openxmlformats.org/drawingml/2006/main" sz="16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t/>
            </a:r>
            <a:endParaRPr xmlns:a="http://schemas.openxmlformats.org/drawingml/2006/main" sz="16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 sz="16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The relationship is a kind of micro index</a:t>
            </a:r>
            <a:endParaRPr xmlns:a="http://schemas.openxmlformats.org/drawingml/2006/main" sz="16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45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Free Adjency Index</a:t>
            </a:r>
            <a:endParaRPr xmlns:a="http://schemas.openxmlformats.org/drawingml/2006/main"/>
          </a:p>
        </p:txBody>
      </p:sp>
      <p:sp>
        <p:nvSpPr>
          <p:cNvPr id="323" name="Google Shape;323;p45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6"/>
          <p:cNvSpPr txBox="1"/>
          <p:nvPr>
            <p:ph type="title"/>
          </p:nvPr>
        </p:nvSpPr>
        <p:spPr>
          <a:xfrm>
            <a:off x="311700" y="1957800"/>
            <a:ext cx="8571300" cy="73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Ecosystem</a:t>
            </a:r>
            <a:endParaRPr xmlns:a="http://schemas.openxmlformats.org/drawingml/2006/main"/>
          </a:p>
        </p:txBody>
      </p:sp>
      <p:sp>
        <p:nvSpPr>
          <p:cNvPr id="329" name="Google Shape;329;p46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7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core platforms</a:t>
            </a:r>
            <a:endParaRPr xmlns:a="http://schemas.openxmlformats.org/drawingml/2006/main"/>
          </a:p>
        </p:txBody>
      </p:sp>
      <p:sp>
        <p:nvSpPr>
          <p:cNvPr id="335" name="Google Shape;335;p47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336" name="Google Shape;336;p47"/>
          <p:cNvSpPr txBox="1"/>
          <p:nvPr/>
        </p:nvSpPr>
        <p:spPr>
          <a:xfrm>
            <a:off x="533400" y="1371600"/>
            <a:ext cx="67587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 xmlns:a="http://schemas.openxmlformats.org/drawingml/2006/main" xmlns:r="http://schemas.openxmlformats.org/officeDocument/2006/relationships">
              <a:rPr lang="en" sz="1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Neo4j </a:t>
            </a:r>
            <a:r xmlns:a="http://schemas.openxmlformats.org/drawingml/2006/main">
              <a:rPr lang="en" sz="16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Graph Database (Community &amp; Enterprise): a native graph database that stores and processes connected data</a:t>
            </a:r>
            <a:endParaRPr xmlns:a="http://schemas.openxmlformats.org/drawingml/2006/main" sz="16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xmlns:a="http://schemas.openxmlformats.org/drawingml/2006/main"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Calibri"/>
              <a:buChar char="●"/>
            </a:pPr>
            <a:r xmlns:a="http://schemas.openxmlformats.org/drawingml/2006/main" xmlns:r="http://schemas.openxmlformats.org/officeDocument/2006/relationships">
              <a:rPr lang="en" sz="1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GraphAcademy </a:t>
            </a:r>
            <a:r xmlns:a="http://schemas.openxmlformats.org/drawingml/2006/main">
              <a:rPr lang="en" sz="16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: Free official learning platform with structured courses and certifications</a:t>
            </a:r>
            <a:endParaRPr xmlns:a="http://schemas.openxmlformats.org/drawingml/2006/main" sz="16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xmlns:a="http://schemas.openxmlformats.org/drawingml/2006/main"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 xmlns:a="http://schemas.openxmlformats.org/drawingml/2006/main" xmlns:r="http://schemas.openxmlformats.org/officeDocument/2006/relationships" xmlns:ahyp="http://schemas.microsoft.com/office/drawing/2018/hyperlinkcolor">
              <a:rPr lang="en" sz="1600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Neo4j AuraDB </a:t>
            </a:r>
            <a:r xmlns:a="http://schemas.openxmlformats.org/drawingml/2006/main">
              <a:rPr lang="en" sz="16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: Fully managed cloud service that handles infrastructure, updates, and scaling automatically</a:t>
            </a:r>
            <a:endParaRPr xmlns:a="http://schemas.openxmlformats.org/drawingml/2006/main" sz="16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xmlns:a="http://schemas.openxmlformats.org/drawingml/2006/main"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 xmlns:a="http://schemas.openxmlformats.org/drawingml/2006/main" xmlns:r="http://schemas.openxmlformats.org/officeDocument/2006/relationships">
              <a:rPr lang="en" sz="1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Cypher </a:t>
            </a:r>
            <a:r xmlns:a="http://schemas.openxmlformats.org/drawingml/2006/main">
              <a:rPr lang="en" sz="16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: Declarative graph query language designed to be visual and intuitive, like ASCII art for queries</a:t>
            </a:r>
            <a:endParaRPr xmlns:a="http://schemas.openxmlformats.org/drawingml/2006/main" sz="16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8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Tools</a:t>
            </a:r>
            <a:endParaRPr xmlns:a="http://schemas.openxmlformats.org/drawingml/2006/main"/>
          </a:p>
        </p:txBody>
      </p:sp>
      <p:sp>
        <p:nvSpPr>
          <p:cNvPr id="342" name="Google Shape;342;p48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343" name="Google Shape;343;p48"/>
          <p:cNvSpPr txBox="1"/>
          <p:nvPr/>
        </p:nvSpPr>
        <p:spPr>
          <a:xfrm>
            <a:off x="0" y="1295400"/>
            <a:ext cx="86145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 xmlns:a="http://schemas.openxmlformats.org/drawingml/2006/main" xmlns:r="http://schemas.openxmlformats.org/officeDocument/2006/relationships">
              <a:rPr lang="en" sz="1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Neo4j Desktop </a:t>
            </a:r>
            <a:r xmlns:a="http://schemas.openxmlformats.org/drawingml/2006/main">
              <a:rPr lang="en" sz="16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: All-in-one development environment for local database management and project organization</a:t>
            </a:r>
            <a:endParaRPr xmlns:a="http://schemas.openxmlformats.org/drawingml/2006/main" sz="16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xmlns:a="http://schemas.openxmlformats.org/drawingml/2006/main"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 xmlns:a="http://schemas.openxmlformats.org/drawingml/2006/main" xmlns:r="http://schemas.openxmlformats.org/officeDocument/2006/relationships">
              <a:rPr lang="en" sz="1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Neo4j Browser </a:t>
            </a:r>
            <a:r xmlns:a="http://schemas.openxmlformats.org/drawingml/2006/main">
              <a:rPr lang="en" sz="16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: Web-based interface for writing queries, visualizing results, and exploring your graph</a:t>
            </a:r>
            <a:endParaRPr xmlns:a="http://schemas.openxmlformats.org/drawingml/2006/main" sz="16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xmlns:a="http://schemas.openxmlformats.org/drawingml/2006/main"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Calibri"/>
              <a:buChar char="●"/>
            </a:pPr>
            <a:r xmlns:a="http://schemas.openxmlformats.org/drawingml/2006/main">
              <a:rPr lang="en" sz="16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Neo4j Bloom: Business-friendly tool for visual graph exploration without writing queries</a:t>
            </a:r>
            <a:endParaRPr xmlns:a="http://schemas.openxmlformats.org/drawingml/2006/main" sz="16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xmlns:a="http://schemas.openxmlformats.org/drawingml/2006/main"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 xmlns:a="http://schemas.openxmlformats.org/drawingml/2006/main" xmlns:r="http://schemas.openxmlformats.org/officeDocument/2006/relationships">
              <a:rPr lang="en" sz="1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APOC library </a:t>
            </a:r>
            <a:r xmlns:a="http://schemas.openxmlformats.org/drawingml/2006/main">
              <a:rPr lang="en" sz="16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: Swiss army knife of useful functions that extend Neo4j's capabilities</a:t>
            </a:r>
            <a:endParaRPr xmlns:a="http://schemas.openxmlformats.org/drawingml/2006/main" sz="16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xmlns:a="http://schemas.openxmlformats.org/drawingml/2006/main"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 xmlns:a="http://schemas.openxmlformats.org/drawingml/2006/main" xmlns:r="http://schemas.openxmlformats.org/officeDocument/2006/relationships">
              <a:rPr lang="en" sz="1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GDS (Graph Data Science) </a:t>
            </a:r>
            <a:r xmlns:a="http://schemas.openxmlformats.org/drawingml/2006/main">
              <a:rPr lang="en" sz="16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library: Machine learning and graph algorithms for advanced analytics</a:t>
            </a:r>
            <a:endParaRPr xmlns:a="http://schemas.openxmlformats.org/drawingml/2006/main" sz="16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xmlns:a="http://schemas.openxmlformats.org/drawingml/2006/main"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Calibri"/>
              <a:buChar char="●"/>
            </a:pPr>
            <a:r xmlns:a="http://schemas.openxmlformats.org/drawingml/2006/main">
              <a:rPr lang="en" sz="16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Official drivers: Native connectivity for major programming languages like Python, Java, JavaScript</a:t>
            </a:r>
            <a:endParaRPr xmlns:a="http://schemas.openxmlformats.org/drawingml/2006/main" sz="16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xmlns:a="http://schemas.openxmlformats.org/drawingml/2006/main"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Calibri"/>
              <a:buChar char="●"/>
            </a:pPr>
            <a:r xmlns:a="http://schemas.openxmlformats.org/drawingml/2006/main" xmlns:r="http://schemas.openxmlformats.org/officeDocument/2006/relationships" xmlns:ahyp="http://schemas.microsoft.com/office/drawing/2018/hyperlinkcolor">
              <a:rPr lang="en" sz="1600" u="sng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Arrows.app </a:t>
            </a:r>
            <a:r xmlns:a="http://schemas.openxmlformats.org/drawingml/2006/main">
              <a:rPr lang="en" sz="16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: Free web-based tool for creating and sharing graph data models visually</a:t>
            </a:r>
            <a:endParaRPr xmlns:a="http://schemas.openxmlformats.org/drawingml/2006/main" sz="16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9"/>
          <p:cNvSpPr txBox="1"/>
          <p:nvPr>
            <p:ph type="title"/>
          </p:nvPr>
        </p:nvSpPr>
        <p:spPr>
          <a:xfrm>
            <a:off x="311700" y="1957800"/>
            <a:ext cx="8571300" cy="73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Practical</a:t>
            </a:r>
            <a:endParaRPr xmlns:a="http://schemas.openxmlformats.org/drawingml/2006/main"/>
          </a:p>
        </p:txBody>
      </p:sp>
      <p:sp>
        <p:nvSpPr>
          <p:cNvPr id="349" name="Google Shape;349;p49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0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Neo4j desktop</a:t>
            </a:r>
            <a:endParaRPr xmlns:a="http://schemas.openxmlformats.org/drawingml/2006/main"/>
          </a:p>
        </p:txBody>
      </p:sp>
      <p:sp>
        <p:nvSpPr>
          <p:cNvPr id="355" name="Google Shape;355;p50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356" name="Google Shape;356;p50"/>
          <p:cNvSpPr txBox="1"/>
          <p:nvPr/>
        </p:nvSpPr>
        <p:spPr>
          <a:xfrm>
            <a:off x="914400" y="1828800"/>
            <a:ext cx="684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 xmlns:r="http://schemas.openxmlformats.org/officeDocument/2006/relationships">
              <a:rPr lang="en" u="sng">
                <a:solidFill>
                  <a:schemeClr val="hlink"/>
                </a:solidFill>
                <a:hlinkClick r:id="rId3"/>
              </a:rPr>
              <a:t>https://neo4j.com/docs/desktop-manual/current/installation/download-installation/</a:t>
            </a:r>
            <a:r xmlns:a="http://schemas.openxmlformats.org/drawingml/2006/main">
              <a:rPr lang="en"/>
              <a:t> </a:t>
            </a:r>
            <a:endParaRPr xmlns:a="http://schemas.openxmlformats.org/drawingml/2006/main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51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Neo4j desktop</a:t>
            </a:r>
            <a:endParaRPr xmlns:a="http://schemas.openxmlformats.org/drawingml/2006/main"/>
          </a:p>
        </p:txBody>
      </p:sp>
      <p:sp>
        <p:nvSpPr>
          <p:cNvPr id="362" name="Google Shape;362;p51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363" name="Google Shape;363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817325"/>
            <a:ext cx="6271064" cy="4173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2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/>
              <a:t>Network Dependency Graph</a:t>
            </a:r>
            <a:endParaRPr xmlns:a="http://schemas.openxmlformats.org/drawingml/2006/main"/>
          </a:p>
        </p:txBody>
      </p:sp>
      <p:sp>
        <p:nvSpPr>
          <p:cNvPr id="369" name="Google Shape;369;p52"/>
          <p:cNvSpPr txBox="1"/>
          <p:nvPr>
            <p:ph idx="1" type="body"/>
          </p:nvPr>
        </p:nvSpPr>
        <p:spPr>
          <a:xfrm>
            <a:off x="311700" y="1266325"/>
            <a:ext cx="8520600" cy="5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lnSpc>
                <a:spcPct val="140000"/>
              </a:lnSpc>
              <a:spcBef>
                <a:spcPts val="2400"/>
              </a:spcBef>
              <a:spcAft>
                <a:spcPts val="600"/>
              </a:spcAft>
              <a:buNone/>
            </a:pPr>
            <a:r xmlns:a="http://schemas.openxmlformats.org/drawingml/2006/main" xmlns:r="http://schemas.openxmlformats.org/officeDocument/2006/relationships">
              <a:rPr lang="en" sz="2300" u="sng">
                <a:solidFill>
                  <a:schemeClr val="hlink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  <a:hlinkClick r:id="rId3"/>
              </a:rPr>
              <a:t>Network Dependency Graph</a:t>
            </a:r>
            <a:endParaRPr xmlns:a="http://schemas.openxmlformats.org/drawingml/2006/main"/>
          </a:p>
        </p:txBody>
      </p:sp>
      <p:sp>
        <p:nvSpPr>
          <p:cNvPr id="370" name="Google Shape;370;p52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371" name="Google Shape;371;p52" title="network-graphgis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907675"/>
            <a:ext cx="4209188" cy="3033575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52"/>
          <p:cNvSpPr txBox="1"/>
          <p:nvPr/>
        </p:nvSpPr>
        <p:spPr>
          <a:xfrm>
            <a:off x="391400" y="2688825"/>
            <a:ext cx="4350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xmlns:a="http://schemas.openxmlformats.org/drawingml/2006/main"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As a </a:t>
            </a:r>
            <a:r xmlns:a="http://schemas.openxmlformats.org/drawingml/2006/main" xmlns:r="http://schemas.openxmlformats.org/officeDocument/2006/relationships">
              <a:rPr lang="en" sz="18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5"/>
              </a:rPr>
              <a:t>Colab notebook </a:t>
            </a:r>
            <a:r xmlns:a="http://schemas.openxmlformats.org/drawingml/2006/main"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using the icypher extension</a:t>
            </a:r>
            <a:endParaRPr xmlns:a="http://schemas.openxmlformats.org/drawingml/2006/main"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